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83" r:id="rId4"/>
    <p:sldId id="301" r:id="rId5"/>
    <p:sldId id="303" r:id="rId6"/>
    <p:sldId id="306" r:id="rId7"/>
    <p:sldId id="302" r:id="rId8"/>
    <p:sldId id="309" r:id="rId9"/>
    <p:sldId id="286" r:id="rId10"/>
    <p:sldId id="282" r:id="rId11"/>
    <p:sldId id="307" r:id="rId12"/>
    <p:sldId id="294" r:id="rId13"/>
    <p:sldId id="308" r:id="rId14"/>
    <p:sldId id="289" r:id="rId15"/>
    <p:sldId id="295" r:id="rId16"/>
    <p:sldId id="296" r:id="rId17"/>
    <p:sldId id="297" r:id="rId18"/>
    <p:sldId id="298" r:id="rId19"/>
    <p:sldId id="290" r:id="rId20"/>
    <p:sldId id="29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leksandr" initials="OL" lastIdx="5" clrIdx="0">
    <p:extLst>
      <p:ext uri="{19B8F6BF-5375-455C-9EA6-DF929625EA0E}">
        <p15:presenceInfo xmlns:p15="http://schemas.microsoft.com/office/powerpoint/2012/main" userId="Oleksand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FF00"/>
    <a:srgbClr val="CCCC00"/>
    <a:srgbClr val="8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003" autoAdjust="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137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3902" y="1216326"/>
            <a:ext cx="8824823" cy="2228850"/>
          </a:xfrm>
        </p:spPr>
        <p:txBody>
          <a:bodyPr>
            <a:normAutofit/>
          </a:bodyPr>
          <a:lstStyle/>
          <a:p>
            <a:r>
              <a:rPr lang="en-US" b="1" dirty="0" smtClean="0"/>
              <a:t>Section </a:t>
            </a:r>
            <a:r>
              <a:rPr lang="en-US" b="1" dirty="0"/>
              <a:t>2</a:t>
            </a:r>
            <a:r>
              <a:rPr b="1" dirty="0" smtClean="0"/>
              <a:t>.</a:t>
            </a:r>
            <a:r>
              <a:rPr dirty="0" smtClean="0"/>
              <a:t> </a:t>
            </a:r>
            <a:r>
              <a:rPr lang="en-AU" dirty="0"/>
              <a:t>Selecting a Chart </a:t>
            </a:r>
            <a:r>
              <a:rPr lang="en-AU" dirty="0" smtClean="0"/>
              <a:t>Type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059" y="3321170"/>
            <a:ext cx="7380198" cy="231763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Lection </a:t>
            </a:r>
            <a:r>
              <a:rPr lang="uk-UA" dirty="0" smtClean="0">
                <a:solidFill>
                  <a:srgbClr val="0070C0"/>
                </a:solidFill>
              </a:rPr>
              <a:t>5</a:t>
            </a:r>
            <a:r>
              <a:rPr dirty="0" smtClean="0">
                <a:solidFill>
                  <a:srgbClr val="0070C0"/>
                </a:solidFill>
              </a:rPr>
              <a:t>.</a:t>
            </a:r>
            <a:r>
              <a:rPr dirty="0" smtClean="0"/>
              <a:t> </a:t>
            </a:r>
            <a:r>
              <a:rPr lang="en-US" dirty="0" smtClean="0"/>
              <a:t>Correlation</a:t>
            </a:r>
            <a:r>
              <a:rPr lang="en-AU" dirty="0" smtClean="0"/>
              <a:t>, Distribution </a:t>
            </a:r>
            <a:endParaRPr lang="uk-UA" dirty="0"/>
          </a:p>
          <a:p>
            <a:r>
              <a:rPr lang="en-AU" dirty="0"/>
              <a:t>(</a:t>
            </a:r>
            <a:r>
              <a:rPr lang="en-AU" dirty="0" smtClean="0"/>
              <a:t>histograms</a:t>
            </a:r>
            <a:r>
              <a:rPr lang="ru-RU" dirty="0" smtClean="0"/>
              <a:t>, </a:t>
            </a:r>
            <a:r>
              <a:rPr lang="en-US" dirty="0" smtClean="0"/>
              <a:t>boxplot, scatter,</a:t>
            </a:r>
            <a:r>
              <a:rPr lang="en-AU" dirty="0" smtClean="0"/>
              <a:t> heat </a:t>
            </a:r>
            <a:r>
              <a:rPr lang="en-AU" dirty="0" smtClean="0"/>
              <a:t>maps, histograms</a:t>
            </a:r>
            <a:r>
              <a:rPr lang="en-US" dirty="0" smtClean="0"/>
              <a:t>)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75049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General considerations</a:t>
            </a: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2139" y="1240325"/>
            <a:ext cx="8410669" cy="531438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4400" b="1" dirty="0" smtClean="0"/>
              <a:t>Data type</a:t>
            </a:r>
          </a:p>
          <a:p>
            <a:pPr marL="457200" lvl="1" indent="0">
              <a:buNone/>
            </a:pPr>
            <a:r>
              <a:rPr lang="en-US" dirty="0"/>
              <a:t>Categorical (bar, column, </a:t>
            </a:r>
            <a:r>
              <a:rPr lang="en-US" dirty="0" err="1"/>
              <a:t>treemap</a:t>
            </a:r>
            <a:r>
              <a:rPr lang="en-US" dirty="0"/>
              <a:t>), continuous (scatterplot, </a:t>
            </a:r>
            <a:r>
              <a:rPr lang="en-US" dirty="0" err="1"/>
              <a:t>heatmap</a:t>
            </a:r>
            <a:r>
              <a:rPr lang="en-US" dirty="0"/>
              <a:t>), time series (line, area chart, </a:t>
            </a:r>
            <a:r>
              <a:rPr lang="en-US" dirty="0" err="1"/>
              <a:t>heatmap</a:t>
            </a:r>
            <a:r>
              <a:rPr lang="en-US" dirty="0"/>
              <a:t>).</a:t>
            </a:r>
            <a:endParaRPr lang="en-US" dirty="0" smtClean="0"/>
          </a:p>
          <a:p>
            <a:pPr marL="0" indent="0">
              <a:buNone/>
            </a:pPr>
            <a:r>
              <a:rPr lang="en-AU" sz="4400" b="1" dirty="0" smtClean="0"/>
              <a:t>The </a:t>
            </a:r>
            <a:r>
              <a:rPr lang="en-AU" sz="4400" b="1" dirty="0" smtClean="0"/>
              <a:t>goal</a:t>
            </a:r>
            <a:r>
              <a:rPr lang="en-US" sz="4400" b="1" dirty="0"/>
              <a:t>/</a:t>
            </a:r>
            <a:r>
              <a:rPr lang="en-US" sz="4400" b="1" dirty="0" smtClean="0"/>
              <a:t>insight</a:t>
            </a:r>
            <a:endParaRPr lang="en-AU" sz="4400" b="1" dirty="0" smtClean="0"/>
          </a:p>
          <a:p>
            <a:pPr lvl="1"/>
            <a:r>
              <a:rPr lang="en-US" dirty="0" smtClean="0"/>
              <a:t>Explaining</a:t>
            </a:r>
            <a:r>
              <a:rPr lang="en-US" dirty="0"/>
              <a:t>: the message that wish to convey </a:t>
            </a:r>
          </a:p>
          <a:p>
            <a:pPr lvl="1"/>
            <a:r>
              <a:rPr lang="en-US" dirty="0"/>
              <a:t>Exploring: the question you are asking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sz="3600" i="1" u="sng" dirty="0" smtClean="0"/>
              <a:t>Common </a:t>
            </a:r>
            <a:r>
              <a:rPr lang="en-US" sz="3600" i="1" u="sng" dirty="0"/>
              <a:t>goals for charts are to </a:t>
            </a:r>
            <a:r>
              <a:rPr lang="en-US" sz="3600" i="1" u="sng" dirty="0" smtClean="0"/>
              <a:t>show</a:t>
            </a:r>
            <a:r>
              <a:rPr lang="en-US" sz="3600" dirty="0" smtClean="0"/>
              <a:t>:</a:t>
            </a:r>
            <a:endParaRPr lang="en-AU" sz="3600" dirty="0" smtClean="0"/>
          </a:p>
          <a:p>
            <a:r>
              <a:rPr lang="en-US" dirty="0"/>
              <a:t>Comparison/Ranking— the relative order of items. </a:t>
            </a:r>
          </a:p>
          <a:p>
            <a:r>
              <a:rPr lang="en-US" dirty="0" smtClean="0"/>
              <a:t>Composition/Proportions—make </a:t>
            </a:r>
            <a:r>
              <a:rPr lang="en-US" dirty="0"/>
              <a:t>up the whole of an </a:t>
            </a:r>
            <a:r>
              <a:rPr lang="en-US" dirty="0" smtClean="0"/>
              <a:t>entity. </a:t>
            </a:r>
          </a:p>
          <a:p>
            <a:r>
              <a:rPr lang="en-US" dirty="0" smtClean="0"/>
              <a:t>Correlation/Relationship— </a:t>
            </a:r>
            <a:r>
              <a:rPr lang="en-US" dirty="0"/>
              <a:t>how two variables are related to one another. </a:t>
            </a:r>
            <a:endParaRPr lang="en-US" dirty="0" smtClean="0"/>
          </a:p>
          <a:p>
            <a:r>
              <a:rPr lang="en-US" dirty="0" smtClean="0"/>
              <a:t>Distribution— </a:t>
            </a:r>
            <a:r>
              <a:rPr lang="en-US" dirty="0"/>
              <a:t>is how items are dispersed</a:t>
            </a:r>
            <a:r>
              <a:rPr lang="en-US" dirty="0" smtClean="0"/>
              <a:t>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i="1" dirty="0">
                <a:solidFill>
                  <a:srgbClr val="FFC000"/>
                </a:solidFill>
              </a:rPr>
              <a:t>Creating great data visualizations is a skill that is best learned by doing</a:t>
            </a:r>
            <a:endParaRPr lang="en-AU" i="1" dirty="0" smtClean="0">
              <a:solidFill>
                <a:srgbClr val="FFC000"/>
              </a:solidFill>
            </a:endParaRPr>
          </a:p>
          <a:p>
            <a:pPr lvl="1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8126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90" y="597528"/>
            <a:ext cx="8796656" cy="5067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438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855" y="1492295"/>
            <a:ext cx="8016234" cy="4688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426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3865" y="143208"/>
            <a:ext cx="7799560" cy="866099"/>
          </a:xfrm>
        </p:spPr>
        <p:txBody>
          <a:bodyPr>
            <a:noAutofit/>
          </a:bodyPr>
          <a:lstStyle/>
          <a:p>
            <a:r>
              <a:rPr lang="en-US" sz="3200" dirty="0" smtClean="0"/>
              <a:t>Audience’s </a:t>
            </a:r>
            <a:r>
              <a:rPr lang="en-US" sz="3200" dirty="0"/>
              <a:t>level of data/statistics comprehension</a:t>
            </a:r>
            <a:endParaRPr lang="uk-UA" sz="32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57" y="1018360"/>
            <a:ext cx="7668695" cy="5839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566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3865" y="143208"/>
            <a:ext cx="7799560" cy="866099"/>
          </a:xfrm>
        </p:spPr>
        <p:txBody>
          <a:bodyPr>
            <a:noAutofit/>
          </a:bodyPr>
          <a:lstStyle/>
          <a:p>
            <a:r>
              <a:rPr lang="en-US" sz="3200" smtClean="0"/>
              <a:t>Audience’s </a:t>
            </a:r>
            <a:r>
              <a:rPr lang="en-US" sz="3200"/>
              <a:t>level of data/statistics comprehension</a:t>
            </a:r>
            <a:endParaRPr lang="uk-UA" sz="320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r="79868"/>
          <a:stretch/>
        </p:blipFill>
        <p:spPr>
          <a:xfrm>
            <a:off x="619957" y="1018360"/>
            <a:ext cx="1543821" cy="583964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3120" y="1181398"/>
            <a:ext cx="6173061" cy="5201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175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r="59514"/>
          <a:stretch/>
        </p:blipFill>
        <p:spPr>
          <a:xfrm>
            <a:off x="113186" y="1451527"/>
            <a:ext cx="3200382" cy="46238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/>
          <a:srcRect r="6610"/>
          <a:stretch/>
        </p:blipFill>
        <p:spPr>
          <a:xfrm>
            <a:off x="3313568" y="1451527"/>
            <a:ext cx="5635216" cy="4562529"/>
          </a:xfrm>
          <a:prstGeom prst="rect">
            <a:avLst/>
          </a:prstGeom>
        </p:spPr>
      </p:pic>
      <p:sp>
        <p:nvSpPr>
          <p:cNvPr id="5" name="Овал 4"/>
          <p:cNvSpPr/>
          <p:nvPr/>
        </p:nvSpPr>
        <p:spPr>
          <a:xfrm>
            <a:off x="-172016" y="1204111"/>
            <a:ext cx="9316016" cy="2462542"/>
          </a:xfrm>
          <a:prstGeom prst="ellipse">
            <a:avLst/>
          </a:prstGeom>
          <a:noFill/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13113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r="59514"/>
          <a:stretch/>
        </p:blipFill>
        <p:spPr>
          <a:xfrm>
            <a:off x="113186" y="1451527"/>
            <a:ext cx="3200382" cy="46238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/>
          <a:srcRect r="6610"/>
          <a:stretch/>
        </p:blipFill>
        <p:spPr>
          <a:xfrm>
            <a:off x="3313568" y="1451527"/>
            <a:ext cx="5635216" cy="4562529"/>
          </a:xfrm>
          <a:prstGeom prst="rect">
            <a:avLst/>
          </a:prstGeom>
        </p:spPr>
      </p:pic>
      <p:sp>
        <p:nvSpPr>
          <p:cNvPr id="5" name="Овал 4"/>
          <p:cNvSpPr/>
          <p:nvPr/>
        </p:nvSpPr>
        <p:spPr>
          <a:xfrm>
            <a:off x="-99589" y="3476531"/>
            <a:ext cx="9316016" cy="2933322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23359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57" y="1294645"/>
            <a:ext cx="9019943" cy="4591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201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8301976"/>
              </p:ext>
            </p:extLst>
          </p:nvPr>
        </p:nvGraphicFramePr>
        <p:xfrm>
          <a:off x="99589" y="105884"/>
          <a:ext cx="8953876" cy="65755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6732"/>
                <a:gridCol w="1992898"/>
                <a:gridCol w="3343537"/>
                <a:gridCol w="2540709"/>
              </a:tblGrid>
              <a:tr h="207794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Data</a:t>
                      </a:r>
                      <a:endParaRPr lang="uk-U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400" dirty="0" smtClean="0"/>
                        <a:t>Goal/</a:t>
                      </a:r>
                      <a:r>
                        <a:rPr lang="en-US" sz="1400" dirty="0" smtClean="0"/>
                        <a:t>Insight </a:t>
                      </a:r>
                      <a:endParaRPr lang="uk-U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Chart type</a:t>
                      </a:r>
                      <a:endParaRPr lang="uk-U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Example</a:t>
                      </a:r>
                      <a:endParaRPr lang="uk-UA" sz="1400" dirty="0"/>
                    </a:p>
                  </a:txBody>
                  <a:tcPr/>
                </a:tc>
              </a:tr>
              <a:tr h="951668">
                <a:tc>
                  <a:txBody>
                    <a:bodyPr/>
                    <a:lstStyle/>
                    <a:p>
                      <a:r>
                        <a:rPr lang="en-AU" sz="1400" dirty="0" smtClean="0"/>
                        <a:t>Categorical</a:t>
                      </a:r>
                      <a:endParaRPr lang="uk-U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400" dirty="0" smtClean="0"/>
                        <a:t>Comparisons, ranking, proportions</a:t>
                      </a:r>
                      <a:endParaRPr lang="uk-U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Vertical bar, column bar, horizontal bar, bullet charts, Pie charts, Donut charts, group/clustered</a:t>
                      </a:r>
                      <a:r>
                        <a:rPr lang="en-US" sz="1400" baseline="0" dirty="0" smtClean="0"/>
                        <a:t> bars,</a:t>
                      </a:r>
                      <a:r>
                        <a:rPr lang="en-US" sz="1400" dirty="0" smtClean="0"/>
                        <a:t> stacked bar, stacked 100% bar, stacked area, stacked 100% area, and a tree map</a:t>
                      </a:r>
                      <a:endParaRPr lang="uk-U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Non-numeric data such as types of movies, books, or authors.</a:t>
                      </a:r>
                      <a:endParaRPr lang="uk-UA" sz="1400" dirty="0"/>
                    </a:p>
                  </a:txBody>
                  <a:tcPr/>
                </a:tc>
              </a:tr>
              <a:tr h="464912">
                <a:tc>
                  <a:txBody>
                    <a:bodyPr/>
                    <a:lstStyle/>
                    <a:p>
                      <a:r>
                        <a:rPr lang="en-AU" sz="1400" dirty="0" err="1" smtClean="0"/>
                        <a:t>Univariate</a:t>
                      </a:r>
                      <a:endParaRPr lang="uk-U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400" b="0" dirty="0" smtClean="0"/>
                        <a:t>Distributions</a:t>
                      </a:r>
                      <a:r>
                        <a:rPr lang="en-AU" sz="1400" dirty="0" smtClean="0"/>
                        <a:t>, proportions, frequencies</a:t>
                      </a:r>
                      <a:endParaRPr lang="uk-U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Histogram, density plot, and a boxplot</a:t>
                      </a:r>
                      <a:endParaRPr lang="uk-U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One numeric variable, such as book price</a:t>
                      </a:r>
                      <a:endParaRPr lang="uk-UA" sz="1400" dirty="0"/>
                    </a:p>
                  </a:txBody>
                  <a:tcPr/>
                </a:tc>
              </a:tr>
              <a:tr h="738599">
                <a:tc>
                  <a:txBody>
                    <a:bodyPr/>
                    <a:lstStyle/>
                    <a:p>
                      <a:r>
                        <a:rPr lang="en-AU" sz="1400" dirty="0" smtClean="0"/>
                        <a:t>Multivariate</a:t>
                      </a:r>
                      <a:endParaRPr lang="uk-U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400" dirty="0" smtClean="0"/>
                        <a:t>Relationships, proportions, comparisons</a:t>
                      </a:r>
                      <a:endParaRPr lang="uk-U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400" dirty="0" smtClean="0"/>
                        <a:t>Scatterplot, scatterplot matrix, bubble, parallel coordinates, radar, bullet, and a heat map</a:t>
                      </a:r>
                      <a:endParaRPr lang="uk-U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Two or more numeric variables, for example, weight, height, and IQ</a:t>
                      </a:r>
                      <a:endParaRPr lang="uk-UA" sz="1400" dirty="0"/>
                    </a:p>
                  </a:txBody>
                  <a:tcPr/>
                </a:tc>
              </a:tr>
              <a:tr h="736776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Time series</a:t>
                      </a:r>
                      <a:endParaRPr lang="uk-U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Trends, comparisons, cycles</a:t>
                      </a:r>
                      <a:endParaRPr lang="uk-U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Line chart, </a:t>
                      </a:r>
                      <a:r>
                        <a:rPr lang="en-US" sz="1400" dirty="0" err="1" smtClean="0"/>
                        <a:t>sparkline</a:t>
                      </a:r>
                      <a:r>
                        <a:rPr lang="en-US" sz="1400" dirty="0" smtClean="0"/>
                        <a:t>, area, stream graph, as well as bubble, stacked-area, and vertical bar charts.</a:t>
                      </a:r>
                      <a:endParaRPr lang="uk-U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Years, months, days, hours, minutes, seconds, or date</a:t>
                      </a:r>
                      <a:endParaRPr lang="uk-UA" sz="1400" dirty="0"/>
                    </a:p>
                  </a:txBody>
                  <a:tcPr/>
                </a:tc>
              </a:tr>
              <a:tr h="861492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Geospatial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Locations, comparisons, trends</a:t>
                      </a:r>
                      <a:endParaRPr lang="uk-U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 smtClean="0"/>
                        <a:t>Choropleth</a:t>
                      </a:r>
                      <a:r>
                        <a:rPr lang="en-US" sz="1400" dirty="0" smtClean="0"/>
                        <a:t> filled-map, bubble map, point map, connection map, and </a:t>
                      </a:r>
                      <a:r>
                        <a:rPr lang="en-US" sz="1400" dirty="0" err="1" smtClean="0"/>
                        <a:t>isopleth</a:t>
                      </a:r>
                      <a:r>
                        <a:rPr lang="en-US" sz="1400" dirty="0" smtClean="0"/>
                        <a:t> map</a:t>
                      </a:r>
                      <a:endParaRPr lang="uk-U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Specific locations marked by the latitude and longitude, regions coded by zip code, city, state, country, or county boundaries </a:t>
                      </a:r>
                    </a:p>
                    <a:p>
                      <a:endParaRPr lang="uk-UA" sz="1400" dirty="0"/>
                    </a:p>
                  </a:txBody>
                  <a:tcPr/>
                </a:tc>
              </a:tr>
              <a:tr h="1015879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Edge lists or</a:t>
                      </a:r>
                    </a:p>
                    <a:p>
                      <a:r>
                        <a:rPr lang="en-US" sz="1400" dirty="0" smtClean="0"/>
                        <a:t>adjacency</a:t>
                      </a:r>
                    </a:p>
                    <a:p>
                      <a:r>
                        <a:rPr lang="en-US" sz="1400" dirty="0" smtClean="0"/>
                        <a:t>matrices</a:t>
                      </a:r>
                    </a:p>
                    <a:p>
                      <a:endParaRPr lang="uk-U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Connections, relationships,</a:t>
                      </a:r>
                    </a:p>
                    <a:p>
                      <a:r>
                        <a:rPr lang="en-US" sz="1400" dirty="0" smtClean="0"/>
                        <a:t>tie strength, centrality,</a:t>
                      </a:r>
                    </a:p>
                    <a:p>
                      <a:r>
                        <a:rPr lang="en-US" sz="1400" dirty="0" smtClean="0"/>
                        <a:t>interactions, similarities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Undirected network diagram (graph)</a:t>
                      </a:r>
                    </a:p>
                    <a:p>
                      <a:r>
                        <a:rPr lang="en-US" sz="1400" dirty="0" smtClean="0"/>
                        <a:t>and directed network, Diagram</a:t>
                      </a:r>
                      <a:endParaRPr lang="uk-U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Who contacts whom</a:t>
                      </a:r>
                    </a:p>
                    <a:p>
                      <a:r>
                        <a:rPr lang="en-US" sz="1400" dirty="0" smtClean="0"/>
                        <a:t>or who knows whom</a:t>
                      </a:r>
                    </a:p>
                    <a:p>
                      <a:r>
                        <a:rPr lang="en-US" sz="1400" dirty="0" smtClean="0"/>
                        <a:t>in a network</a:t>
                      </a:r>
                    </a:p>
                  </a:txBody>
                  <a:tcPr/>
                </a:tc>
              </a:tr>
              <a:tr h="715349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Text</a:t>
                      </a:r>
                      <a:endParaRPr lang="uk-U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Sentiment,</a:t>
                      </a:r>
                    </a:p>
                    <a:p>
                      <a:r>
                        <a:rPr lang="en-US" sz="1400" dirty="0" smtClean="0"/>
                        <a:t>comparisons,</a:t>
                      </a:r>
                    </a:p>
                    <a:p>
                      <a:r>
                        <a:rPr lang="en-US" sz="1400" dirty="0" smtClean="0"/>
                        <a:t>frequency</a:t>
                      </a:r>
                    </a:p>
                    <a:p>
                      <a:endParaRPr lang="uk-U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Word cloud, proportional area chart using size bubbles or squares, histogram, and bar chart</a:t>
                      </a:r>
                      <a:endParaRPr lang="uk-U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Single words or phrases,</a:t>
                      </a:r>
                    </a:p>
                    <a:p>
                      <a:r>
                        <a:rPr lang="en-US" sz="1400" dirty="0" smtClean="0"/>
                        <a:t>such as keywords from</a:t>
                      </a:r>
                    </a:p>
                    <a:p>
                      <a:r>
                        <a:rPr lang="en-US" sz="1400" dirty="0" smtClean="0"/>
                        <a:t>restaurant reviews</a:t>
                      </a:r>
                      <a:endParaRPr lang="uk-UA" sz="1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Овал 1"/>
          <p:cNvSpPr/>
          <p:nvPr/>
        </p:nvSpPr>
        <p:spPr>
          <a:xfrm>
            <a:off x="-172016" y="1204111"/>
            <a:ext cx="9316016" cy="2978590"/>
          </a:xfrm>
          <a:prstGeom prst="ellipse">
            <a:avLst/>
          </a:prstGeom>
          <a:noFill/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48620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640" y="530399"/>
            <a:ext cx="7059010" cy="2534004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897639" y="3064403"/>
            <a:ext cx="619122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Histograms</a:t>
            </a:r>
            <a:r>
              <a:rPr lang="en-US" dirty="0"/>
              <a:t> and </a:t>
            </a:r>
            <a:r>
              <a:rPr lang="en-US" b="1" dirty="0"/>
              <a:t>density</a:t>
            </a:r>
            <a:r>
              <a:rPr lang="en-US" dirty="0"/>
              <a:t> </a:t>
            </a:r>
            <a:r>
              <a:rPr lang="en-US" b="1" dirty="0" smtClean="0"/>
              <a:t>plots</a:t>
            </a:r>
            <a:r>
              <a:rPr lang="en-US" dirty="0" smtClean="0"/>
              <a:t> </a:t>
            </a:r>
            <a:r>
              <a:rPr lang="en-US" dirty="0"/>
              <a:t>provide the most intuitive visualizations of a distribution, but both require arbitrary parameter choices and can be misleading. </a:t>
            </a:r>
            <a:endParaRPr lang="en-US" dirty="0" smtClean="0"/>
          </a:p>
          <a:p>
            <a:r>
              <a:rPr lang="en-US" b="1" dirty="0" smtClean="0"/>
              <a:t>Cumulative </a:t>
            </a:r>
            <a:r>
              <a:rPr lang="en-US" b="1" dirty="0"/>
              <a:t>densities </a:t>
            </a:r>
            <a:r>
              <a:rPr lang="en-US" dirty="0"/>
              <a:t>and </a:t>
            </a:r>
            <a:r>
              <a:rPr lang="en-US" b="1" dirty="0" err="1"/>
              <a:t>quantile-quantile</a:t>
            </a:r>
            <a:r>
              <a:rPr lang="en-US" dirty="0"/>
              <a:t> (q-q) </a:t>
            </a:r>
            <a:r>
              <a:rPr lang="en-US" dirty="0" smtClean="0"/>
              <a:t>plots </a:t>
            </a:r>
            <a:r>
              <a:rPr lang="en-US" dirty="0"/>
              <a:t>always represent the data faithfully but can be more difficult to interpret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557056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Histogram</a:t>
            </a:r>
            <a:endParaRPr lang="uk-UA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731" y="1642813"/>
            <a:ext cx="8154538" cy="357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347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626" y="141100"/>
            <a:ext cx="6878010" cy="3543795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562626" y="3684895"/>
            <a:ext cx="846367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Boxplots</a:t>
            </a:r>
            <a:r>
              <a:rPr lang="en-US" dirty="0"/>
              <a:t>, </a:t>
            </a:r>
            <a:r>
              <a:rPr lang="en-US" b="1" dirty="0"/>
              <a:t>violin plots</a:t>
            </a:r>
            <a:r>
              <a:rPr lang="en-US" dirty="0"/>
              <a:t>, </a:t>
            </a:r>
            <a:r>
              <a:rPr lang="en-US" b="1" dirty="0"/>
              <a:t>strip charts</a:t>
            </a:r>
            <a:r>
              <a:rPr lang="en-US" dirty="0"/>
              <a:t>, and </a:t>
            </a:r>
            <a:r>
              <a:rPr lang="en-US" b="1" dirty="0" err="1"/>
              <a:t>sina</a:t>
            </a:r>
            <a:r>
              <a:rPr lang="en-US" b="1" dirty="0"/>
              <a:t> plots</a:t>
            </a:r>
            <a:r>
              <a:rPr lang="en-US" dirty="0"/>
              <a:t> are useful when we want to visualize many distributions at once and/or if we are primarily interested in overall shifts among the </a:t>
            </a:r>
            <a:r>
              <a:rPr lang="en-US" dirty="0" smtClean="0"/>
              <a:t>distributions. </a:t>
            </a:r>
          </a:p>
          <a:p>
            <a:r>
              <a:rPr lang="en-US" b="1" dirty="0" smtClean="0"/>
              <a:t>Stacked </a:t>
            </a:r>
            <a:r>
              <a:rPr lang="en-US" b="1" dirty="0"/>
              <a:t>histograms </a:t>
            </a:r>
            <a:r>
              <a:rPr lang="en-US" dirty="0"/>
              <a:t>and </a:t>
            </a:r>
            <a:r>
              <a:rPr lang="en-US" b="1" dirty="0"/>
              <a:t>overlapping densities </a:t>
            </a:r>
            <a:r>
              <a:rPr lang="en-US" dirty="0"/>
              <a:t>allow a more in-depth </a:t>
            </a:r>
            <a:r>
              <a:rPr lang="en-US" dirty="0" smtClean="0"/>
              <a:t>comparison </a:t>
            </a:r>
            <a:r>
              <a:rPr lang="en-US" dirty="0"/>
              <a:t>of a smaller number of distributions, though stacked histograms can be </a:t>
            </a:r>
            <a:r>
              <a:rPr lang="en-US" dirty="0" smtClean="0"/>
              <a:t>difficult </a:t>
            </a:r>
            <a:r>
              <a:rPr lang="en-US" dirty="0"/>
              <a:t>to interpret and are best </a:t>
            </a:r>
            <a:r>
              <a:rPr lang="en-US" dirty="0" smtClean="0"/>
              <a:t>avoided. </a:t>
            </a:r>
            <a:r>
              <a:rPr lang="en-US" b="1" dirty="0" smtClean="0"/>
              <a:t>Ridgeline </a:t>
            </a:r>
            <a:r>
              <a:rPr lang="en-US" b="1" dirty="0"/>
              <a:t>plots </a:t>
            </a:r>
            <a:r>
              <a:rPr lang="en-US" dirty="0"/>
              <a:t>can be a useful alternative to violin plots and are often useful when visualizing very large numbers of distributions or changes in distributions over </a:t>
            </a:r>
            <a:r>
              <a:rPr lang="en-US" dirty="0" smtClean="0"/>
              <a:t>time.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828696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Determining relationships (correlations)</a:t>
            </a: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880857"/>
            <a:ext cx="7265406" cy="174052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Scatterplots</a:t>
            </a:r>
            <a:r>
              <a:rPr lang="en-US" dirty="0" smtClean="0"/>
              <a:t> </a:t>
            </a:r>
            <a:r>
              <a:rPr lang="en-US" dirty="0"/>
              <a:t>and </a:t>
            </a:r>
            <a:r>
              <a:rPr lang="en-US" b="1" dirty="0"/>
              <a:t>bubble charts </a:t>
            </a:r>
            <a:r>
              <a:rPr lang="en-US" dirty="0"/>
              <a:t>are extremely helpful for this. </a:t>
            </a:r>
            <a:endParaRPr lang="uk-UA" dirty="0" smtClean="0"/>
          </a:p>
          <a:p>
            <a:pPr marL="0" indent="0">
              <a:buNone/>
            </a:pPr>
            <a:endParaRPr lang="uk-UA" dirty="0"/>
          </a:p>
          <a:p>
            <a:pPr marL="0" indent="0">
              <a:buNone/>
            </a:pPr>
            <a:r>
              <a:rPr lang="en-US" dirty="0" smtClean="0"/>
              <a:t>This </a:t>
            </a:r>
            <a:r>
              <a:rPr lang="en-US" dirty="0"/>
              <a:t>is a great example of the value of data visualization in data analysis. Even descriptive statistics are insufficient to get insight into correlations and outliers. </a:t>
            </a:r>
            <a:endParaRPr lang="en-US" dirty="0" smtClean="0"/>
          </a:p>
          <a:p>
            <a:endParaRPr lang="en-US" dirty="0" smtClean="0"/>
          </a:p>
          <a:p>
            <a:endParaRPr lang="uk-UA" dirty="0"/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051191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Scatter plot</a:t>
            </a:r>
            <a:endParaRPr lang="uk-UA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4759" y="1600200"/>
            <a:ext cx="8214482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531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97117" y="255375"/>
            <a:ext cx="7663758" cy="774842"/>
          </a:xfrm>
        </p:spPr>
        <p:txBody>
          <a:bodyPr/>
          <a:lstStyle/>
          <a:p>
            <a:r>
              <a:rPr lang="en-AU" dirty="0"/>
              <a:t>B</a:t>
            </a:r>
            <a:r>
              <a:rPr lang="en-AU" dirty="0" smtClean="0"/>
              <a:t>ubble </a:t>
            </a:r>
            <a:r>
              <a:rPr lang="en-AU" dirty="0"/>
              <a:t>chart</a:t>
            </a:r>
            <a:endParaRPr lang="uk-UA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742" y="1136672"/>
            <a:ext cx="8354591" cy="5544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603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Heatmap</a:t>
            </a: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 err="1"/>
              <a:t>heatmap</a:t>
            </a:r>
            <a:r>
              <a:rPr lang="en-US" dirty="0"/>
              <a:t> is basically a </a:t>
            </a:r>
            <a:r>
              <a:rPr lang="en-US" dirty="0" err="1"/>
              <a:t>colour</a:t>
            </a:r>
            <a:r>
              <a:rPr lang="en-US" dirty="0"/>
              <a:t>-coded matrix. 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946019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92998" y="226335"/>
            <a:ext cx="6043188" cy="349329"/>
          </a:xfrm>
        </p:spPr>
        <p:txBody>
          <a:bodyPr>
            <a:normAutofit fontScale="90000"/>
          </a:bodyPr>
          <a:lstStyle/>
          <a:p>
            <a:r>
              <a:rPr lang="en-AU" dirty="0" err="1"/>
              <a:t>Heatmap</a:t>
            </a:r>
            <a:endParaRPr lang="uk-UA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664" y="665886"/>
            <a:ext cx="8811855" cy="6192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81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5307" y="845006"/>
            <a:ext cx="8229600" cy="1143000"/>
          </a:xfrm>
        </p:spPr>
        <p:txBody>
          <a:bodyPr/>
          <a:lstStyle/>
          <a:p>
            <a:r>
              <a:rPr lang="en-US" dirty="0"/>
              <a:t>Examining spatial patterns</a:t>
            </a: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2055" y="2498756"/>
            <a:ext cx="7976104" cy="3066092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If </a:t>
            </a:r>
            <a:r>
              <a:rPr lang="en-US" dirty="0"/>
              <a:t>a variable has a spatial component, a good way to visualize the distribution over the area (such as a country, region or continent) is a </a:t>
            </a:r>
            <a:r>
              <a:rPr lang="en-US" b="1" dirty="0"/>
              <a:t>map</a:t>
            </a:r>
            <a:r>
              <a:rPr lang="en-US" dirty="0"/>
              <a:t>. This may be the right option for visualizing the variation of mortality between regions in a country, for example. Another example in which a map is a good option is the need to visualize pandemic risk through the degree of connectedness. Epidemiologists use this type of visualization to </a:t>
            </a:r>
            <a:r>
              <a:rPr lang="en-US" dirty="0" err="1"/>
              <a:t>analyse</a:t>
            </a:r>
            <a:r>
              <a:rPr lang="en-US" dirty="0"/>
              <a:t> the way an epidemic is spreading over the country, creating flow maps for this purpose. </a:t>
            </a:r>
            <a:endParaRPr lang="uk-UA" dirty="0"/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906457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>
            <a:extLst>
              <a:ext uri="{FF2B5EF4-FFF2-40B4-BE49-F238E27FC236}">
                <a16:creationId xmlns:a16="http://schemas.microsoft.com/office/drawing/2014/main" xmlns="" id="{DE97D3F0-7A51-4847-BB50-00A77AF2B0F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68" b="6128"/>
          <a:stretch/>
        </p:blipFill>
        <p:spPr>
          <a:xfrm>
            <a:off x="293936" y="1097281"/>
            <a:ext cx="8703136" cy="53623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00AFD3FA-2479-44D8-A01B-2FE16DD8AF36}"/>
              </a:ext>
            </a:extLst>
          </p:cNvPr>
          <p:cNvSpPr txBox="1"/>
          <p:nvPr/>
        </p:nvSpPr>
        <p:spPr>
          <a:xfrm>
            <a:off x="1209519" y="205392"/>
            <a:ext cx="6348412" cy="9541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Example of a </a:t>
            </a:r>
            <a:r>
              <a:rPr lang="en-US" sz="2800" dirty="0" err="1"/>
              <a:t>choropleth</a:t>
            </a:r>
            <a:r>
              <a:rPr lang="en-US" sz="2800" dirty="0"/>
              <a:t> </a:t>
            </a:r>
            <a:r>
              <a:rPr lang="en-US" sz="2800" dirty="0" smtClean="0"/>
              <a:t>map</a:t>
            </a:r>
          </a:p>
          <a:p>
            <a:pPr algn="ctr"/>
            <a:r>
              <a:rPr lang="en-US" sz="2800" b="1" dirty="0" smtClean="0"/>
              <a:t>Number </a:t>
            </a:r>
            <a:r>
              <a:rPr lang="en-US" sz="2800" b="1" dirty="0"/>
              <a:t>of </a:t>
            </a:r>
            <a:r>
              <a:rPr lang="en-US" sz="2800" b="1" dirty="0" smtClean="0"/>
              <a:t>COVID-19 confirmed cases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26322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20167</TotalTime>
  <Words>599</Words>
  <Application>Microsoft Office PowerPoint</Application>
  <PresentationFormat>Экран (4:3)</PresentationFormat>
  <Paragraphs>81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Section 2. Selecting a Chart Type</vt:lpstr>
      <vt:lpstr>General considerations</vt:lpstr>
      <vt:lpstr>Презентация PowerPoint</vt:lpstr>
      <vt:lpstr>Презентация PowerPoint</vt:lpstr>
      <vt:lpstr>Audience’s level of data/statistics comprehension</vt:lpstr>
      <vt:lpstr>Audience’s level of data/statistics comprehension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Histogram</vt:lpstr>
      <vt:lpstr>Презентация PowerPoint</vt:lpstr>
      <vt:lpstr>Determining relationships (correlations)</vt:lpstr>
      <vt:lpstr>Scatter plot</vt:lpstr>
      <vt:lpstr>Bubble chart</vt:lpstr>
      <vt:lpstr>Heatmap</vt:lpstr>
      <vt:lpstr>Heatmap</vt:lpstr>
      <vt:lpstr>Examining spatial patterns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Александр Леонов</dc:creator>
  <cp:keywords/>
  <dc:description>generated using python-pptx</dc:description>
  <cp:lastModifiedBy>Oleksandr</cp:lastModifiedBy>
  <cp:revision>133</cp:revision>
  <dcterms:created xsi:type="dcterms:W3CDTF">2013-01-27T09:14:16Z</dcterms:created>
  <dcterms:modified xsi:type="dcterms:W3CDTF">2025-10-03T14:27:28Z</dcterms:modified>
  <cp:category/>
</cp:coreProperties>
</file>