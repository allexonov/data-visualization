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3" r:id="rId4"/>
    <p:sldId id="284" r:id="rId5"/>
    <p:sldId id="285" r:id="rId6"/>
    <p:sldId id="286" r:id="rId7"/>
    <p:sldId id="287" r:id="rId8"/>
    <p:sldId id="275" r:id="rId9"/>
    <p:sldId id="282" r:id="rId10"/>
    <p:sldId id="278" r:id="rId11"/>
    <p:sldId id="276" r:id="rId12"/>
    <p:sldId id="258" r:id="rId13"/>
    <p:sldId id="291" r:id="rId14"/>
    <p:sldId id="277" r:id="rId15"/>
    <p:sldId id="279" r:id="rId16"/>
    <p:sldId id="292" r:id="rId17"/>
    <p:sldId id="262" r:id="rId18"/>
    <p:sldId id="263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eksandr" initials="OL" lastIdx="5" clrIdx="0">
    <p:extLst>
      <p:ext uri="{19B8F6BF-5375-455C-9EA6-DF929625EA0E}">
        <p15:presenceInfo xmlns:p15="http://schemas.microsoft.com/office/powerpoint/2012/main" userId="Oleksand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00"/>
    <a:srgbClr val="CCCC0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19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4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02" y="1216326"/>
            <a:ext cx="8824823" cy="2228850"/>
          </a:xfrm>
        </p:spPr>
        <p:txBody>
          <a:bodyPr>
            <a:normAutofit/>
          </a:bodyPr>
          <a:lstStyle/>
          <a:p>
            <a:r>
              <a:rPr lang="en-US" b="1" dirty="0" smtClean="0"/>
              <a:t>Section </a:t>
            </a:r>
            <a:r>
              <a:rPr lang="en-US" b="1" dirty="0"/>
              <a:t>2</a:t>
            </a:r>
            <a:r>
              <a:rPr b="1" dirty="0" smtClean="0"/>
              <a:t>.</a:t>
            </a:r>
            <a:r>
              <a:rPr dirty="0" smtClean="0"/>
              <a:t> </a:t>
            </a:r>
            <a:r>
              <a:rPr lang="en-AU" dirty="0"/>
              <a:t>Selecting a Chart </a:t>
            </a:r>
            <a:r>
              <a:rPr lang="en-AU" dirty="0" smtClean="0"/>
              <a:t>Type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059" y="3321170"/>
            <a:ext cx="7380198" cy="231763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Lection </a:t>
            </a:r>
            <a:r>
              <a:rPr lang="en-US" dirty="0" smtClean="0">
                <a:solidFill>
                  <a:srgbClr val="0070C0"/>
                </a:solidFill>
              </a:rPr>
              <a:t>4</a:t>
            </a:r>
            <a:r>
              <a:rPr dirty="0" smtClean="0">
                <a:solidFill>
                  <a:srgbClr val="0070C0"/>
                </a:solidFill>
              </a:rPr>
              <a:t>.</a:t>
            </a:r>
            <a:r>
              <a:rPr dirty="0" smtClean="0"/>
              <a:t> </a:t>
            </a:r>
            <a:r>
              <a:rPr lang="en-AU" dirty="0"/>
              <a:t>Comparisons, ranking, </a:t>
            </a:r>
            <a:r>
              <a:rPr lang="en-US" dirty="0"/>
              <a:t>Composition/Proportion</a:t>
            </a:r>
            <a:endParaRPr lang="uk-UA" dirty="0"/>
          </a:p>
          <a:p>
            <a:r>
              <a:rPr lang="en-AU" dirty="0" smtClean="0"/>
              <a:t>(column &amp; bar charts, </a:t>
            </a:r>
            <a:r>
              <a:rPr lang="en-US" dirty="0" smtClean="0"/>
              <a:t>pie &amp; donut charts)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504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General considerations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139" y="1240325"/>
            <a:ext cx="8410669" cy="531438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 smtClean="0"/>
              <a:t>Data type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bar or column chart is often an appropriate chart when we are summarizing data about </a:t>
            </a:r>
            <a:r>
              <a:rPr lang="en-US" dirty="0">
                <a:solidFill>
                  <a:srgbClr val="FF0000"/>
                </a:solidFill>
              </a:rPr>
              <a:t>categories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/>
              <a:t>The relationship between two </a:t>
            </a:r>
            <a:r>
              <a:rPr lang="en-US" dirty="0">
                <a:solidFill>
                  <a:srgbClr val="0070C0"/>
                </a:solidFill>
              </a:rPr>
              <a:t>quantitative variables</a:t>
            </a:r>
            <a:r>
              <a:rPr lang="en-US" dirty="0"/>
              <a:t> often makes a scatter chart an appropriate choice. </a:t>
            </a:r>
            <a:endParaRPr lang="en-US" dirty="0" smtClean="0"/>
          </a:p>
          <a:p>
            <a:pPr lvl="1"/>
            <a:r>
              <a:rPr lang="en-US" dirty="0" smtClean="0"/>
              <a:t>Bar </a:t>
            </a:r>
            <a:r>
              <a:rPr lang="en-US" dirty="0"/>
              <a:t>charts, scatter charts, and line charts with the horizontal axis being time, are often the best choice for </a:t>
            </a:r>
            <a:r>
              <a:rPr lang="en-US" dirty="0">
                <a:solidFill>
                  <a:srgbClr val="00B050"/>
                </a:solidFill>
              </a:rPr>
              <a:t>time series data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your data have a spatial component, a geographic map might be a good choice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…</a:t>
            </a:r>
          </a:p>
          <a:p>
            <a:pPr marL="0" indent="0">
              <a:buNone/>
            </a:pPr>
            <a:r>
              <a:rPr lang="en-AU" sz="4400" b="1" dirty="0" smtClean="0"/>
              <a:t>The goal</a:t>
            </a:r>
            <a:r>
              <a:rPr lang="en-US" sz="4400" b="1" dirty="0"/>
              <a:t>/</a:t>
            </a:r>
            <a:r>
              <a:rPr lang="en-US" sz="4400" b="1" dirty="0" smtClean="0"/>
              <a:t>insight</a:t>
            </a:r>
            <a:endParaRPr lang="en-AU" sz="4400" b="1" dirty="0" smtClean="0"/>
          </a:p>
          <a:p>
            <a:pPr lvl="1"/>
            <a:r>
              <a:rPr lang="en-US" dirty="0" smtClean="0"/>
              <a:t>Explaining</a:t>
            </a:r>
            <a:r>
              <a:rPr lang="en-US" dirty="0"/>
              <a:t>: the message that wish to convey </a:t>
            </a:r>
          </a:p>
          <a:p>
            <a:pPr lvl="1"/>
            <a:r>
              <a:rPr lang="en-US" dirty="0"/>
              <a:t>Exploring: the question you are asking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600" i="1" u="sng" dirty="0" smtClean="0"/>
              <a:t>Common </a:t>
            </a:r>
            <a:r>
              <a:rPr lang="en-US" sz="3600" i="1" u="sng" dirty="0"/>
              <a:t>goals for charts are to </a:t>
            </a:r>
            <a:r>
              <a:rPr lang="en-US" sz="3600" i="1" u="sng" dirty="0" smtClean="0"/>
              <a:t>show</a:t>
            </a:r>
            <a:r>
              <a:rPr lang="en-US" sz="3600" dirty="0" smtClean="0"/>
              <a:t>:</a:t>
            </a:r>
            <a:endParaRPr lang="en-AU" sz="3600" dirty="0" smtClean="0"/>
          </a:p>
          <a:p>
            <a:r>
              <a:rPr lang="en-US" dirty="0"/>
              <a:t>Comparison/Ranking— the relative order of items. </a:t>
            </a:r>
          </a:p>
          <a:p>
            <a:r>
              <a:rPr lang="en-US" dirty="0" smtClean="0"/>
              <a:t>Composition/Proportions—make </a:t>
            </a:r>
            <a:r>
              <a:rPr lang="en-US" dirty="0"/>
              <a:t>up the whole of an </a:t>
            </a:r>
            <a:r>
              <a:rPr lang="en-US" dirty="0" smtClean="0"/>
              <a:t>entity. </a:t>
            </a:r>
          </a:p>
          <a:p>
            <a:r>
              <a:rPr lang="en-US" dirty="0" smtClean="0"/>
              <a:t>Correlation/Relationship— </a:t>
            </a:r>
            <a:r>
              <a:rPr lang="en-US" dirty="0"/>
              <a:t>how two variables are related to one another. </a:t>
            </a:r>
            <a:endParaRPr lang="en-US" dirty="0" smtClean="0"/>
          </a:p>
          <a:p>
            <a:r>
              <a:rPr lang="en-US" dirty="0" smtClean="0"/>
              <a:t>Distribution— </a:t>
            </a:r>
            <a:r>
              <a:rPr lang="en-US" dirty="0"/>
              <a:t>is how items are dispersed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FFC000"/>
                </a:solidFill>
              </a:rPr>
              <a:t>Creating great data visualizations is a skill that is best learned by doing</a:t>
            </a:r>
            <a:endParaRPr lang="en-AU" i="1" dirty="0" smtClean="0">
              <a:solidFill>
                <a:srgbClr val="FFC000"/>
              </a:solidFill>
            </a:endParaRPr>
          </a:p>
          <a:p>
            <a:pPr lvl="1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812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0" y="597528"/>
            <a:ext cx="8796656" cy="50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3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04" y="118502"/>
            <a:ext cx="6173061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6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26" y="90021"/>
            <a:ext cx="7868748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4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285" y="126750"/>
            <a:ext cx="6109204" cy="633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21" y="130087"/>
            <a:ext cx="6919215" cy="62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7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115622"/>
              </p:ext>
            </p:extLst>
          </p:nvPr>
        </p:nvGraphicFramePr>
        <p:xfrm>
          <a:off x="99589" y="105884"/>
          <a:ext cx="8953876" cy="657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732"/>
                <a:gridCol w="1992898"/>
                <a:gridCol w="3343537"/>
                <a:gridCol w="2540709"/>
              </a:tblGrid>
              <a:tr h="20779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Goal/</a:t>
                      </a:r>
                      <a:r>
                        <a:rPr lang="en-US" sz="1400" dirty="0" smtClean="0"/>
                        <a:t>Insight 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Chart type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</a:t>
                      </a:r>
                      <a:endParaRPr lang="uk-UA" sz="1400" dirty="0"/>
                    </a:p>
                  </a:txBody>
                  <a:tcPr/>
                </a:tc>
              </a:tr>
              <a:tr h="951668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Categorical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Comparisons, ranking, </a:t>
                      </a:r>
                      <a:r>
                        <a:rPr lang="en-US" sz="1400" dirty="0" smtClean="0"/>
                        <a:t>Composition/Proportion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Vertical bar, column bar, horizontal bar, bullet charts, Pie charts, Donut charts, group/clustered</a:t>
                      </a:r>
                      <a:r>
                        <a:rPr lang="en-US" sz="1400" baseline="0" dirty="0" smtClean="0"/>
                        <a:t> bars,</a:t>
                      </a:r>
                      <a:r>
                        <a:rPr lang="en-US" sz="1400" dirty="0" smtClean="0"/>
                        <a:t> stacked bar, stacked 100% bar, stacked area, stacked 100% area, and a tree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Non-numeric data such as types of movies, books, or authors.</a:t>
                      </a:r>
                      <a:endParaRPr lang="uk-UA" sz="1400" dirty="0"/>
                    </a:p>
                  </a:txBody>
                  <a:tcPr/>
                </a:tc>
              </a:tr>
              <a:tr h="464912">
                <a:tc>
                  <a:txBody>
                    <a:bodyPr/>
                    <a:lstStyle/>
                    <a:p>
                      <a:r>
                        <a:rPr lang="en-AU" sz="1400" dirty="0" err="1" smtClean="0"/>
                        <a:t>Univariate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b="0" dirty="0" smtClean="0"/>
                        <a:t>Distributions</a:t>
                      </a:r>
                      <a:r>
                        <a:rPr lang="en-AU" sz="1400" dirty="0" smtClean="0"/>
                        <a:t>, proportions, frequencies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Histogram, density plot, and a boxplot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 numeric variable, such as book price</a:t>
                      </a:r>
                      <a:endParaRPr lang="uk-UA" sz="1400" dirty="0"/>
                    </a:p>
                  </a:txBody>
                  <a:tcPr/>
                </a:tc>
              </a:tr>
              <a:tr h="738599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Multivariate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Relationships, proportions, comparisons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Scatterplot, scatterplot matrix, bubble, parallel coordinates, radar, bullet, and a heat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Two or more numeric variables, for example, weight, height, and IQ</a:t>
                      </a:r>
                      <a:endParaRPr lang="uk-UA" sz="1400" dirty="0"/>
                    </a:p>
                  </a:txBody>
                  <a:tcPr/>
                </a:tc>
              </a:tr>
              <a:tr h="73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Time series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Trends, comparisons, cycles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Line chart, </a:t>
                      </a:r>
                      <a:r>
                        <a:rPr lang="en-US" sz="1400" dirty="0" err="1" smtClean="0"/>
                        <a:t>sparkline</a:t>
                      </a:r>
                      <a:r>
                        <a:rPr lang="en-US" sz="1400" dirty="0" smtClean="0"/>
                        <a:t>, area, stream graph, as well as bubble, stacked-area, and vertical bar charts.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Years, months, days, hours, minutes, seconds, or date</a:t>
                      </a:r>
                      <a:endParaRPr lang="uk-UA" sz="1400" dirty="0"/>
                    </a:p>
                  </a:txBody>
                  <a:tcPr/>
                </a:tc>
              </a:tr>
              <a:tr h="86149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Geospatial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Locations, comparisons, trends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Choropleth</a:t>
                      </a:r>
                      <a:r>
                        <a:rPr lang="en-US" sz="1400" dirty="0" smtClean="0"/>
                        <a:t> filled-map, bubble map, point map, connection map, and </a:t>
                      </a:r>
                      <a:r>
                        <a:rPr lang="en-US" sz="1400" dirty="0" err="1" smtClean="0"/>
                        <a:t>isopleth</a:t>
                      </a:r>
                      <a:r>
                        <a:rPr lang="en-US" sz="1400" dirty="0" smtClean="0"/>
                        <a:t>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Specific locations marked by the latitude and longitude, regions coded by zip code, city, state, country, or county boundaries 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</a:tr>
              <a:tr h="101587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Edge lists or</a:t>
                      </a:r>
                    </a:p>
                    <a:p>
                      <a:r>
                        <a:rPr lang="en-US" sz="1400" dirty="0" smtClean="0"/>
                        <a:t>adjacency</a:t>
                      </a:r>
                    </a:p>
                    <a:p>
                      <a:r>
                        <a:rPr lang="en-US" sz="1400" dirty="0" smtClean="0"/>
                        <a:t>matrices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Connections, relationships,</a:t>
                      </a:r>
                    </a:p>
                    <a:p>
                      <a:r>
                        <a:rPr lang="en-US" sz="1400" dirty="0" smtClean="0"/>
                        <a:t>tie strength, centrality,</a:t>
                      </a:r>
                    </a:p>
                    <a:p>
                      <a:r>
                        <a:rPr lang="en-US" sz="1400" dirty="0" smtClean="0"/>
                        <a:t>interactions, similarities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Undirected network diagram (graph)</a:t>
                      </a:r>
                    </a:p>
                    <a:p>
                      <a:r>
                        <a:rPr lang="en-US" sz="1400" dirty="0" smtClean="0"/>
                        <a:t>and directed network, Diagram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Who contacts whom</a:t>
                      </a:r>
                    </a:p>
                    <a:p>
                      <a:r>
                        <a:rPr lang="en-US" sz="1400" dirty="0" smtClean="0"/>
                        <a:t>or who knows whom</a:t>
                      </a:r>
                    </a:p>
                    <a:p>
                      <a:r>
                        <a:rPr lang="en-US" sz="1400" dirty="0" smtClean="0"/>
                        <a:t>in a network</a:t>
                      </a:r>
                    </a:p>
                  </a:txBody>
                  <a:tcPr/>
                </a:tc>
              </a:tr>
              <a:tr h="7153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Text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Sentiment,</a:t>
                      </a:r>
                    </a:p>
                    <a:p>
                      <a:r>
                        <a:rPr lang="en-US" sz="1400" dirty="0" smtClean="0"/>
                        <a:t>comparisons,</a:t>
                      </a:r>
                    </a:p>
                    <a:p>
                      <a:r>
                        <a:rPr lang="en-US" sz="1400" dirty="0" smtClean="0"/>
                        <a:t>frequency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Word cloud, proportional area chart using size bubbles or squares, histogram, and bar chart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Single words or phrases,</a:t>
                      </a:r>
                    </a:p>
                    <a:p>
                      <a:r>
                        <a:rPr lang="en-US" sz="1400" dirty="0" smtClean="0"/>
                        <a:t>such as keywords from</a:t>
                      </a:r>
                    </a:p>
                    <a:p>
                      <a:r>
                        <a:rPr lang="en-US" sz="1400" dirty="0" smtClean="0"/>
                        <a:t>restaurant reviews</a:t>
                      </a:r>
                      <a:endParaRPr lang="uk-UA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48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301976"/>
              </p:ext>
            </p:extLst>
          </p:nvPr>
        </p:nvGraphicFramePr>
        <p:xfrm>
          <a:off x="99589" y="105884"/>
          <a:ext cx="8953876" cy="657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732"/>
                <a:gridCol w="1992898"/>
                <a:gridCol w="3343537"/>
                <a:gridCol w="2540709"/>
              </a:tblGrid>
              <a:tr h="20779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Goal/</a:t>
                      </a:r>
                      <a:r>
                        <a:rPr lang="en-US" sz="1400" dirty="0" smtClean="0"/>
                        <a:t>Insight 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Chart type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</a:t>
                      </a:r>
                      <a:endParaRPr lang="uk-UA" sz="1400" dirty="0"/>
                    </a:p>
                  </a:txBody>
                  <a:tcPr/>
                </a:tc>
              </a:tr>
              <a:tr h="951668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Categorical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Comparisons, ranking, proportions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Vertical bar, column bar, horizontal bar, bullet charts, Pie charts, Donut charts, group/clustered</a:t>
                      </a:r>
                      <a:r>
                        <a:rPr lang="en-US" sz="1400" baseline="0" dirty="0" smtClean="0"/>
                        <a:t> bars,</a:t>
                      </a:r>
                      <a:r>
                        <a:rPr lang="en-US" sz="1400" dirty="0" smtClean="0"/>
                        <a:t> stacked bar, stacked 100% bar, stacked area, stacked 100% area, and a tree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Non-numeric data such as types of movies, books, or authors.</a:t>
                      </a:r>
                      <a:endParaRPr lang="uk-UA" sz="1400" dirty="0"/>
                    </a:p>
                  </a:txBody>
                  <a:tcPr/>
                </a:tc>
              </a:tr>
              <a:tr h="464912">
                <a:tc>
                  <a:txBody>
                    <a:bodyPr/>
                    <a:lstStyle/>
                    <a:p>
                      <a:r>
                        <a:rPr lang="en-AU" sz="1400" dirty="0" err="1" smtClean="0"/>
                        <a:t>Univariate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b="0" dirty="0" smtClean="0"/>
                        <a:t>Distributions</a:t>
                      </a:r>
                      <a:r>
                        <a:rPr lang="en-AU" sz="1400" dirty="0" smtClean="0"/>
                        <a:t>, proportions, frequencies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Histogram, density plot, and a boxplot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 numeric variable, such as book price</a:t>
                      </a:r>
                      <a:endParaRPr lang="uk-UA" sz="1400" dirty="0"/>
                    </a:p>
                  </a:txBody>
                  <a:tcPr/>
                </a:tc>
              </a:tr>
              <a:tr h="738599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Multivariate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Relationships, proportions, comparisons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Scatterplot, scatterplot matrix, bubble, parallel coordinates, radar, bullet, and a heat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Two or more numeric variables, for example, weight, height, and IQ</a:t>
                      </a:r>
                      <a:endParaRPr lang="uk-UA" sz="1400" dirty="0"/>
                    </a:p>
                  </a:txBody>
                  <a:tcPr/>
                </a:tc>
              </a:tr>
              <a:tr h="73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Time series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Trends, comparisons, cycles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Line chart, </a:t>
                      </a:r>
                      <a:r>
                        <a:rPr lang="en-US" sz="1400" dirty="0" err="1" smtClean="0"/>
                        <a:t>sparkline</a:t>
                      </a:r>
                      <a:r>
                        <a:rPr lang="en-US" sz="1400" dirty="0" smtClean="0"/>
                        <a:t>, area, stream graph, as well as bubble, stacked-area, and vertical bar charts.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Years, months, days, hours, minutes, seconds, or date</a:t>
                      </a:r>
                      <a:endParaRPr lang="uk-UA" sz="1400" dirty="0"/>
                    </a:p>
                  </a:txBody>
                  <a:tcPr/>
                </a:tc>
              </a:tr>
              <a:tr h="86149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Geospatial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Locations, comparisons, trends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Choropleth</a:t>
                      </a:r>
                      <a:r>
                        <a:rPr lang="en-US" sz="1400" dirty="0" smtClean="0"/>
                        <a:t> filled-map, bubble map, point map, connection map, and </a:t>
                      </a:r>
                      <a:r>
                        <a:rPr lang="en-US" sz="1400" dirty="0" err="1" smtClean="0"/>
                        <a:t>isopleth</a:t>
                      </a:r>
                      <a:r>
                        <a:rPr lang="en-US" sz="1400" dirty="0" smtClean="0"/>
                        <a:t>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Specific locations marked by the latitude and longitude, regions coded by zip code, city, state, country, or county boundaries 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</a:tr>
              <a:tr h="101587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Edge lists or</a:t>
                      </a:r>
                    </a:p>
                    <a:p>
                      <a:r>
                        <a:rPr lang="en-US" sz="1400" dirty="0" smtClean="0"/>
                        <a:t>adjacency</a:t>
                      </a:r>
                    </a:p>
                    <a:p>
                      <a:r>
                        <a:rPr lang="en-US" sz="1400" dirty="0" smtClean="0"/>
                        <a:t>matrices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Connections, relationships,</a:t>
                      </a:r>
                    </a:p>
                    <a:p>
                      <a:r>
                        <a:rPr lang="en-US" sz="1400" dirty="0" smtClean="0"/>
                        <a:t>tie strength, centrality,</a:t>
                      </a:r>
                    </a:p>
                    <a:p>
                      <a:r>
                        <a:rPr lang="en-US" sz="1400" dirty="0" smtClean="0"/>
                        <a:t>interactions, similarities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Undirected network diagram (graph)</a:t>
                      </a:r>
                    </a:p>
                    <a:p>
                      <a:r>
                        <a:rPr lang="en-US" sz="1400" dirty="0" smtClean="0"/>
                        <a:t>and directed network, Diagram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Who contacts whom</a:t>
                      </a:r>
                    </a:p>
                    <a:p>
                      <a:r>
                        <a:rPr lang="en-US" sz="1400" dirty="0" smtClean="0"/>
                        <a:t>or who knows whom</a:t>
                      </a:r>
                    </a:p>
                    <a:p>
                      <a:r>
                        <a:rPr lang="en-US" sz="1400" dirty="0" smtClean="0"/>
                        <a:t>in a network</a:t>
                      </a:r>
                    </a:p>
                  </a:txBody>
                  <a:tcPr/>
                </a:tc>
              </a:tr>
              <a:tr h="7153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Text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Sentiment,</a:t>
                      </a:r>
                    </a:p>
                    <a:p>
                      <a:r>
                        <a:rPr lang="en-US" sz="1400" dirty="0" smtClean="0"/>
                        <a:t>comparisons,</a:t>
                      </a:r>
                    </a:p>
                    <a:p>
                      <a:r>
                        <a:rPr lang="en-US" sz="1400" dirty="0" smtClean="0"/>
                        <a:t>frequency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Word cloud, proportional area chart using size bubbles or squares, histogram, and bar chart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Single words or phrases,</a:t>
                      </a:r>
                    </a:p>
                    <a:p>
                      <a:r>
                        <a:rPr lang="en-US" sz="1400" dirty="0" smtClean="0"/>
                        <a:t>such as keywords from</a:t>
                      </a:r>
                    </a:p>
                    <a:p>
                      <a:r>
                        <a:rPr lang="en-US" sz="1400" dirty="0" smtClean="0"/>
                        <a:t>restaurant reviews</a:t>
                      </a:r>
                      <a:endParaRPr lang="uk-UA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Овал 1"/>
          <p:cNvSpPr/>
          <p:nvPr/>
        </p:nvSpPr>
        <p:spPr>
          <a:xfrm>
            <a:off x="0" y="0"/>
            <a:ext cx="9053466" cy="1566250"/>
          </a:xfrm>
          <a:prstGeom prst="ellipse">
            <a:avLst/>
          </a:prstGeom>
          <a:noFill/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862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Comparisons of </a:t>
            </a:r>
            <a:r>
              <a:rPr lang="en-US" dirty="0" smtClean="0"/>
              <a:t>Categories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21806"/>
            <a:ext cx="8229600" cy="4804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Compare </a:t>
            </a:r>
            <a:r>
              <a:rPr lang="en-US" sz="2000" dirty="0"/>
              <a:t>values or quantities either over time or to each other. 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 smtClean="0"/>
              <a:t>Questions</a:t>
            </a:r>
            <a:r>
              <a:rPr lang="en-US" sz="2000" dirty="0"/>
              <a:t>: </a:t>
            </a:r>
            <a:r>
              <a:rPr lang="en-US" sz="2000" dirty="0" smtClean="0"/>
              <a:t>  1</a:t>
            </a:r>
            <a:r>
              <a:rPr lang="en-US" sz="2000" dirty="0"/>
              <a:t>. What’s the best? What’s the worst? Compared to what? 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	2</a:t>
            </a:r>
            <a:r>
              <a:rPr lang="en-US" sz="2000" dirty="0"/>
              <a:t>. Who’s ranked the highest? The lowest? 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	3</a:t>
            </a:r>
            <a:r>
              <a:rPr lang="en-US" sz="2000" dirty="0"/>
              <a:t>. How does performance compare to the target or goal? 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 smtClean="0"/>
              <a:t>Goal/Insight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smtClean="0"/>
              <a:t>to </a:t>
            </a:r>
            <a:r>
              <a:rPr lang="en-US" sz="2000" dirty="0"/>
              <a:t>illustrate the similarities and differences among </a:t>
            </a:r>
            <a:r>
              <a:rPr lang="en-US" sz="2000" dirty="0" smtClean="0"/>
              <a:t>categories (minimum, maximum, </a:t>
            </a:r>
            <a:r>
              <a:rPr lang="en-US" sz="2000" dirty="0"/>
              <a:t>rank, performance, sum, totals, counts, and </a:t>
            </a:r>
            <a:r>
              <a:rPr lang="en-US" sz="2000" dirty="0" smtClean="0"/>
              <a:t>quantities). 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b="1" dirty="0" smtClean="0"/>
              <a:t>Data</a:t>
            </a:r>
            <a:r>
              <a:rPr lang="en-US" sz="2000" b="1" dirty="0"/>
              <a:t>:</a:t>
            </a:r>
            <a:r>
              <a:rPr lang="en-US" sz="2000" dirty="0"/>
              <a:t> aggregated categorical data</a:t>
            </a:r>
            <a:r>
              <a:rPr lang="en-US" sz="2000" dirty="0" smtClean="0"/>
              <a:t>, time </a:t>
            </a:r>
            <a:r>
              <a:rPr lang="en-US" sz="2000" dirty="0"/>
              <a:t>series data can be shown as a categorical variable</a:t>
            </a:r>
            <a:r>
              <a:rPr lang="en-US" sz="2000" dirty="0" smtClean="0"/>
              <a:t>. </a:t>
            </a:r>
          </a:p>
          <a:p>
            <a:pPr marL="457200" lvl="1" indent="0">
              <a:buNone/>
            </a:pPr>
            <a:r>
              <a:rPr lang="en-US" sz="2000" b="1" dirty="0" smtClean="0"/>
              <a:t>Chart </a:t>
            </a:r>
            <a:r>
              <a:rPr lang="en-US" sz="2000" b="1" dirty="0"/>
              <a:t>options</a:t>
            </a:r>
            <a:r>
              <a:rPr lang="en-US" sz="2000" dirty="0"/>
              <a:t>: vertical bar, column bar, horizontal bar, and bullet charts.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385520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7283" y="706170"/>
            <a:ext cx="2734147" cy="23720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Charts for categories comparisons</a:t>
            </a:r>
            <a:endParaRPr lang="uk-UA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9370" y="113890"/>
            <a:ext cx="5314384" cy="66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9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6506" y="0"/>
            <a:ext cx="8229600" cy="916579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Amounts (for </a:t>
            </a:r>
            <a:r>
              <a:rPr lang="en-US" dirty="0" smtClean="0"/>
              <a:t>Comparison/Ranking</a:t>
            </a:r>
            <a:r>
              <a:rPr lang="en-AU" dirty="0" smtClean="0"/>
              <a:t>)</a:t>
            </a:r>
            <a:endParaRPr lang="uk-UA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214"/>
          <a:stretch/>
        </p:blipFill>
        <p:spPr>
          <a:xfrm>
            <a:off x="725683" y="806855"/>
            <a:ext cx="4867954" cy="174138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95515" y="2535245"/>
            <a:ext cx="75053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most common approach to visualizing amounts (i.e., numerical values shown for some set of categories) is using bars, either vertically or horizontally </a:t>
            </a:r>
            <a:r>
              <a:rPr lang="en-US" dirty="0" smtClean="0"/>
              <a:t>arranged. However</a:t>
            </a:r>
            <a:r>
              <a:rPr lang="en-US" dirty="0"/>
              <a:t>, instead of using bars, we can also place dots at the location where the corresponding bar would </a:t>
            </a:r>
            <a:r>
              <a:rPr lang="en-US" dirty="0" smtClean="0"/>
              <a:t>end.</a:t>
            </a:r>
            <a:endParaRPr lang="uk-UA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3"/>
          <a:srcRect b="49629"/>
          <a:stretch/>
        </p:blipFill>
        <p:spPr>
          <a:xfrm>
            <a:off x="795515" y="3985757"/>
            <a:ext cx="6249272" cy="158830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95515" y="5633550"/>
            <a:ext cx="71986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there are two or more sets of categories for which we want to show amounts, we can group or stack the </a:t>
            </a:r>
            <a:r>
              <a:rPr lang="en-US" dirty="0" smtClean="0"/>
              <a:t>bars.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0435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3" y="135802"/>
            <a:ext cx="8915959" cy="49186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53" y="5054474"/>
            <a:ext cx="8915959" cy="122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5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727" y="48301"/>
            <a:ext cx="8229600" cy="1143000"/>
          </a:xfrm>
        </p:spPr>
        <p:txBody>
          <a:bodyPr/>
          <a:lstStyle/>
          <a:p>
            <a:r>
              <a:rPr lang="en-US" dirty="0" smtClean="0"/>
              <a:t>Composition/Proportions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139" y="1176950"/>
            <a:ext cx="8428776" cy="53415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Display </a:t>
            </a:r>
            <a:r>
              <a:rPr lang="en-US" dirty="0"/>
              <a:t>individual parts of a </a:t>
            </a:r>
            <a:r>
              <a:rPr lang="en-US" dirty="0" smtClean="0"/>
              <a:t>whole </a:t>
            </a:r>
          </a:p>
          <a:p>
            <a:pPr lvl="1"/>
            <a:r>
              <a:rPr lang="en-US" dirty="0" smtClean="0"/>
              <a:t>enables </a:t>
            </a:r>
            <a:r>
              <a:rPr lang="en-US" dirty="0"/>
              <a:t>comparisons among subcategories by evaluating relative proportions, for example, demographics by neighborhood. 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 smtClean="0"/>
              <a:t>Questions</a:t>
            </a:r>
            <a:r>
              <a:rPr lang="en-US" dirty="0"/>
              <a:t>: 1. What are the parts that make up the whole?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	2</a:t>
            </a:r>
            <a:r>
              <a:rPr lang="en-US" dirty="0"/>
              <a:t>. What part is the largest or smallest?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	3</a:t>
            </a:r>
            <a:r>
              <a:rPr lang="en-US" dirty="0"/>
              <a:t>. What parts are similar or dissimilar? </a:t>
            </a: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/>
              <a:t>Goal/Insight</a:t>
            </a:r>
            <a:r>
              <a:rPr lang="en-US" dirty="0"/>
              <a:t>: use to show summaries, similarities, anomalies, percentage related to the whole (by category, subcategory, and over time). 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/>
              <a:t>Data</a:t>
            </a:r>
            <a:r>
              <a:rPr lang="en-US" dirty="0"/>
              <a:t>: single categorical variable with subcategories, two or more variables. A time dimension can also be included. </a:t>
            </a:r>
            <a:endParaRPr lang="en-US" dirty="0" smtClean="0"/>
          </a:p>
          <a:p>
            <a:pPr marL="457200" lvl="1" indent="0">
              <a:buNone/>
            </a:pPr>
            <a:r>
              <a:rPr lang="en-US" b="1" dirty="0" smtClean="0"/>
              <a:t>Chart </a:t>
            </a:r>
            <a:r>
              <a:rPr lang="en-US" b="1" dirty="0"/>
              <a:t>options</a:t>
            </a:r>
            <a:r>
              <a:rPr lang="en-US" dirty="0"/>
              <a:t>: pie, stacked bar, stacked 100% bar, stacked area, stacked 100% area, tree map, and doughnut chart.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61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37" y="37626"/>
            <a:ext cx="5591955" cy="6782747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50460" y="1919333"/>
            <a:ext cx="2734147" cy="23720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Charts for categories composition (Proportions</a:t>
            </a:r>
            <a:r>
              <a:rPr lang="en-US" sz="3600" dirty="0"/>
              <a:t>)</a:t>
            </a:r>
            <a:endParaRPr lang="uk-UA" sz="3600" dirty="0"/>
          </a:p>
        </p:txBody>
      </p:sp>
    </p:spTree>
    <p:extLst>
      <p:ext uri="{BB962C8B-B14F-4D97-AF65-F5344CB8AC3E}">
        <p14:creationId xmlns:p14="http://schemas.microsoft.com/office/powerpoint/2010/main" val="199484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37" y="37626"/>
            <a:ext cx="5591955" cy="6782747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50460" y="1919333"/>
            <a:ext cx="2734147" cy="23720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Charts for categories composition (Proportions</a:t>
            </a:r>
            <a:r>
              <a:rPr lang="en-US" sz="3600" dirty="0"/>
              <a:t>)</a:t>
            </a:r>
            <a:endParaRPr lang="uk-UA" sz="3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r="75187"/>
          <a:stretch/>
        </p:blipFill>
        <p:spPr>
          <a:xfrm>
            <a:off x="1730850" y="262902"/>
            <a:ext cx="1346375" cy="152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5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Composition/</a:t>
            </a:r>
            <a:r>
              <a:rPr lang="en-AU" dirty="0" smtClean="0"/>
              <a:t>Proportions</a:t>
            </a:r>
            <a:endParaRPr lang="uk-UA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902" y="1354263"/>
            <a:ext cx="7592485" cy="193384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49340" y="3568429"/>
            <a:ext cx="73740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Proportions can be visualized as pie charts, side-by-side bars, or stacked </a:t>
            </a:r>
            <a:r>
              <a:rPr lang="en-US" dirty="0" smtClean="0"/>
              <a:t>bars. </a:t>
            </a:r>
          </a:p>
          <a:p>
            <a:endParaRPr lang="en-US" dirty="0"/>
          </a:p>
          <a:p>
            <a:r>
              <a:rPr lang="en-US" dirty="0" smtClean="0"/>
              <a:t>As </a:t>
            </a:r>
            <a:r>
              <a:rPr lang="en-US" dirty="0"/>
              <a:t>for amounts, when we visualize proportions with bars, the bars can be arranged either vertically or horizontally.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Pie </a:t>
            </a:r>
            <a:r>
              <a:rPr lang="en-US" dirty="0"/>
              <a:t>charts emphasize that the individual parts add up to a whole and highlight simple fractions. However, the individual pieces Proportions </a:t>
            </a:r>
            <a:r>
              <a:rPr lang="en-US" dirty="0" smtClean="0"/>
              <a:t>are </a:t>
            </a:r>
            <a:r>
              <a:rPr lang="en-US" dirty="0"/>
              <a:t>more easily compared in side-by-side bars.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Stacked </a:t>
            </a:r>
            <a:r>
              <a:rPr lang="en-US" dirty="0"/>
              <a:t>bars </a:t>
            </a:r>
            <a:r>
              <a:rPr lang="en-US" dirty="0" smtClean="0"/>
              <a:t>can </a:t>
            </a:r>
            <a:r>
              <a:rPr lang="en-US" dirty="0"/>
              <a:t>be useful when comparing multiple sets of proportions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103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957" y="731062"/>
            <a:ext cx="7630590" cy="19910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09872" y="3302975"/>
            <a:ext cx="67312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visualizing multiple sets of proportions or changes in proportions across </a:t>
            </a:r>
            <a:r>
              <a:rPr lang="en-US" dirty="0" smtClean="0"/>
              <a:t>conditions</a:t>
            </a:r>
            <a:r>
              <a:rPr lang="en-US" dirty="0"/>
              <a:t>, pie charts tend to be space-inefficient and often obscure relationships.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Grouped </a:t>
            </a:r>
            <a:r>
              <a:rPr lang="en-US" dirty="0"/>
              <a:t>bars work well as long as the number of conditions compared is moderate, and stacked bars can work for large numbers of conditions.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Stacked </a:t>
            </a:r>
            <a:r>
              <a:rPr lang="en-US" dirty="0"/>
              <a:t>densities </a:t>
            </a:r>
            <a:r>
              <a:rPr lang="en-US" dirty="0" smtClean="0"/>
              <a:t>are </a:t>
            </a:r>
            <a:r>
              <a:rPr lang="en-US" dirty="0"/>
              <a:t>appropriate when the proportions change along a continuous variable.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3411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851" y="588949"/>
            <a:ext cx="5858693" cy="194337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46910" y="2779730"/>
            <a:ext cx="77905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proportions are specified according to multiple grouping variables, mosaic plots, </a:t>
            </a:r>
            <a:r>
              <a:rPr lang="en-US" dirty="0" err="1"/>
              <a:t>treemaps</a:t>
            </a:r>
            <a:r>
              <a:rPr lang="en-US" dirty="0"/>
              <a:t>, or parallel sets are useful visualization </a:t>
            </a:r>
            <a:r>
              <a:rPr lang="en-US" dirty="0" smtClean="0"/>
              <a:t>approaches. </a:t>
            </a:r>
          </a:p>
          <a:p>
            <a:endParaRPr lang="en-US" dirty="0"/>
          </a:p>
          <a:p>
            <a:r>
              <a:rPr lang="en-US" dirty="0" smtClean="0"/>
              <a:t>Mosaic </a:t>
            </a:r>
            <a:r>
              <a:rPr lang="en-US" dirty="0"/>
              <a:t>plots assume that every level of one grouping variable can be combined with every level of another grouping variable, whereas </a:t>
            </a:r>
            <a:r>
              <a:rPr lang="en-US" dirty="0" err="1"/>
              <a:t>treemaps</a:t>
            </a:r>
            <a:r>
              <a:rPr lang="en-US" dirty="0"/>
              <a:t> do not make such an assumption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Treemaps</a:t>
            </a:r>
            <a:r>
              <a:rPr lang="en-US" dirty="0" smtClean="0"/>
              <a:t> </a:t>
            </a:r>
            <a:r>
              <a:rPr lang="en-US" dirty="0"/>
              <a:t>work well even if the subdivisions of one group are entirely distinct from the subdivisions of another.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Parallel </a:t>
            </a:r>
            <a:r>
              <a:rPr lang="en-US" dirty="0"/>
              <a:t>sets work better than either mosaic plots or </a:t>
            </a:r>
            <a:r>
              <a:rPr lang="en-US" dirty="0" err="1"/>
              <a:t>treemaps</a:t>
            </a:r>
            <a:r>
              <a:rPr lang="en-US" dirty="0"/>
              <a:t> when there are more than two grouping variables.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165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12569</TotalTime>
  <Words>1156</Words>
  <Application>Microsoft Office PowerPoint</Application>
  <PresentationFormat>Экран (4:3)</PresentationFormat>
  <Paragraphs>153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Section 2. Selecting a Chart Type</vt:lpstr>
      <vt:lpstr>General considerations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Comparisons of Categories</vt:lpstr>
      <vt:lpstr>Charts for categories comparisons</vt:lpstr>
      <vt:lpstr>Amounts (for Comparison/Ranking)</vt:lpstr>
      <vt:lpstr>Презентация PowerPoint</vt:lpstr>
      <vt:lpstr>Composition/Proportions</vt:lpstr>
      <vt:lpstr>Charts for categories composition (Proportions)</vt:lpstr>
      <vt:lpstr>Charts for categories composition (Proportions)</vt:lpstr>
      <vt:lpstr>Composition/Proportions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Александр Леонов</dc:creator>
  <cp:keywords/>
  <dc:description>generated using python-pptx</dc:description>
  <cp:lastModifiedBy>Oleksandr</cp:lastModifiedBy>
  <cp:revision>119</cp:revision>
  <dcterms:created xsi:type="dcterms:W3CDTF">2013-01-27T09:14:16Z</dcterms:created>
  <dcterms:modified xsi:type="dcterms:W3CDTF">2025-09-26T11:40:10Z</dcterms:modified>
  <cp:category/>
</cp:coreProperties>
</file>