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0.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1.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68" r:id="rId2"/>
    <p:sldId id="256" r:id="rId3"/>
    <p:sldId id="294" r:id="rId4"/>
    <p:sldId id="311" r:id="rId5"/>
    <p:sldId id="295" r:id="rId6"/>
    <p:sldId id="296" r:id="rId7"/>
    <p:sldId id="281" r:id="rId8"/>
    <p:sldId id="272" r:id="rId9"/>
    <p:sldId id="276" r:id="rId10"/>
    <p:sldId id="278" r:id="rId11"/>
    <p:sldId id="279" r:id="rId12"/>
    <p:sldId id="280" r:id="rId13"/>
    <p:sldId id="282" r:id="rId14"/>
    <p:sldId id="285" r:id="rId15"/>
    <p:sldId id="286" r:id="rId16"/>
    <p:sldId id="287" r:id="rId17"/>
    <p:sldId id="288" r:id="rId18"/>
    <p:sldId id="289" r:id="rId19"/>
    <p:sldId id="292" r:id="rId20"/>
    <p:sldId id="293" r:id="rId21"/>
    <p:sldId id="290" r:id="rId22"/>
    <p:sldId id="312" r:id="rId23"/>
    <p:sldId id="284" r:id="rId24"/>
    <p:sldId id="262" r:id="rId25"/>
    <p:sldId id="297" r:id="rId26"/>
    <p:sldId id="298" r:id="rId27"/>
    <p:sldId id="299" r:id="rId28"/>
    <p:sldId id="301" r:id="rId29"/>
    <p:sldId id="302" r:id="rId30"/>
    <p:sldId id="303" r:id="rId31"/>
    <p:sldId id="304" r:id="rId32"/>
    <p:sldId id="305" r:id="rId33"/>
    <p:sldId id="306" r:id="rId34"/>
    <p:sldId id="307" r:id="rId35"/>
    <p:sldId id="309" r:id="rId36"/>
    <p:sldId id="270" r:id="rId37"/>
    <p:sldId id="269"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936" autoAdjust="0"/>
  </p:normalViewPr>
  <p:slideViewPr>
    <p:cSldViewPr snapToGrid="0" snapToObjects="1">
      <p:cViewPr varScale="1">
        <p:scale>
          <a:sx n="98" d="100"/>
          <a:sy n="98" d="100"/>
        </p:scale>
        <p:origin x="189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_____Microsoft_Excel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_____Microsoft_Excel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_____Microsoft_Excel3.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_____Microsoft_Excel4.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uk-UA"/>
        </a:p>
      </c:txPr>
    </c:title>
    <c:autoTitleDeleted val="0"/>
    <c:plotArea>
      <c:layout/>
      <c:barChart>
        <c:barDir val="col"/>
        <c:grouping val="clustered"/>
        <c:varyColors val="0"/>
        <c:ser>
          <c:idx val="0"/>
          <c:order val="0"/>
          <c:tx>
            <c:strRef>
              <c:f>Лист1!$B$1</c:f>
              <c:strCache>
                <c:ptCount val="1"/>
                <c:pt idx="0">
                  <c:v>Ряд 1</c:v>
                </c:pt>
              </c:strCache>
            </c:strRef>
          </c:tx>
          <c:spPr>
            <a:solidFill>
              <a:schemeClr val="accent1"/>
            </a:solidFill>
            <a:ln>
              <a:noFill/>
            </a:ln>
            <a:effectLst/>
          </c:spPr>
          <c:invertIfNegative val="0"/>
          <c:cat>
            <c:strRef>
              <c:f>Лист1!$A$2:$A$5</c:f>
              <c:strCache>
                <c:ptCount val="4"/>
                <c:pt idx="0">
                  <c:v>Категория 1</c:v>
                </c:pt>
                <c:pt idx="1">
                  <c:v>Категория 2</c:v>
                </c:pt>
                <c:pt idx="2">
                  <c:v>Категория 3</c:v>
                </c:pt>
                <c:pt idx="3">
                  <c:v>Категория 4</c:v>
                </c:pt>
              </c:strCache>
            </c:strRef>
          </c:cat>
          <c:val>
            <c:numRef>
              <c:f>Лист1!$B$2:$B$5</c:f>
              <c:numCache>
                <c:formatCode>General</c:formatCode>
                <c:ptCount val="4"/>
                <c:pt idx="0">
                  <c:v>4.3</c:v>
                </c:pt>
                <c:pt idx="1">
                  <c:v>2.5</c:v>
                </c:pt>
                <c:pt idx="2">
                  <c:v>3.5</c:v>
                </c:pt>
                <c:pt idx="3">
                  <c:v>4.5</c:v>
                </c:pt>
              </c:numCache>
            </c:numRef>
          </c:val>
        </c:ser>
        <c:ser>
          <c:idx val="1"/>
          <c:order val="1"/>
          <c:tx>
            <c:strRef>
              <c:f>Лист1!$C$1</c:f>
              <c:strCache>
                <c:ptCount val="1"/>
                <c:pt idx="0">
                  <c:v>Ряд 2</c:v>
                </c:pt>
              </c:strCache>
            </c:strRef>
          </c:tx>
          <c:spPr>
            <a:solidFill>
              <a:schemeClr val="accent2"/>
            </a:solidFill>
            <a:ln>
              <a:noFill/>
            </a:ln>
            <a:effectLst/>
          </c:spPr>
          <c:invertIfNegative val="0"/>
          <c:cat>
            <c:strRef>
              <c:f>Лист1!$A$2:$A$5</c:f>
              <c:strCache>
                <c:ptCount val="4"/>
                <c:pt idx="0">
                  <c:v>Категория 1</c:v>
                </c:pt>
                <c:pt idx="1">
                  <c:v>Категория 2</c:v>
                </c:pt>
                <c:pt idx="2">
                  <c:v>Категория 3</c:v>
                </c:pt>
                <c:pt idx="3">
                  <c:v>Категория 4</c:v>
                </c:pt>
              </c:strCache>
            </c:strRef>
          </c:cat>
          <c:val>
            <c:numRef>
              <c:f>Лист1!$C$2:$C$5</c:f>
              <c:numCache>
                <c:formatCode>General</c:formatCode>
                <c:ptCount val="4"/>
                <c:pt idx="0">
                  <c:v>2.4</c:v>
                </c:pt>
                <c:pt idx="1">
                  <c:v>4.4000000000000004</c:v>
                </c:pt>
                <c:pt idx="2">
                  <c:v>1.8</c:v>
                </c:pt>
                <c:pt idx="3">
                  <c:v>2.8</c:v>
                </c:pt>
              </c:numCache>
            </c:numRef>
          </c:val>
        </c:ser>
        <c:ser>
          <c:idx val="2"/>
          <c:order val="2"/>
          <c:tx>
            <c:strRef>
              <c:f>Лист1!$D$1</c:f>
              <c:strCache>
                <c:ptCount val="1"/>
                <c:pt idx="0">
                  <c:v>Ряд 3</c:v>
                </c:pt>
              </c:strCache>
            </c:strRef>
          </c:tx>
          <c:spPr>
            <a:solidFill>
              <a:schemeClr val="accent3"/>
            </a:solidFill>
            <a:ln>
              <a:noFill/>
            </a:ln>
            <a:effectLst/>
          </c:spPr>
          <c:invertIfNegative val="0"/>
          <c:cat>
            <c:strRef>
              <c:f>Лист1!$A$2:$A$5</c:f>
              <c:strCache>
                <c:ptCount val="4"/>
                <c:pt idx="0">
                  <c:v>Категория 1</c:v>
                </c:pt>
                <c:pt idx="1">
                  <c:v>Категория 2</c:v>
                </c:pt>
                <c:pt idx="2">
                  <c:v>Категория 3</c:v>
                </c:pt>
                <c:pt idx="3">
                  <c:v>Категория 4</c:v>
                </c:pt>
              </c:strCache>
            </c:strRef>
          </c:cat>
          <c:val>
            <c:numRef>
              <c:f>Лист1!$D$2:$D$5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219"/>
        <c:overlap val="-27"/>
        <c:axId val="425963704"/>
        <c:axId val="425966056"/>
      </c:barChart>
      <c:catAx>
        <c:axId val="4259637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425966056"/>
        <c:crosses val="autoZero"/>
        <c:auto val="1"/>
        <c:lblAlgn val="ctr"/>
        <c:lblOffset val="100"/>
        <c:noMultiLvlLbl val="0"/>
      </c:catAx>
      <c:valAx>
        <c:axId val="4259660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4259637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legend>
    <c:plotVisOnly val="1"/>
    <c:dispBlanksAs val="gap"/>
    <c:showDLblsOverMax val="0"/>
  </c:chart>
  <c:spPr>
    <a:noFill/>
    <a:ln>
      <a:noFill/>
    </a:ln>
    <a:effectLst/>
  </c:spPr>
  <c:txPr>
    <a:bodyPr/>
    <a:lstStyle/>
    <a:p>
      <a:pPr>
        <a:defRPr/>
      </a:pPr>
      <a:endParaRPr lang="uk-UA"/>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uk-UA"/>
        </a:p>
      </c:txPr>
    </c:title>
    <c:autoTitleDeleted val="0"/>
    <c:plotArea>
      <c:layout/>
      <c:lineChart>
        <c:grouping val="stacked"/>
        <c:varyColors val="0"/>
        <c:ser>
          <c:idx val="0"/>
          <c:order val="0"/>
          <c:tx>
            <c:strRef>
              <c:f>Лист1!$B$1</c:f>
              <c:strCache>
                <c:ptCount val="1"/>
                <c:pt idx="0">
                  <c:v>Ряд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Лист1!$A$2:$A$5</c:f>
              <c:strCache>
                <c:ptCount val="4"/>
                <c:pt idx="0">
                  <c:v>Категория 1</c:v>
                </c:pt>
                <c:pt idx="1">
                  <c:v>Категория 2</c:v>
                </c:pt>
                <c:pt idx="2">
                  <c:v>Категория 3</c:v>
                </c:pt>
                <c:pt idx="3">
                  <c:v>Категория 4</c:v>
                </c:pt>
              </c:strCache>
            </c:strRef>
          </c:cat>
          <c:val>
            <c:numRef>
              <c:f>Лист1!$B$2:$B$5</c:f>
              <c:numCache>
                <c:formatCode>General</c:formatCode>
                <c:ptCount val="4"/>
                <c:pt idx="0">
                  <c:v>4.3</c:v>
                </c:pt>
                <c:pt idx="1">
                  <c:v>2.5</c:v>
                </c:pt>
                <c:pt idx="2">
                  <c:v>3.5</c:v>
                </c:pt>
                <c:pt idx="3">
                  <c:v>4.5</c:v>
                </c:pt>
              </c:numCache>
            </c:numRef>
          </c:val>
          <c:smooth val="0"/>
        </c:ser>
        <c:ser>
          <c:idx val="1"/>
          <c:order val="1"/>
          <c:tx>
            <c:strRef>
              <c:f>Лист1!$C$1</c:f>
              <c:strCache>
                <c:ptCount val="1"/>
                <c:pt idx="0">
                  <c:v>Ряд 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Лист1!$A$2:$A$5</c:f>
              <c:strCache>
                <c:ptCount val="4"/>
                <c:pt idx="0">
                  <c:v>Категория 1</c:v>
                </c:pt>
                <c:pt idx="1">
                  <c:v>Категория 2</c:v>
                </c:pt>
                <c:pt idx="2">
                  <c:v>Категория 3</c:v>
                </c:pt>
                <c:pt idx="3">
                  <c:v>Категория 4</c:v>
                </c:pt>
              </c:strCache>
            </c:strRef>
          </c:cat>
          <c:val>
            <c:numRef>
              <c:f>Лист1!$C$2:$C$5</c:f>
              <c:numCache>
                <c:formatCode>General</c:formatCode>
                <c:ptCount val="4"/>
                <c:pt idx="0">
                  <c:v>2.4</c:v>
                </c:pt>
                <c:pt idx="1">
                  <c:v>4.4000000000000004</c:v>
                </c:pt>
                <c:pt idx="2">
                  <c:v>1.8</c:v>
                </c:pt>
                <c:pt idx="3">
                  <c:v>2.8</c:v>
                </c:pt>
              </c:numCache>
            </c:numRef>
          </c:val>
          <c:smooth val="0"/>
        </c:ser>
        <c:ser>
          <c:idx val="2"/>
          <c:order val="2"/>
          <c:tx>
            <c:strRef>
              <c:f>Лист1!$D$1</c:f>
              <c:strCache>
                <c:ptCount val="1"/>
                <c:pt idx="0">
                  <c:v>Ряд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Лист1!$A$2:$A$5</c:f>
              <c:strCache>
                <c:ptCount val="4"/>
                <c:pt idx="0">
                  <c:v>Категория 1</c:v>
                </c:pt>
                <c:pt idx="1">
                  <c:v>Категория 2</c:v>
                </c:pt>
                <c:pt idx="2">
                  <c:v>Категория 3</c:v>
                </c:pt>
                <c:pt idx="3">
                  <c:v>Категория 4</c:v>
                </c:pt>
              </c:strCache>
            </c:strRef>
          </c:cat>
          <c:val>
            <c:numRef>
              <c:f>Лист1!$D$2:$D$5</c:f>
              <c:numCache>
                <c:formatCode>General</c:formatCode>
                <c:ptCount val="4"/>
                <c:pt idx="0">
                  <c:v>2</c:v>
                </c:pt>
                <c:pt idx="1">
                  <c:v>2</c:v>
                </c:pt>
                <c:pt idx="2">
                  <c:v>3</c:v>
                </c:pt>
                <c:pt idx="3">
                  <c:v>5</c:v>
                </c:pt>
              </c:numCache>
            </c:numRef>
          </c:val>
          <c:smooth val="0"/>
        </c:ser>
        <c:dLbls>
          <c:showLegendKey val="0"/>
          <c:showVal val="0"/>
          <c:showCatName val="0"/>
          <c:showSerName val="0"/>
          <c:showPercent val="0"/>
          <c:showBubbleSize val="0"/>
        </c:dLbls>
        <c:marker val="1"/>
        <c:smooth val="0"/>
        <c:axId val="425964096"/>
        <c:axId val="425965272"/>
      </c:lineChart>
      <c:catAx>
        <c:axId val="425964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425965272"/>
        <c:crosses val="autoZero"/>
        <c:auto val="1"/>
        <c:lblAlgn val="ctr"/>
        <c:lblOffset val="100"/>
        <c:noMultiLvlLbl val="0"/>
      </c:catAx>
      <c:valAx>
        <c:axId val="4259652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4259640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legend>
    <c:plotVisOnly val="1"/>
    <c:dispBlanksAs val="zero"/>
    <c:showDLblsOverMax val="0"/>
  </c:chart>
  <c:spPr>
    <a:noFill/>
    <a:ln>
      <a:noFill/>
    </a:ln>
    <a:effectLst/>
  </c:spPr>
  <c:txPr>
    <a:bodyPr/>
    <a:lstStyle/>
    <a:p>
      <a:pPr>
        <a:defRPr/>
      </a:pPr>
      <a:endParaRPr lang="uk-UA"/>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uk-UA"/>
        </a:p>
      </c:txPr>
    </c:title>
    <c:autoTitleDeleted val="0"/>
    <c:plotArea>
      <c:layout/>
      <c:pieChart>
        <c:varyColors val="1"/>
        <c:ser>
          <c:idx val="0"/>
          <c:order val="0"/>
          <c:tx>
            <c:strRef>
              <c:f>Лист1!$B$1</c:f>
              <c:strCache>
                <c:ptCount val="1"/>
                <c:pt idx="0">
                  <c:v>Продажи</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cat>
            <c:strRef>
              <c:f>Лист1!$A$2:$A$5</c:f>
              <c:strCache>
                <c:ptCount val="4"/>
                <c:pt idx="0">
                  <c:v>Кв. 1</c:v>
                </c:pt>
                <c:pt idx="1">
                  <c:v>Кв. 2</c:v>
                </c:pt>
                <c:pt idx="2">
                  <c:v>Кв. 3</c:v>
                </c:pt>
                <c:pt idx="3">
                  <c:v>Кв. 4</c:v>
                </c:pt>
              </c:strCache>
            </c:strRef>
          </c:cat>
          <c:val>
            <c:numRef>
              <c:f>Лист1!$B$2:$B$5</c:f>
              <c:numCache>
                <c:formatCode>General</c:formatCode>
                <c:ptCount val="4"/>
                <c:pt idx="0">
                  <c:v>8.1999999999999993</c:v>
                </c:pt>
                <c:pt idx="1">
                  <c:v>3.2</c:v>
                </c:pt>
                <c:pt idx="2">
                  <c:v>1.4</c:v>
                </c:pt>
                <c:pt idx="3">
                  <c:v>1.2</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legend>
    <c:plotVisOnly val="1"/>
    <c:dispBlanksAs val="gap"/>
    <c:showDLblsOverMax val="0"/>
  </c:chart>
  <c:spPr>
    <a:noFill/>
    <a:ln>
      <a:noFill/>
    </a:ln>
    <a:effectLst/>
  </c:spPr>
  <c:txPr>
    <a:bodyPr/>
    <a:lstStyle/>
    <a:p>
      <a:pPr>
        <a:defRPr/>
      </a:pPr>
      <a:endParaRPr lang="uk-UA"/>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uk-UA"/>
        </a:p>
      </c:txPr>
    </c:title>
    <c:autoTitleDeleted val="0"/>
    <c:plotArea>
      <c:layout/>
      <c:barChart>
        <c:barDir val="bar"/>
        <c:grouping val="clustered"/>
        <c:varyColors val="0"/>
        <c:ser>
          <c:idx val="0"/>
          <c:order val="0"/>
          <c:tx>
            <c:strRef>
              <c:f>Лист1!$B$1</c:f>
              <c:strCache>
                <c:ptCount val="1"/>
                <c:pt idx="0">
                  <c:v>Ряд 1</c:v>
                </c:pt>
              </c:strCache>
            </c:strRef>
          </c:tx>
          <c:spPr>
            <a:solidFill>
              <a:schemeClr val="accent1"/>
            </a:solidFill>
            <a:ln>
              <a:noFill/>
            </a:ln>
            <a:effectLst/>
          </c:spPr>
          <c:invertIfNegative val="0"/>
          <c:cat>
            <c:strRef>
              <c:f>Лист1!$A$2:$A$5</c:f>
              <c:strCache>
                <c:ptCount val="4"/>
                <c:pt idx="0">
                  <c:v>Категория 1</c:v>
                </c:pt>
                <c:pt idx="1">
                  <c:v>Категория 2</c:v>
                </c:pt>
                <c:pt idx="2">
                  <c:v>Категория 3</c:v>
                </c:pt>
                <c:pt idx="3">
                  <c:v>Категория 4</c:v>
                </c:pt>
              </c:strCache>
            </c:strRef>
          </c:cat>
          <c:val>
            <c:numRef>
              <c:f>Лист1!$B$2:$B$5</c:f>
              <c:numCache>
                <c:formatCode>General</c:formatCode>
                <c:ptCount val="4"/>
                <c:pt idx="0">
                  <c:v>4.3</c:v>
                </c:pt>
                <c:pt idx="1">
                  <c:v>2.5</c:v>
                </c:pt>
                <c:pt idx="2">
                  <c:v>3.5</c:v>
                </c:pt>
                <c:pt idx="3">
                  <c:v>4.5</c:v>
                </c:pt>
              </c:numCache>
            </c:numRef>
          </c:val>
        </c:ser>
        <c:ser>
          <c:idx val="1"/>
          <c:order val="1"/>
          <c:tx>
            <c:strRef>
              <c:f>Лист1!$C$1</c:f>
              <c:strCache>
                <c:ptCount val="1"/>
                <c:pt idx="0">
                  <c:v>Ряд 2</c:v>
                </c:pt>
              </c:strCache>
            </c:strRef>
          </c:tx>
          <c:spPr>
            <a:solidFill>
              <a:schemeClr val="accent2"/>
            </a:solidFill>
            <a:ln>
              <a:noFill/>
            </a:ln>
            <a:effectLst/>
          </c:spPr>
          <c:invertIfNegative val="0"/>
          <c:cat>
            <c:strRef>
              <c:f>Лист1!$A$2:$A$5</c:f>
              <c:strCache>
                <c:ptCount val="4"/>
                <c:pt idx="0">
                  <c:v>Категория 1</c:v>
                </c:pt>
                <c:pt idx="1">
                  <c:v>Категория 2</c:v>
                </c:pt>
                <c:pt idx="2">
                  <c:v>Категория 3</c:v>
                </c:pt>
                <c:pt idx="3">
                  <c:v>Категория 4</c:v>
                </c:pt>
              </c:strCache>
            </c:strRef>
          </c:cat>
          <c:val>
            <c:numRef>
              <c:f>Лист1!$C$2:$C$5</c:f>
              <c:numCache>
                <c:formatCode>General</c:formatCode>
                <c:ptCount val="4"/>
                <c:pt idx="0">
                  <c:v>2.4</c:v>
                </c:pt>
                <c:pt idx="1">
                  <c:v>4.4000000000000004</c:v>
                </c:pt>
                <c:pt idx="2">
                  <c:v>1.8</c:v>
                </c:pt>
                <c:pt idx="3">
                  <c:v>2.8</c:v>
                </c:pt>
              </c:numCache>
            </c:numRef>
          </c:val>
        </c:ser>
        <c:ser>
          <c:idx val="2"/>
          <c:order val="2"/>
          <c:tx>
            <c:strRef>
              <c:f>Лист1!$D$1</c:f>
              <c:strCache>
                <c:ptCount val="1"/>
                <c:pt idx="0">
                  <c:v>Ряд 3</c:v>
                </c:pt>
              </c:strCache>
            </c:strRef>
          </c:tx>
          <c:spPr>
            <a:solidFill>
              <a:schemeClr val="accent3"/>
            </a:solidFill>
            <a:ln>
              <a:noFill/>
            </a:ln>
            <a:effectLst/>
          </c:spPr>
          <c:invertIfNegative val="0"/>
          <c:cat>
            <c:strRef>
              <c:f>Лист1!$A$2:$A$5</c:f>
              <c:strCache>
                <c:ptCount val="4"/>
                <c:pt idx="0">
                  <c:v>Категория 1</c:v>
                </c:pt>
                <c:pt idx="1">
                  <c:v>Категория 2</c:v>
                </c:pt>
                <c:pt idx="2">
                  <c:v>Категория 3</c:v>
                </c:pt>
                <c:pt idx="3">
                  <c:v>Категория 4</c:v>
                </c:pt>
              </c:strCache>
            </c:strRef>
          </c:cat>
          <c:val>
            <c:numRef>
              <c:f>Лист1!$D$2:$D$5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82"/>
        <c:axId val="425965664"/>
        <c:axId val="363367064"/>
      </c:barChart>
      <c:catAx>
        <c:axId val="4259656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363367064"/>
        <c:crosses val="autoZero"/>
        <c:auto val="1"/>
        <c:lblAlgn val="ctr"/>
        <c:lblOffset val="100"/>
        <c:noMultiLvlLbl val="0"/>
      </c:catAx>
      <c:valAx>
        <c:axId val="36336706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4259656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legend>
    <c:plotVisOnly val="1"/>
    <c:dispBlanksAs val="gap"/>
    <c:showDLblsOverMax val="0"/>
  </c:chart>
  <c:spPr>
    <a:noFill/>
    <a:ln>
      <a:noFill/>
    </a:ln>
    <a:effectLst/>
  </c:spPr>
  <c:txPr>
    <a:bodyPr/>
    <a:lstStyle/>
    <a:p>
      <a:pPr>
        <a:defRPr/>
      </a:pPr>
      <a:endParaRPr lang="uk-UA"/>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uk-UA"/>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63FA7D-846F-4A41-BF49-0697935E655C}" type="datetimeFigureOut">
              <a:rPr lang="uk-UA" smtClean="0"/>
              <a:t>18.09.2025</a:t>
            </a:fld>
            <a:endParaRPr lang="uk-UA"/>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uk-UA"/>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uk-UA"/>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3423D5-AFE2-4DEC-9AE6-6E7AA26E4F44}" type="slidenum">
              <a:rPr lang="uk-UA" smtClean="0"/>
              <a:t>‹#›</a:t>
            </a:fld>
            <a:endParaRPr lang="uk-UA"/>
          </a:p>
        </p:txBody>
      </p:sp>
    </p:spTree>
    <p:extLst>
      <p:ext uri="{BB962C8B-B14F-4D97-AF65-F5344CB8AC3E}">
        <p14:creationId xmlns:p14="http://schemas.microsoft.com/office/powerpoint/2010/main" val="194113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defRPr sz="2000"/>
            </a:pPr>
            <a:r>
              <a:rPr lang="ru-RU" dirty="0" err="1" smtClean="0"/>
              <a:t>Перетворення</a:t>
            </a:r>
            <a:r>
              <a:rPr lang="ru-RU" dirty="0" smtClean="0"/>
              <a:t> чисел на </a:t>
            </a:r>
            <a:r>
              <a:rPr lang="ru-RU" dirty="0" err="1" smtClean="0"/>
              <a:t>образи</a:t>
            </a:r>
            <a:endParaRPr lang="ru-RU" dirty="0" smtClean="0"/>
          </a:p>
          <a:p>
            <a:pPr>
              <a:defRPr sz="2000"/>
            </a:pPr>
            <a:r>
              <a:rPr lang="ru-RU" dirty="0" err="1" smtClean="0"/>
              <a:t>Засіб</a:t>
            </a:r>
            <a:r>
              <a:rPr lang="ru-RU" dirty="0" smtClean="0"/>
              <a:t> </a:t>
            </a:r>
            <a:r>
              <a:rPr lang="ru-RU" dirty="0" err="1" smtClean="0"/>
              <a:t>швидкого</a:t>
            </a:r>
            <a:r>
              <a:rPr lang="ru-RU" dirty="0" smtClean="0"/>
              <a:t> </a:t>
            </a:r>
            <a:r>
              <a:rPr lang="ru-RU" dirty="0" err="1" smtClean="0"/>
              <a:t>розуміння</a:t>
            </a:r>
            <a:r>
              <a:rPr lang="ru-RU" dirty="0" smtClean="0"/>
              <a:t> </a:t>
            </a:r>
            <a:r>
              <a:rPr lang="ru-RU" dirty="0" err="1" smtClean="0"/>
              <a:t>даних</a:t>
            </a:r>
            <a:endParaRPr lang="ru-RU" dirty="0" smtClean="0"/>
          </a:p>
          <a:p>
            <a:pPr>
              <a:defRPr sz="2000"/>
            </a:pPr>
            <a:r>
              <a:rPr lang="ru-RU" dirty="0" err="1" smtClean="0"/>
              <a:t>Міст</a:t>
            </a:r>
            <a:r>
              <a:rPr lang="ru-RU" dirty="0" smtClean="0"/>
              <a:t> </a:t>
            </a:r>
            <a:r>
              <a:rPr lang="ru-RU" dirty="0" err="1" smtClean="0"/>
              <a:t>між</a:t>
            </a:r>
            <a:r>
              <a:rPr lang="ru-RU" dirty="0" smtClean="0"/>
              <a:t> статистикою та </a:t>
            </a:r>
            <a:r>
              <a:rPr lang="ru-RU" dirty="0" err="1" smtClean="0"/>
              <a:t>сприйняттям</a:t>
            </a:r>
            <a:endParaRPr lang="ru-RU" dirty="0" smtClean="0"/>
          </a:p>
        </p:txBody>
      </p:sp>
      <p:sp>
        <p:nvSpPr>
          <p:cNvPr id="4" name="Номер слайда 3"/>
          <p:cNvSpPr>
            <a:spLocks noGrp="1"/>
          </p:cNvSpPr>
          <p:nvPr>
            <p:ph type="sldNum" sz="quarter" idx="10"/>
          </p:nvPr>
        </p:nvSpPr>
        <p:spPr/>
        <p:txBody>
          <a:bodyPr/>
          <a:lstStyle/>
          <a:p>
            <a:fld id="{DB3423D5-AFE2-4DEC-9AE6-6E7AA26E4F44}" type="slidenum">
              <a:rPr lang="uk-UA" smtClean="0"/>
              <a:t>5</a:t>
            </a:fld>
            <a:endParaRPr lang="uk-UA"/>
          </a:p>
        </p:txBody>
      </p:sp>
    </p:spTree>
    <p:extLst>
      <p:ext uri="{BB962C8B-B14F-4D97-AF65-F5344CB8AC3E}">
        <p14:creationId xmlns:p14="http://schemas.microsoft.com/office/powerpoint/2010/main" val="13916151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defRPr sz="2000"/>
            </a:pPr>
            <a:r>
              <a:rPr lang="ru-RU" dirty="0" err="1" smtClean="0"/>
              <a:t>Перетворення</a:t>
            </a:r>
            <a:r>
              <a:rPr lang="ru-RU" dirty="0" smtClean="0"/>
              <a:t> чисел на </a:t>
            </a:r>
            <a:r>
              <a:rPr lang="ru-RU" dirty="0" err="1" smtClean="0"/>
              <a:t>образи</a:t>
            </a:r>
            <a:endParaRPr lang="ru-RU" dirty="0" smtClean="0"/>
          </a:p>
          <a:p>
            <a:pPr>
              <a:defRPr sz="2000"/>
            </a:pPr>
            <a:r>
              <a:rPr lang="ru-RU" dirty="0" err="1" smtClean="0"/>
              <a:t>Засіб</a:t>
            </a:r>
            <a:r>
              <a:rPr lang="ru-RU" dirty="0" smtClean="0"/>
              <a:t> </a:t>
            </a:r>
            <a:r>
              <a:rPr lang="ru-RU" dirty="0" err="1" smtClean="0"/>
              <a:t>швидкого</a:t>
            </a:r>
            <a:r>
              <a:rPr lang="ru-RU" dirty="0" smtClean="0"/>
              <a:t> </a:t>
            </a:r>
            <a:r>
              <a:rPr lang="ru-RU" dirty="0" err="1" smtClean="0"/>
              <a:t>розуміння</a:t>
            </a:r>
            <a:r>
              <a:rPr lang="ru-RU" dirty="0" smtClean="0"/>
              <a:t> </a:t>
            </a:r>
            <a:r>
              <a:rPr lang="ru-RU" dirty="0" err="1" smtClean="0"/>
              <a:t>даних</a:t>
            </a:r>
            <a:endParaRPr lang="ru-RU" dirty="0" smtClean="0"/>
          </a:p>
          <a:p>
            <a:pPr>
              <a:defRPr sz="2000"/>
            </a:pPr>
            <a:r>
              <a:rPr lang="ru-RU" dirty="0" err="1" smtClean="0"/>
              <a:t>Міст</a:t>
            </a:r>
            <a:r>
              <a:rPr lang="ru-RU" dirty="0" smtClean="0"/>
              <a:t> </a:t>
            </a:r>
            <a:r>
              <a:rPr lang="ru-RU" dirty="0" err="1" smtClean="0"/>
              <a:t>між</a:t>
            </a:r>
            <a:r>
              <a:rPr lang="ru-RU" dirty="0" smtClean="0"/>
              <a:t> статистикою та </a:t>
            </a:r>
            <a:r>
              <a:rPr lang="ru-RU" dirty="0" err="1" smtClean="0"/>
              <a:t>сприйняттям</a:t>
            </a:r>
            <a:endParaRPr lang="ru-RU" dirty="0" smtClean="0"/>
          </a:p>
        </p:txBody>
      </p:sp>
      <p:sp>
        <p:nvSpPr>
          <p:cNvPr id="4" name="Номер слайда 3"/>
          <p:cNvSpPr>
            <a:spLocks noGrp="1"/>
          </p:cNvSpPr>
          <p:nvPr>
            <p:ph type="sldNum" sz="quarter" idx="10"/>
          </p:nvPr>
        </p:nvSpPr>
        <p:spPr/>
        <p:txBody>
          <a:bodyPr/>
          <a:lstStyle/>
          <a:p>
            <a:fld id="{DB3423D5-AFE2-4DEC-9AE6-6E7AA26E4F44}" type="slidenum">
              <a:rPr lang="uk-UA" smtClean="0"/>
              <a:t>6</a:t>
            </a:fld>
            <a:endParaRPr lang="uk-UA"/>
          </a:p>
        </p:txBody>
      </p:sp>
    </p:spTree>
    <p:extLst>
      <p:ext uri="{BB962C8B-B14F-4D97-AF65-F5344CB8AC3E}">
        <p14:creationId xmlns:p14="http://schemas.microsoft.com/office/powerpoint/2010/main" val="2282338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defRPr sz="2000"/>
            </a:pPr>
            <a:r>
              <a:rPr lang="ru-RU" dirty="0" err="1" smtClean="0"/>
              <a:t>Перетворення</a:t>
            </a:r>
            <a:r>
              <a:rPr lang="ru-RU" dirty="0" smtClean="0"/>
              <a:t> чисел на </a:t>
            </a:r>
            <a:r>
              <a:rPr lang="ru-RU" dirty="0" err="1" smtClean="0"/>
              <a:t>образи</a:t>
            </a:r>
            <a:endParaRPr lang="ru-RU" dirty="0" smtClean="0"/>
          </a:p>
          <a:p>
            <a:pPr>
              <a:defRPr sz="2000"/>
            </a:pPr>
            <a:r>
              <a:rPr lang="ru-RU" dirty="0" err="1" smtClean="0"/>
              <a:t>Засіб</a:t>
            </a:r>
            <a:r>
              <a:rPr lang="ru-RU" dirty="0" smtClean="0"/>
              <a:t> </a:t>
            </a:r>
            <a:r>
              <a:rPr lang="ru-RU" dirty="0" err="1" smtClean="0"/>
              <a:t>швидкого</a:t>
            </a:r>
            <a:r>
              <a:rPr lang="ru-RU" dirty="0" smtClean="0"/>
              <a:t> </a:t>
            </a:r>
            <a:r>
              <a:rPr lang="ru-RU" dirty="0" err="1" smtClean="0"/>
              <a:t>розуміння</a:t>
            </a:r>
            <a:r>
              <a:rPr lang="ru-RU" dirty="0" smtClean="0"/>
              <a:t> </a:t>
            </a:r>
            <a:r>
              <a:rPr lang="ru-RU" dirty="0" err="1" smtClean="0"/>
              <a:t>даних</a:t>
            </a:r>
            <a:endParaRPr lang="ru-RU" dirty="0" smtClean="0"/>
          </a:p>
          <a:p>
            <a:pPr>
              <a:defRPr sz="2000"/>
            </a:pPr>
            <a:r>
              <a:rPr lang="ru-RU" dirty="0" err="1" smtClean="0"/>
              <a:t>Міст</a:t>
            </a:r>
            <a:r>
              <a:rPr lang="ru-RU" dirty="0" smtClean="0"/>
              <a:t> </a:t>
            </a:r>
            <a:r>
              <a:rPr lang="ru-RU" dirty="0" err="1" smtClean="0"/>
              <a:t>між</a:t>
            </a:r>
            <a:r>
              <a:rPr lang="ru-RU" dirty="0" smtClean="0"/>
              <a:t> статистикою та </a:t>
            </a:r>
            <a:r>
              <a:rPr lang="ru-RU" dirty="0" err="1" smtClean="0"/>
              <a:t>сприйняттям</a:t>
            </a:r>
            <a:endParaRPr lang="ru-RU" dirty="0" smtClean="0"/>
          </a:p>
        </p:txBody>
      </p:sp>
      <p:sp>
        <p:nvSpPr>
          <p:cNvPr id="4" name="Номер слайда 3"/>
          <p:cNvSpPr>
            <a:spLocks noGrp="1"/>
          </p:cNvSpPr>
          <p:nvPr>
            <p:ph type="sldNum" sz="quarter" idx="10"/>
          </p:nvPr>
        </p:nvSpPr>
        <p:spPr/>
        <p:txBody>
          <a:bodyPr/>
          <a:lstStyle/>
          <a:p>
            <a:fld id="{DB3423D5-AFE2-4DEC-9AE6-6E7AA26E4F44}" type="slidenum">
              <a:rPr lang="uk-UA" smtClean="0"/>
              <a:t>7</a:t>
            </a:fld>
            <a:endParaRPr lang="uk-UA"/>
          </a:p>
        </p:txBody>
      </p:sp>
    </p:spTree>
    <p:extLst>
      <p:ext uri="{BB962C8B-B14F-4D97-AF65-F5344CB8AC3E}">
        <p14:creationId xmlns:p14="http://schemas.microsoft.com/office/powerpoint/2010/main" val="16317555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defRPr sz="2000"/>
            </a:pPr>
            <a:r>
              <a:rPr lang="ru-RU" dirty="0" err="1" smtClean="0"/>
              <a:t>Перетворення</a:t>
            </a:r>
            <a:r>
              <a:rPr lang="ru-RU" dirty="0" smtClean="0"/>
              <a:t> чисел на </a:t>
            </a:r>
            <a:r>
              <a:rPr lang="ru-RU" dirty="0" err="1" smtClean="0"/>
              <a:t>образи</a:t>
            </a:r>
            <a:endParaRPr lang="ru-RU" dirty="0" smtClean="0"/>
          </a:p>
          <a:p>
            <a:pPr>
              <a:defRPr sz="2000"/>
            </a:pPr>
            <a:r>
              <a:rPr lang="ru-RU" dirty="0" err="1" smtClean="0"/>
              <a:t>Засіб</a:t>
            </a:r>
            <a:r>
              <a:rPr lang="ru-RU" dirty="0" smtClean="0"/>
              <a:t> </a:t>
            </a:r>
            <a:r>
              <a:rPr lang="ru-RU" dirty="0" err="1" smtClean="0"/>
              <a:t>швидкого</a:t>
            </a:r>
            <a:r>
              <a:rPr lang="ru-RU" dirty="0" smtClean="0"/>
              <a:t> </a:t>
            </a:r>
            <a:r>
              <a:rPr lang="ru-RU" dirty="0" err="1" smtClean="0"/>
              <a:t>розуміння</a:t>
            </a:r>
            <a:r>
              <a:rPr lang="ru-RU" dirty="0" smtClean="0"/>
              <a:t> </a:t>
            </a:r>
            <a:r>
              <a:rPr lang="ru-RU" dirty="0" err="1" smtClean="0"/>
              <a:t>даних</a:t>
            </a:r>
            <a:endParaRPr lang="ru-RU" dirty="0" smtClean="0"/>
          </a:p>
          <a:p>
            <a:pPr>
              <a:defRPr sz="2000"/>
            </a:pPr>
            <a:r>
              <a:rPr lang="ru-RU" dirty="0" err="1" smtClean="0"/>
              <a:t>Міст</a:t>
            </a:r>
            <a:r>
              <a:rPr lang="ru-RU" dirty="0" smtClean="0"/>
              <a:t> </a:t>
            </a:r>
            <a:r>
              <a:rPr lang="ru-RU" dirty="0" err="1" smtClean="0"/>
              <a:t>між</a:t>
            </a:r>
            <a:r>
              <a:rPr lang="ru-RU" dirty="0" smtClean="0"/>
              <a:t> статистикою та </a:t>
            </a:r>
            <a:r>
              <a:rPr lang="ru-RU" dirty="0" err="1" smtClean="0"/>
              <a:t>сприйняттям</a:t>
            </a:r>
            <a:endParaRPr lang="ru-RU" dirty="0" smtClean="0"/>
          </a:p>
          <a:p>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8</a:t>
            </a:fld>
            <a:endParaRPr lang="uk-UA"/>
          </a:p>
        </p:txBody>
      </p:sp>
    </p:spTree>
    <p:extLst>
      <p:ext uri="{BB962C8B-B14F-4D97-AF65-F5344CB8AC3E}">
        <p14:creationId xmlns:p14="http://schemas.microsoft.com/office/powerpoint/2010/main" val="2442096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«Один </a:t>
            </a:r>
            <a:r>
              <a:rPr lang="ru-RU" dirty="0" err="1" smtClean="0"/>
              <a:t>графік</a:t>
            </a:r>
            <a:r>
              <a:rPr lang="ru-RU" dirty="0" smtClean="0"/>
              <a:t> </a:t>
            </a:r>
            <a:r>
              <a:rPr lang="ru-RU" dirty="0" err="1" smtClean="0"/>
              <a:t>вартий</a:t>
            </a:r>
            <a:r>
              <a:rPr lang="ru-RU" dirty="0" smtClean="0"/>
              <a:t> </a:t>
            </a:r>
            <a:r>
              <a:rPr lang="ru-RU" dirty="0" err="1" smtClean="0"/>
              <a:t>тисячі</a:t>
            </a:r>
            <a:r>
              <a:rPr lang="ru-RU" dirty="0" smtClean="0"/>
              <a:t> чисел»</a:t>
            </a:r>
          </a:p>
        </p:txBody>
      </p:sp>
      <p:sp>
        <p:nvSpPr>
          <p:cNvPr id="4" name="Номер слайда 3"/>
          <p:cNvSpPr>
            <a:spLocks noGrp="1"/>
          </p:cNvSpPr>
          <p:nvPr>
            <p:ph type="sldNum" sz="quarter" idx="10"/>
          </p:nvPr>
        </p:nvSpPr>
        <p:spPr/>
        <p:txBody>
          <a:bodyPr/>
          <a:lstStyle/>
          <a:p>
            <a:fld id="{DB3423D5-AFE2-4DEC-9AE6-6E7AA26E4F44}" type="slidenum">
              <a:rPr lang="uk-UA" smtClean="0"/>
              <a:t>9</a:t>
            </a:fld>
            <a:endParaRPr lang="uk-UA"/>
          </a:p>
        </p:txBody>
      </p:sp>
    </p:spTree>
    <p:extLst>
      <p:ext uri="{BB962C8B-B14F-4D97-AF65-F5344CB8AC3E}">
        <p14:creationId xmlns:p14="http://schemas.microsoft.com/office/powerpoint/2010/main" val="36227475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err="1" smtClean="0"/>
              <a:t>Пояснює</a:t>
            </a:r>
            <a:r>
              <a:rPr lang="ru-RU" dirty="0" smtClean="0"/>
              <a:t> </a:t>
            </a:r>
            <a:r>
              <a:rPr lang="ru-RU" dirty="0" err="1" smtClean="0"/>
              <a:t>складні</a:t>
            </a:r>
            <a:r>
              <a:rPr lang="ru-RU" dirty="0" smtClean="0"/>
              <a:t> </a:t>
            </a:r>
            <a:r>
              <a:rPr lang="ru-RU" dirty="0" err="1" smtClean="0"/>
              <a:t>дані</a:t>
            </a:r>
            <a:r>
              <a:rPr lang="ru-RU" dirty="0" smtClean="0"/>
              <a:t> </a:t>
            </a:r>
            <a:r>
              <a:rPr lang="ru-RU" dirty="0" err="1" smtClean="0"/>
              <a:t>простими</a:t>
            </a:r>
            <a:r>
              <a:rPr lang="ru-RU" dirty="0" smtClean="0"/>
              <a:t> образами</a:t>
            </a:r>
          </a:p>
        </p:txBody>
      </p:sp>
      <p:sp>
        <p:nvSpPr>
          <p:cNvPr id="4" name="Номер слайда 3"/>
          <p:cNvSpPr>
            <a:spLocks noGrp="1"/>
          </p:cNvSpPr>
          <p:nvPr>
            <p:ph type="sldNum" sz="quarter" idx="10"/>
          </p:nvPr>
        </p:nvSpPr>
        <p:spPr/>
        <p:txBody>
          <a:bodyPr/>
          <a:lstStyle/>
          <a:p>
            <a:fld id="{DB3423D5-AFE2-4DEC-9AE6-6E7AA26E4F44}" type="slidenum">
              <a:rPr lang="uk-UA" smtClean="0"/>
              <a:t>11</a:t>
            </a:fld>
            <a:endParaRPr lang="uk-UA"/>
          </a:p>
        </p:txBody>
      </p:sp>
    </p:spTree>
    <p:extLst>
      <p:ext uri="{BB962C8B-B14F-4D97-AF65-F5344CB8AC3E}">
        <p14:creationId xmlns:p14="http://schemas.microsoft.com/office/powerpoint/2010/main" val="31441020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13</a:t>
            </a:fld>
            <a:endParaRPr lang="uk-UA"/>
          </a:p>
        </p:txBody>
      </p:sp>
    </p:spTree>
    <p:extLst>
      <p:ext uri="{BB962C8B-B14F-4D97-AF65-F5344CB8AC3E}">
        <p14:creationId xmlns:p14="http://schemas.microsoft.com/office/powerpoint/2010/main" val="36472045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uk-UA" dirty="0" err="1" smtClean="0"/>
              <a:t>Бугалтерскій</a:t>
            </a:r>
            <a:r>
              <a:rPr lang="uk-UA" baseline="0" dirty="0" smtClean="0"/>
              <a:t> облік. </a:t>
            </a:r>
            <a:br>
              <a:rPr lang="uk-UA" baseline="0" dirty="0" smtClean="0"/>
            </a:br>
            <a:r>
              <a:rPr lang="en-US" dirty="0" smtClean="0"/>
              <a:t>gives the expected probability that the first digit of a reported number takes on the values one through nine, based on many real-life numerical data sets such as company expense accounts</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14</a:t>
            </a:fld>
            <a:endParaRPr lang="uk-UA"/>
          </a:p>
        </p:txBody>
      </p:sp>
    </p:spTree>
    <p:extLst>
      <p:ext uri="{BB962C8B-B14F-4D97-AF65-F5344CB8AC3E}">
        <p14:creationId xmlns:p14="http://schemas.microsoft.com/office/powerpoint/2010/main" val="2955308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smtClean="0"/>
              <a:t>the first digit data for a random sample of 500 of Tucker’s accounts payable entries.. It appears that there are an inordinate number of first digits of 5 and 9 and a lower than expected number of first digits of 1. These might warrant further investigation by Tucker’s auditors.</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15</a:t>
            </a:fld>
            <a:endParaRPr lang="uk-UA"/>
          </a:p>
        </p:txBody>
      </p:sp>
    </p:spTree>
    <p:extLst>
      <p:ext uri="{BB962C8B-B14F-4D97-AF65-F5344CB8AC3E}">
        <p14:creationId xmlns:p14="http://schemas.microsoft.com/office/powerpoint/2010/main" val="433973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uk-UA" dirty="0" smtClean="0"/>
              <a:t>Динаміка</a:t>
            </a:r>
            <a:r>
              <a:rPr lang="uk-UA" baseline="0" dirty="0" smtClean="0"/>
              <a:t> цін акцій. </a:t>
            </a:r>
            <a:r>
              <a:rPr lang="en-US" dirty="0" smtClean="0"/>
              <a:t>a high-low-close stock chart, a chart that shows the high value, low value, and closing value of the price of a share of stock over time. For each date shown, the bar indicates the range of the stock price per share on that day, and the labelled point on the bar indicates closing price per share for that day. The chart shows how the closing price is changing over time and the volatility of the price on each day.</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16</a:t>
            </a:fld>
            <a:endParaRPr lang="uk-UA"/>
          </a:p>
        </p:txBody>
      </p:sp>
    </p:spTree>
    <p:extLst>
      <p:ext uri="{BB962C8B-B14F-4D97-AF65-F5344CB8AC3E}">
        <p14:creationId xmlns:p14="http://schemas.microsoft.com/office/powerpoint/2010/main" val="34060924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uk-UA" dirty="0" smtClean="0"/>
              <a:t>Динаміка</a:t>
            </a:r>
            <a:r>
              <a:rPr lang="uk-UA" baseline="0" dirty="0" smtClean="0"/>
              <a:t> цін акцій. </a:t>
            </a:r>
            <a:r>
              <a:rPr lang="en-US" dirty="0" smtClean="0"/>
              <a:t>a high-low-close stock chart, a chart that shows the high value, low value, and closing value of the price of a share of stock over time. For each date shown, the bar indicates the range of the stock price per share on that day, and the labelled point on the bar indicates closing price per share for that day. The chart shows how the closing price is changing over time and the volatility of the price on each day.</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17</a:t>
            </a:fld>
            <a:endParaRPr lang="uk-UA"/>
          </a:p>
        </p:txBody>
      </p:sp>
    </p:spTree>
    <p:extLst>
      <p:ext uri="{BB962C8B-B14F-4D97-AF65-F5344CB8AC3E}">
        <p14:creationId xmlns:p14="http://schemas.microsoft.com/office/powerpoint/2010/main" val="1028136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uk-UA" dirty="0" smtClean="0"/>
              <a:t>Динаміка</a:t>
            </a:r>
            <a:r>
              <a:rPr lang="uk-UA" baseline="0" dirty="0" smtClean="0"/>
              <a:t> цін акцій. </a:t>
            </a:r>
            <a:r>
              <a:rPr lang="en-US" dirty="0" smtClean="0"/>
              <a:t>a high-low-close stock chart, a chart that shows the high value, low value, and closing value of the price of a share of stock over time. For each date shown, the bar indicates the range of the stock price per share on that day, and the labelled point on the bar indicates closing price per share for that day. The chart shows how the closing price is changing over time and the volatility of the price on each day.</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18</a:t>
            </a:fld>
            <a:endParaRPr lang="uk-UA"/>
          </a:p>
        </p:txBody>
      </p:sp>
    </p:spTree>
    <p:extLst>
      <p:ext uri="{BB962C8B-B14F-4D97-AF65-F5344CB8AC3E}">
        <p14:creationId xmlns:p14="http://schemas.microsoft.com/office/powerpoint/2010/main" val="42073432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uk-UA" dirty="0" smtClean="0"/>
              <a:t>Динаміка</a:t>
            </a:r>
            <a:r>
              <a:rPr lang="uk-UA" baseline="0" dirty="0" smtClean="0"/>
              <a:t> цін акцій. </a:t>
            </a:r>
            <a:r>
              <a:rPr lang="en-US" dirty="0" smtClean="0"/>
              <a:t>a high-low-close stock chart, a chart that shows the high value, low value, and closing value of the price of a share of stock over time. For each date shown, the bar indicates the range of the stock price per share on that day, and the labelled point on the bar indicates closing price per share for that day. The chart shows how the closing price is changing over time and the volatility of the price on each day.</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19</a:t>
            </a:fld>
            <a:endParaRPr lang="uk-UA"/>
          </a:p>
        </p:txBody>
      </p:sp>
    </p:spTree>
    <p:extLst>
      <p:ext uri="{BB962C8B-B14F-4D97-AF65-F5344CB8AC3E}">
        <p14:creationId xmlns:p14="http://schemas.microsoft.com/office/powerpoint/2010/main" val="35936245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uk-UA" dirty="0" smtClean="0"/>
              <a:t>Динаміка</a:t>
            </a:r>
            <a:r>
              <a:rPr lang="uk-UA" baseline="0" dirty="0" smtClean="0"/>
              <a:t> цін акцій. </a:t>
            </a:r>
            <a:r>
              <a:rPr lang="en-US" dirty="0" smtClean="0"/>
              <a:t>a high-low-close stock chart, a chart that shows the high value, low value, and closing value of the price of a share of stock over time. For each date shown, the bar indicates the range of the stock price per share on that day, and the labelled point on the bar indicates closing price per share for that day. The chart shows how the closing price is changing over time and the volatility of the price on each day.</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20</a:t>
            </a:fld>
            <a:endParaRPr lang="uk-UA"/>
          </a:p>
        </p:txBody>
      </p:sp>
    </p:spTree>
    <p:extLst>
      <p:ext uri="{BB962C8B-B14F-4D97-AF65-F5344CB8AC3E}">
        <p14:creationId xmlns:p14="http://schemas.microsoft.com/office/powerpoint/2010/main" val="7048723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uk-UA" dirty="0" smtClean="0"/>
              <a:t>Динаміка</a:t>
            </a:r>
            <a:r>
              <a:rPr lang="uk-UA" baseline="0" dirty="0" smtClean="0"/>
              <a:t> цін акцій. </a:t>
            </a:r>
            <a:r>
              <a:rPr lang="en-US" dirty="0" smtClean="0"/>
              <a:t>a high-low-close stock chart, a chart that shows the high value, low value, and closing value of the price of a share of stock over time. For each date shown, the bar indicates the range of the stock price per share on that day, and the labelled point on the bar indicates closing price per share for that day. The chart shows how the closing price is changing over time and the volatility of the price on each day.</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21</a:t>
            </a:fld>
            <a:endParaRPr lang="uk-UA"/>
          </a:p>
        </p:txBody>
      </p:sp>
    </p:spTree>
    <p:extLst>
      <p:ext uri="{BB962C8B-B14F-4D97-AF65-F5344CB8AC3E}">
        <p14:creationId xmlns:p14="http://schemas.microsoft.com/office/powerpoint/2010/main" val="9542265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Dashboard</a:t>
            </a:r>
            <a:r>
              <a:rPr lang="en-US" baseline="0" dirty="0" smtClean="0"/>
              <a:t> - </a:t>
            </a:r>
            <a:r>
              <a:rPr lang="uk-UA" dirty="0" smtClean="0"/>
              <a:t>приладова панель</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24</a:t>
            </a:fld>
            <a:endParaRPr lang="uk-UA"/>
          </a:p>
        </p:txBody>
      </p:sp>
    </p:spTree>
    <p:extLst>
      <p:ext uri="{BB962C8B-B14F-4D97-AF65-F5344CB8AC3E}">
        <p14:creationId xmlns:p14="http://schemas.microsoft.com/office/powerpoint/2010/main" val="34134924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Dashboard</a:t>
            </a:r>
            <a:r>
              <a:rPr lang="en-US" baseline="0" dirty="0" smtClean="0"/>
              <a:t> - </a:t>
            </a:r>
            <a:r>
              <a:rPr lang="uk-UA" dirty="0" smtClean="0"/>
              <a:t>приладова панель</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25</a:t>
            </a:fld>
            <a:endParaRPr lang="uk-UA"/>
          </a:p>
        </p:txBody>
      </p:sp>
    </p:spTree>
    <p:extLst>
      <p:ext uri="{BB962C8B-B14F-4D97-AF65-F5344CB8AC3E}">
        <p14:creationId xmlns:p14="http://schemas.microsoft.com/office/powerpoint/2010/main" val="10730861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Dashboard</a:t>
            </a:r>
            <a:r>
              <a:rPr lang="en-US" baseline="0" dirty="0" smtClean="0"/>
              <a:t> - </a:t>
            </a:r>
            <a:r>
              <a:rPr lang="uk-UA" dirty="0" smtClean="0"/>
              <a:t>приладова панель</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26</a:t>
            </a:fld>
            <a:endParaRPr lang="uk-UA"/>
          </a:p>
        </p:txBody>
      </p:sp>
    </p:spTree>
    <p:extLst>
      <p:ext uri="{BB962C8B-B14F-4D97-AF65-F5344CB8AC3E}">
        <p14:creationId xmlns:p14="http://schemas.microsoft.com/office/powerpoint/2010/main" val="21650199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Dashboard</a:t>
            </a:r>
            <a:r>
              <a:rPr lang="en-US" baseline="0" dirty="0" smtClean="0"/>
              <a:t> - </a:t>
            </a:r>
            <a:r>
              <a:rPr lang="uk-UA" dirty="0" smtClean="0"/>
              <a:t>приладова панель</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27</a:t>
            </a:fld>
            <a:endParaRPr lang="uk-UA"/>
          </a:p>
        </p:txBody>
      </p:sp>
    </p:spTree>
    <p:extLst>
      <p:ext uri="{BB962C8B-B14F-4D97-AF65-F5344CB8AC3E}">
        <p14:creationId xmlns:p14="http://schemas.microsoft.com/office/powerpoint/2010/main" val="2348496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Dashboard</a:t>
            </a:r>
            <a:r>
              <a:rPr lang="en-US" baseline="0" dirty="0" smtClean="0"/>
              <a:t> - </a:t>
            </a:r>
            <a:r>
              <a:rPr lang="uk-UA" dirty="0" smtClean="0"/>
              <a:t>приладова панель</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28</a:t>
            </a:fld>
            <a:endParaRPr lang="uk-UA"/>
          </a:p>
        </p:txBody>
      </p:sp>
    </p:spTree>
    <p:extLst>
      <p:ext uri="{BB962C8B-B14F-4D97-AF65-F5344CB8AC3E}">
        <p14:creationId xmlns:p14="http://schemas.microsoft.com/office/powerpoint/2010/main" val="42689962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Dashboard</a:t>
            </a:r>
            <a:r>
              <a:rPr lang="en-US" baseline="0" dirty="0" smtClean="0"/>
              <a:t> - </a:t>
            </a:r>
            <a:r>
              <a:rPr lang="uk-UA" dirty="0" smtClean="0"/>
              <a:t>приладова панель</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29</a:t>
            </a:fld>
            <a:endParaRPr lang="uk-UA"/>
          </a:p>
        </p:txBody>
      </p:sp>
    </p:spTree>
    <p:extLst>
      <p:ext uri="{BB962C8B-B14F-4D97-AF65-F5344CB8AC3E}">
        <p14:creationId xmlns:p14="http://schemas.microsoft.com/office/powerpoint/2010/main" val="33649883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Dashboard</a:t>
            </a:r>
            <a:r>
              <a:rPr lang="en-US" baseline="0" dirty="0" smtClean="0"/>
              <a:t> - </a:t>
            </a:r>
            <a:r>
              <a:rPr lang="uk-UA" dirty="0" smtClean="0"/>
              <a:t>приладова панель</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30</a:t>
            </a:fld>
            <a:endParaRPr lang="uk-UA"/>
          </a:p>
        </p:txBody>
      </p:sp>
    </p:spTree>
    <p:extLst>
      <p:ext uri="{BB962C8B-B14F-4D97-AF65-F5344CB8AC3E}">
        <p14:creationId xmlns:p14="http://schemas.microsoft.com/office/powerpoint/2010/main" val="35320369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Dashboard</a:t>
            </a:r>
            <a:r>
              <a:rPr lang="en-US" baseline="0" dirty="0" smtClean="0"/>
              <a:t> - </a:t>
            </a:r>
            <a:r>
              <a:rPr lang="uk-UA" dirty="0" smtClean="0"/>
              <a:t>приладова панель</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31</a:t>
            </a:fld>
            <a:endParaRPr lang="uk-UA"/>
          </a:p>
        </p:txBody>
      </p:sp>
    </p:spTree>
    <p:extLst>
      <p:ext uri="{BB962C8B-B14F-4D97-AF65-F5344CB8AC3E}">
        <p14:creationId xmlns:p14="http://schemas.microsoft.com/office/powerpoint/2010/main" val="17616953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Dashboard</a:t>
            </a:r>
            <a:r>
              <a:rPr lang="en-US" baseline="0" dirty="0" smtClean="0"/>
              <a:t> - </a:t>
            </a:r>
            <a:r>
              <a:rPr lang="uk-UA" dirty="0" smtClean="0"/>
              <a:t>приладова панель</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32</a:t>
            </a:fld>
            <a:endParaRPr lang="uk-UA"/>
          </a:p>
        </p:txBody>
      </p:sp>
    </p:spTree>
    <p:extLst>
      <p:ext uri="{BB962C8B-B14F-4D97-AF65-F5344CB8AC3E}">
        <p14:creationId xmlns:p14="http://schemas.microsoft.com/office/powerpoint/2010/main" val="39304967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Dashboard</a:t>
            </a:r>
            <a:r>
              <a:rPr lang="en-US" baseline="0" dirty="0" smtClean="0"/>
              <a:t> - </a:t>
            </a:r>
            <a:r>
              <a:rPr lang="uk-UA" dirty="0" smtClean="0"/>
              <a:t>приладова панель</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33</a:t>
            </a:fld>
            <a:endParaRPr lang="uk-UA"/>
          </a:p>
        </p:txBody>
      </p:sp>
    </p:spTree>
    <p:extLst>
      <p:ext uri="{BB962C8B-B14F-4D97-AF65-F5344CB8AC3E}">
        <p14:creationId xmlns:p14="http://schemas.microsoft.com/office/powerpoint/2010/main" val="40583378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Dashboard</a:t>
            </a:r>
            <a:r>
              <a:rPr lang="en-US" baseline="0" dirty="0" smtClean="0"/>
              <a:t> - </a:t>
            </a:r>
            <a:r>
              <a:rPr lang="uk-UA" dirty="0" smtClean="0"/>
              <a:t>приладова панель</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34</a:t>
            </a:fld>
            <a:endParaRPr lang="uk-UA"/>
          </a:p>
        </p:txBody>
      </p:sp>
    </p:spTree>
    <p:extLst>
      <p:ext uri="{BB962C8B-B14F-4D97-AF65-F5344CB8AC3E}">
        <p14:creationId xmlns:p14="http://schemas.microsoft.com/office/powerpoint/2010/main" val="24540794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Dashboard</a:t>
            </a:r>
            <a:r>
              <a:rPr lang="en-US" baseline="0" dirty="0" smtClean="0"/>
              <a:t> - </a:t>
            </a:r>
            <a:r>
              <a:rPr lang="uk-UA" dirty="0" smtClean="0"/>
              <a:t>приладова панель</a:t>
            </a:r>
            <a:endParaRPr lang="uk-UA" dirty="0"/>
          </a:p>
        </p:txBody>
      </p:sp>
      <p:sp>
        <p:nvSpPr>
          <p:cNvPr id="4" name="Номер слайда 3"/>
          <p:cNvSpPr>
            <a:spLocks noGrp="1"/>
          </p:cNvSpPr>
          <p:nvPr>
            <p:ph type="sldNum" sz="quarter" idx="10"/>
          </p:nvPr>
        </p:nvSpPr>
        <p:spPr/>
        <p:txBody>
          <a:bodyPr/>
          <a:lstStyle/>
          <a:p>
            <a:fld id="{DB3423D5-AFE2-4DEC-9AE6-6E7AA26E4F44}" type="slidenum">
              <a:rPr lang="uk-UA" smtClean="0"/>
              <a:t>35</a:t>
            </a:fld>
            <a:endParaRPr lang="uk-UA"/>
          </a:p>
        </p:txBody>
      </p:sp>
    </p:spTree>
    <p:extLst>
      <p:ext uri="{BB962C8B-B14F-4D97-AF65-F5344CB8AC3E}">
        <p14:creationId xmlns:p14="http://schemas.microsoft.com/office/powerpoint/2010/main" val="953802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9/18/2025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9/18/2025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file:///C:\Users\allex\KnowledgeGraphs\PropertyGraphs\struct_prop_g_Claude.html"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github.com/clauswilke/dataviz" TargetMode="External"/><Relationship Id="rId2" Type="http://schemas.openxmlformats.org/officeDocument/2006/relationships/hyperlink" Target="https://t.me/+b3jhNX3o54I2MTE6" TargetMode="External"/><Relationship Id="rId1" Type="http://schemas.openxmlformats.org/officeDocument/2006/relationships/slideLayout" Target="../slideLayouts/slideLayout2.xml"/><Relationship Id="rId5" Type="http://schemas.openxmlformats.org/officeDocument/2006/relationships/hyperlink" Target="https://www.netquest.com/hubfs/docs/ebook-data-visualization-EN.pdf" TargetMode="External"/><Relationship Id="rId4" Type="http://schemas.openxmlformats.org/officeDocument/2006/relationships/hyperlink" Target="https://github.com/clauswilke/dviz.supp" TargetMode="External"/></Relationships>
</file>

<file path=ppt/slides/_rels/slide37.xml.rels><?xml version="1.0" encoding="UTF-8" standalone="yes"?>
<Relationships xmlns="http://schemas.openxmlformats.org/package/2006/relationships"><Relationship Id="rId8" Type="http://schemas.openxmlformats.org/officeDocument/2006/relationships/hyperlink" Target="https://neomam.com/13reasons/" TargetMode="External"/><Relationship Id="rId3" Type="http://schemas.openxmlformats.org/officeDocument/2006/relationships/hyperlink" Target="https://www.tableau.com/visualization/what-is-data-visualization" TargetMode="External"/><Relationship Id="rId7" Type="http://schemas.openxmlformats.org/officeDocument/2006/relationships/hyperlink" Target="https://youtu.be/lUjZa4YBixI" TargetMode="External"/><Relationship Id="rId2" Type="http://schemas.openxmlformats.org/officeDocument/2006/relationships/hyperlink" Target="https://dou.ua/forums/topic/43516/" TargetMode="External"/><Relationship Id="rId1" Type="http://schemas.openxmlformats.org/officeDocument/2006/relationships/slideLayout" Target="../slideLayouts/slideLayout2.xml"/><Relationship Id="rId6" Type="http://schemas.openxmlformats.org/officeDocument/2006/relationships/hyperlink" Target="https://youtu.be/zljVZT2V_xA?si=usGlUnWfEACKzxtk" TargetMode="External"/><Relationship Id="rId5" Type="http://schemas.openxmlformats.org/officeDocument/2006/relationships/hyperlink" Target="https://socialdata.org.ua/manual5/" TargetMode="External"/><Relationship Id="rId4" Type="http://schemas.openxmlformats.org/officeDocument/2006/relationships/hyperlink" Target="http://eidos.org.ua/novyny/yak-i-dlya-choho-vykorystovuvaty-vizualizatsiyu-dany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096000"/>
          </a:xfrm>
          <a:prstGeom prst="rect">
            <a:avLst/>
          </a:prstGeom>
        </p:spPr>
      </p:pic>
      <p:sp>
        <p:nvSpPr>
          <p:cNvPr id="7" name="Content Placeholder 2"/>
          <p:cNvSpPr>
            <a:spLocks noGrp="1"/>
          </p:cNvSpPr>
          <p:nvPr>
            <p:ph idx="1"/>
          </p:nvPr>
        </p:nvSpPr>
        <p:spPr>
          <a:xfrm>
            <a:off x="4114800" y="6216770"/>
            <a:ext cx="914399" cy="452857"/>
          </a:xfrm>
        </p:spPr>
        <p:txBody>
          <a:bodyPr>
            <a:normAutofit fontScale="85000" lnSpcReduction="20000"/>
          </a:bodyPr>
          <a:lstStyle/>
          <a:p>
            <a:pPr marL="0" indent="0">
              <a:buNone/>
            </a:pPr>
            <a:r>
              <a:rPr lang="en-US" dirty="0" smtClean="0"/>
              <a:t>2025</a:t>
            </a:r>
            <a:endParaRPr dirty="0"/>
          </a:p>
        </p:txBody>
      </p:sp>
    </p:spTree>
    <p:extLst>
      <p:ext uri="{BB962C8B-B14F-4D97-AF65-F5344CB8AC3E}">
        <p14:creationId xmlns:p14="http://schemas.microsoft.com/office/powerpoint/2010/main" val="26097314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3902" y="1216326"/>
            <a:ext cx="8824823" cy="2228850"/>
          </a:xfrm>
        </p:spPr>
        <p:txBody>
          <a:bodyPr>
            <a:normAutofit/>
          </a:bodyPr>
          <a:lstStyle/>
          <a:p>
            <a:r>
              <a:rPr lang="en-US" b="1" dirty="0" smtClean="0"/>
              <a:t>Section </a:t>
            </a:r>
            <a:r>
              <a:rPr b="1" dirty="0" smtClean="0"/>
              <a:t>1</a:t>
            </a:r>
            <a:r>
              <a:rPr b="1" dirty="0"/>
              <a:t>.</a:t>
            </a:r>
            <a:r>
              <a:rPr dirty="0"/>
              <a:t> </a:t>
            </a:r>
            <a:r>
              <a:rPr lang="en-US" dirty="0" smtClean="0"/>
              <a:t>Basics of Data Visualization</a:t>
            </a:r>
            <a:endParaRPr dirty="0"/>
          </a:p>
        </p:txBody>
      </p:sp>
      <p:sp>
        <p:nvSpPr>
          <p:cNvPr id="3" name="Subtitle 2"/>
          <p:cNvSpPr>
            <a:spLocks noGrp="1"/>
          </p:cNvSpPr>
          <p:nvPr>
            <p:ph type="subTitle" idx="1"/>
          </p:nvPr>
        </p:nvSpPr>
        <p:spPr>
          <a:xfrm>
            <a:off x="1130059" y="3321170"/>
            <a:ext cx="6987397" cy="2317630"/>
          </a:xfrm>
        </p:spPr>
        <p:txBody>
          <a:bodyPr>
            <a:normAutofit/>
          </a:bodyPr>
          <a:lstStyle/>
          <a:p>
            <a:r>
              <a:rPr lang="en-US" dirty="0" smtClean="0">
                <a:solidFill>
                  <a:srgbClr val="0070C0"/>
                </a:solidFill>
              </a:rPr>
              <a:t>Lection </a:t>
            </a:r>
            <a:r>
              <a:rPr dirty="0" smtClean="0">
                <a:solidFill>
                  <a:srgbClr val="0070C0"/>
                </a:solidFill>
              </a:rPr>
              <a:t>1</a:t>
            </a:r>
            <a:r>
              <a:rPr dirty="0">
                <a:solidFill>
                  <a:srgbClr val="0070C0"/>
                </a:solidFill>
              </a:rPr>
              <a:t>.</a:t>
            </a:r>
            <a:r>
              <a:rPr dirty="0"/>
              <a:t> </a:t>
            </a:r>
            <a:r>
              <a:rPr lang="en-US" dirty="0" smtClean="0"/>
              <a:t>Intro</a:t>
            </a:r>
            <a:r>
              <a:rPr lang="uk-UA" dirty="0" smtClean="0"/>
              <a:t>. </a:t>
            </a:r>
            <a:r>
              <a:rPr lang="en-US" dirty="0"/>
              <a:t>The </a:t>
            </a:r>
            <a:r>
              <a:rPr lang="en-US" dirty="0" smtClean="0"/>
              <a:t>role </a:t>
            </a:r>
            <a:r>
              <a:rPr lang="en-US" dirty="0"/>
              <a:t>of visualization. Examples of data </a:t>
            </a:r>
            <a:r>
              <a:rPr lang="en-US" dirty="0" smtClean="0"/>
              <a:t>visualization. Visualization tools </a:t>
            </a:r>
            <a:br>
              <a:rPr lang="en-US" dirty="0" smtClean="0"/>
            </a:br>
            <a:r>
              <a:rPr lang="uk-UA" sz="2400" dirty="0" smtClean="0"/>
              <a:t>(Excel</a:t>
            </a:r>
            <a:r>
              <a:rPr lang="uk-UA" sz="2400" dirty="0"/>
              <a:t>, </a:t>
            </a:r>
            <a:r>
              <a:rPr lang="en-US" sz="2400" dirty="0"/>
              <a:t>Google Sheets</a:t>
            </a:r>
            <a:r>
              <a:rPr lang="uk-UA" sz="2400" dirty="0"/>
              <a:t>, </a:t>
            </a:r>
            <a:r>
              <a:rPr lang="uk-UA" sz="2400" dirty="0" err="1"/>
              <a:t>Tableau</a:t>
            </a:r>
            <a:r>
              <a:rPr lang="uk-UA" sz="2400" dirty="0"/>
              <a:t>, </a:t>
            </a:r>
            <a:r>
              <a:rPr lang="uk-UA" sz="2400" dirty="0" err="1"/>
              <a:t>Power</a:t>
            </a:r>
            <a:r>
              <a:rPr lang="uk-UA" sz="2400" dirty="0"/>
              <a:t> BI, </a:t>
            </a:r>
            <a:r>
              <a:rPr lang="uk-UA" sz="2400" dirty="0" err="1"/>
              <a:t>Python</a:t>
            </a:r>
            <a:r>
              <a:rPr lang="uk-UA" sz="2400" dirty="0"/>
              <a:t>, R</a:t>
            </a:r>
            <a:r>
              <a:rPr lang="uk-UA" sz="2400" dirty="0" smtClean="0"/>
              <a:t>)</a:t>
            </a:r>
            <a:r>
              <a:rPr lang="uk-UA" dirty="0" smtClean="0"/>
              <a:t>.</a:t>
            </a:r>
            <a:endParaRP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AU" dirty="0"/>
              <a:t>What Is Data Visualization?</a:t>
            </a:r>
            <a:endParaRPr lang="uk-UA" dirty="0"/>
          </a:p>
        </p:txBody>
      </p:sp>
      <p:sp>
        <p:nvSpPr>
          <p:cNvPr id="3" name="Объект 2"/>
          <p:cNvSpPr>
            <a:spLocks noGrp="1"/>
          </p:cNvSpPr>
          <p:nvPr>
            <p:ph idx="1"/>
          </p:nvPr>
        </p:nvSpPr>
        <p:spPr>
          <a:xfrm>
            <a:off x="545123" y="6040314"/>
            <a:ext cx="8229600" cy="578217"/>
          </a:xfrm>
        </p:spPr>
        <p:txBody>
          <a:bodyPr>
            <a:normAutofit fontScale="55000" lnSpcReduction="20000"/>
          </a:bodyPr>
          <a:lstStyle/>
          <a:p>
            <a:pPr marL="0" indent="0">
              <a:buNone/>
            </a:pPr>
            <a:r>
              <a:rPr lang="en-US" dirty="0" smtClean="0"/>
              <a:t>A word cloud that shows the frequencies of the top 40 words used by students when asked to define data visualization</a:t>
            </a:r>
            <a:endParaRPr lang="uk-UA" dirty="0"/>
          </a:p>
        </p:txBody>
      </p:sp>
      <p:pic>
        <p:nvPicPr>
          <p:cNvPr id="4" name="Рисунок 3"/>
          <p:cNvPicPr>
            <a:picLocks noChangeAspect="1"/>
          </p:cNvPicPr>
          <p:nvPr/>
        </p:nvPicPr>
        <p:blipFill>
          <a:blip r:embed="rId2"/>
          <a:stretch>
            <a:fillRect/>
          </a:stretch>
        </p:blipFill>
        <p:spPr>
          <a:xfrm>
            <a:off x="1718082" y="1245363"/>
            <a:ext cx="6411220" cy="4591691"/>
          </a:xfrm>
          <a:prstGeom prst="rect">
            <a:avLst/>
          </a:prstGeom>
          <a:ln>
            <a:solidFill>
              <a:schemeClr val="accent1"/>
            </a:solidFill>
          </a:ln>
        </p:spPr>
      </p:pic>
    </p:spTree>
    <p:extLst>
      <p:ext uri="{BB962C8B-B14F-4D97-AF65-F5344CB8AC3E}">
        <p14:creationId xmlns:p14="http://schemas.microsoft.com/office/powerpoint/2010/main" val="4212984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sp>
        <p:nvSpPr>
          <p:cNvPr id="3" name="Объект 2"/>
          <p:cNvSpPr>
            <a:spLocks noGrp="1"/>
          </p:cNvSpPr>
          <p:nvPr>
            <p:ph idx="1"/>
          </p:nvPr>
        </p:nvSpPr>
        <p:spPr/>
        <p:txBody>
          <a:bodyPr/>
          <a:lstStyle/>
          <a:p>
            <a:endParaRPr lang="uk-UA"/>
          </a:p>
        </p:txBody>
      </p:sp>
      <p:pic>
        <p:nvPicPr>
          <p:cNvPr id="4" name="Рисунок 3"/>
          <p:cNvPicPr>
            <a:picLocks noChangeAspect="1"/>
          </p:cNvPicPr>
          <p:nvPr/>
        </p:nvPicPr>
        <p:blipFill>
          <a:blip r:embed="rId2"/>
          <a:stretch>
            <a:fillRect/>
          </a:stretch>
        </p:blipFill>
        <p:spPr>
          <a:xfrm>
            <a:off x="428046" y="209100"/>
            <a:ext cx="8287907" cy="6439799"/>
          </a:xfrm>
          <a:prstGeom prst="rect">
            <a:avLst/>
          </a:prstGeom>
        </p:spPr>
      </p:pic>
    </p:spTree>
    <p:extLst>
      <p:ext uri="{BB962C8B-B14F-4D97-AF65-F5344CB8AC3E}">
        <p14:creationId xmlns:p14="http://schemas.microsoft.com/office/powerpoint/2010/main" val="33124617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AU" dirty="0"/>
              <a:t>Why Visualize Data?</a:t>
            </a:r>
            <a:endParaRPr lang="uk-UA" dirty="0"/>
          </a:p>
        </p:txBody>
      </p:sp>
      <p:sp>
        <p:nvSpPr>
          <p:cNvPr id="4" name="Объект 3"/>
          <p:cNvSpPr>
            <a:spLocks noGrp="1"/>
          </p:cNvSpPr>
          <p:nvPr>
            <p:ph idx="1"/>
          </p:nvPr>
        </p:nvSpPr>
        <p:spPr/>
        <p:txBody>
          <a:bodyPr/>
          <a:lstStyle/>
          <a:p>
            <a:endParaRPr lang="uk-UA"/>
          </a:p>
        </p:txBody>
      </p:sp>
    </p:spTree>
    <p:extLst>
      <p:ext uri="{BB962C8B-B14F-4D97-AF65-F5344CB8AC3E}">
        <p14:creationId xmlns:p14="http://schemas.microsoft.com/office/powerpoint/2010/main" val="606304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AU" dirty="0"/>
              <a:t>Why Visualize Data?</a:t>
            </a:r>
            <a:endParaRPr lang="uk-UA" dirty="0"/>
          </a:p>
        </p:txBody>
      </p:sp>
      <p:sp>
        <p:nvSpPr>
          <p:cNvPr id="5" name="Прямоугольник 4"/>
          <p:cNvSpPr/>
          <p:nvPr/>
        </p:nvSpPr>
        <p:spPr>
          <a:xfrm>
            <a:off x="1902155" y="1329715"/>
            <a:ext cx="5493042" cy="646331"/>
          </a:xfrm>
          <a:prstGeom prst="rect">
            <a:avLst/>
          </a:prstGeom>
        </p:spPr>
        <p:txBody>
          <a:bodyPr wrap="none">
            <a:spAutoFit/>
          </a:bodyPr>
          <a:lstStyle/>
          <a:p>
            <a:r>
              <a:rPr lang="en-US" sz="3600" u="sng" dirty="0" smtClean="0"/>
              <a:t>Visualization</a:t>
            </a:r>
            <a:r>
              <a:rPr lang="en-US" sz="3600" u="sng" dirty="0" smtClean="0">
                <a:solidFill>
                  <a:srgbClr val="00B050"/>
                </a:solidFill>
              </a:rPr>
              <a:t> </a:t>
            </a:r>
            <a:r>
              <a:rPr lang="en-US" sz="3600" u="sng" dirty="0" smtClean="0"/>
              <a:t>helps </a:t>
            </a:r>
            <a:r>
              <a:rPr lang="en-US" sz="3600" u="sng" dirty="0" smtClean="0">
                <a:solidFill>
                  <a:srgbClr val="C00000"/>
                </a:solidFill>
              </a:rPr>
              <a:t>analytics</a:t>
            </a:r>
            <a:endParaRPr lang="uk-UA" sz="3600" u="sng" dirty="0">
              <a:solidFill>
                <a:srgbClr val="C00000"/>
              </a:solidFill>
            </a:endParaRPr>
          </a:p>
        </p:txBody>
      </p:sp>
      <p:sp>
        <p:nvSpPr>
          <p:cNvPr id="6" name="Объект 2"/>
          <p:cNvSpPr>
            <a:spLocks noGrp="1"/>
          </p:cNvSpPr>
          <p:nvPr>
            <p:ph idx="1"/>
          </p:nvPr>
        </p:nvSpPr>
        <p:spPr>
          <a:xfrm>
            <a:off x="698475" y="2358332"/>
            <a:ext cx="7900402" cy="3849038"/>
          </a:xfrm>
        </p:spPr>
        <p:txBody>
          <a:bodyPr>
            <a:normAutofit/>
          </a:bodyPr>
          <a:lstStyle/>
          <a:p>
            <a:pPr marL="0" indent="0">
              <a:buNone/>
            </a:pPr>
            <a:r>
              <a:rPr lang="en-US" i="1" dirty="0" smtClean="0">
                <a:solidFill>
                  <a:srgbClr val="0070C0"/>
                </a:solidFill>
              </a:rPr>
              <a:t>raw </a:t>
            </a:r>
            <a:r>
              <a:rPr lang="en-US" i="1" dirty="0">
                <a:solidFill>
                  <a:srgbClr val="0070C0"/>
                </a:solidFill>
              </a:rPr>
              <a:t>data </a:t>
            </a:r>
            <a:r>
              <a:rPr lang="en-US" i="1" dirty="0" smtClean="0">
                <a:solidFill>
                  <a:srgbClr val="0070C0"/>
                </a:solidFill>
                <a:sym typeface="Wingdings" panose="05000000000000000000" pitchFamily="2" charset="2"/>
              </a:rPr>
              <a:t> </a:t>
            </a:r>
            <a:r>
              <a:rPr lang="en-US" i="1" dirty="0" smtClean="0">
                <a:solidFill>
                  <a:srgbClr val="0070C0"/>
                </a:solidFill>
              </a:rPr>
              <a:t>insights </a:t>
            </a:r>
            <a:r>
              <a:rPr lang="en-US" i="1" dirty="0">
                <a:solidFill>
                  <a:srgbClr val="0070C0"/>
                </a:solidFill>
              </a:rPr>
              <a:t>for making </a:t>
            </a:r>
            <a:r>
              <a:rPr lang="en-US" i="1" dirty="0" smtClean="0">
                <a:solidFill>
                  <a:srgbClr val="0070C0"/>
                </a:solidFill>
              </a:rPr>
              <a:t>decisions </a:t>
            </a:r>
          </a:p>
          <a:p>
            <a:pPr marL="0" indent="0">
              <a:buNone/>
            </a:pPr>
            <a:r>
              <a:rPr lang="en-US" sz="2000" dirty="0" smtClean="0"/>
              <a:t>(business</a:t>
            </a:r>
            <a:r>
              <a:rPr lang="en-US" sz="2000" dirty="0"/>
              <a:t>, sports, science, </a:t>
            </a:r>
            <a:r>
              <a:rPr lang="en-US" sz="2000" dirty="0" smtClean="0"/>
              <a:t>medicine, …)</a:t>
            </a:r>
          </a:p>
          <a:p>
            <a:pPr marL="0" indent="0">
              <a:buNone/>
            </a:pPr>
            <a:endParaRPr lang="en-US" dirty="0" smtClean="0"/>
          </a:p>
          <a:p>
            <a:pPr marL="0" indent="0">
              <a:buNone/>
            </a:pPr>
            <a:r>
              <a:rPr lang="en-US" u="sng" dirty="0" smtClean="0">
                <a:solidFill>
                  <a:srgbClr val="C00000"/>
                </a:solidFill>
              </a:rPr>
              <a:t>Analytics</a:t>
            </a:r>
            <a:r>
              <a:rPr lang="en-US" dirty="0" smtClean="0"/>
              <a:t>: </a:t>
            </a:r>
            <a:endParaRPr lang="en-US" dirty="0"/>
          </a:p>
          <a:p>
            <a:pPr>
              <a:buFontTx/>
              <a:buChar char="-"/>
            </a:pPr>
            <a:r>
              <a:rPr lang="en-AU" sz="2000" dirty="0" smtClean="0"/>
              <a:t>Descriptive (e.g. </a:t>
            </a:r>
            <a:r>
              <a:rPr lang="en-US" sz="2000" dirty="0" smtClean="0"/>
              <a:t>summary </a:t>
            </a:r>
            <a:r>
              <a:rPr lang="en-US" sz="2000" dirty="0"/>
              <a:t>statistics, </a:t>
            </a:r>
            <a:r>
              <a:rPr lang="en-US" sz="2000" dirty="0" smtClean="0"/>
              <a:t>data </a:t>
            </a:r>
            <a:r>
              <a:rPr lang="en-US" sz="2000" dirty="0"/>
              <a:t>visualization</a:t>
            </a:r>
            <a:r>
              <a:rPr lang="en-AU" sz="2000" dirty="0" smtClean="0"/>
              <a:t>)</a:t>
            </a:r>
          </a:p>
          <a:p>
            <a:pPr>
              <a:buFontTx/>
              <a:buChar char="-"/>
            </a:pPr>
            <a:r>
              <a:rPr lang="en-AU" sz="2000" dirty="0" smtClean="0"/>
              <a:t>Predictive (</a:t>
            </a:r>
            <a:r>
              <a:rPr lang="en-US" sz="2000" dirty="0"/>
              <a:t>regression analysis, time series forecasting, computer simulation</a:t>
            </a:r>
            <a:r>
              <a:rPr lang="en-AU" sz="2000" dirty="0" smtClean="0"/>
              <a:t>) </a:t>
            </a:r>
          </a:p>
          <a:p>
            <a:pPr>
              <a:buFontTx/>
              <a:buChar char="-"/>
            </a:pPr>
            <a:r>
              <a:rPr lang="en-AU" sz="2000" dirty="0" smtClean="0"/>
              <a:t>Prescriptive (</a:t>
            </a:r>
            <a:r>
              <a:rPr lang="en-US" sz="2000" dirty="0" smtClean="0"/>
              <a:t>math </a:t>
            </a:r>
            <a:r>
              <a:rPr lang="en-US" sz="2000" dirty="0"/>
              <a:t>optimization models, decision analysis, and heuristic or rule-based </a:t>
            </a:r>
            <a:r>
              <a:rPr lang="en-US" sz="2000" dirty="0" smtClean="0"/>
              <a:t>systems</a:t>
            </a:r>
            <a:r>
              <a:rPr lang="en-AU" sz="2000" dirty="0" smtClean="0"/>
              <a:t>)</a:t>
            </a:r>
          </a:p>
        </p:txBody>
      </p:sp>
    </p:spTree>
    <p:extLst>
      <p:ext uri="{BB962C8B-B14F-4D97-AF65-F5344CB8AC3E}">
        <p14:creationId xmlns:p14="http://schemas.microsoft.com/office/powerpoint/2010/main" val="18771622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AU" dirty="0"/>
              <a:t>Why Visualize Data?</a:t>
            </a:r>
            <a:endParaRPr lang="uk-UA" dirty="0"/>
          </a:p>
        </p:txBody>
      </p:sp>
      <p:sp>
        <p:nvSpPr>
          <p:cNvPr id="3" name="Объект 2"/>
          <p:cNvSpPr>
            <a:spLocks noGrp="1"/>
          </p:cNvSpPr>
          <p:nvPr>
            <p:ph idx="1"/>
          </p:nvPr>
        </p:nvSpPr>
        <p:spPr/>
        <p:txBody>
          <a:bodyPr/>
          <a:lstStyle/>
          <a:p>
            <a:pPr marL="0" indent="0">
              <a:buNone/>
            </a:pPr>
            <a:r>
              <a:rPr lang="en-US" dirty="0"/>
              <a:t>Visualization helps </a:t>
            </a:r>
            <a:r>
              <a:rPr lang="en-US" dirty="0" smtClean="0"/>
              <a:t>analytics through</a:t>
            </a:r>
          </a:p>
          <a:p>
            <a:r>
              <a:rPr lang="en-AU" dirty="0" smtClean="0"/>
              <a:t>Exploration  </a:t>
            </a:r>
            <a:endParaRPr lang="en-AU" dirty="0"/>
          </a:p>
          <a:p>
            <a:r>
              <a:rPr lang="en-AU" dirty="0" smtClean="0"/>
              <a:t>Explanation</a:t>
            </a:r>
          </a:p>
          <a:p>
            <a:pPr marL="0" indent="0">
              <a:buNone/>
            </a:pPr>
            <a:endParaRPr lang="en-AU" dirty="0"/>
          </a:p>
          <a:p>
            <a:pPr marL="0" indent="0">
              <a:buNone/>
            </a:pPr>
            <a:r>
              <a:rPr lang="en-AU" dirty="0" smtClean="0"/>
              <a:t>for </a:t>
            </a:r>
            <a:r>
              <a:rPr lang="en-US" dirty="0" smtClean="0"/>
              <a:t>further </a:t>
            </a:r>
            <a:endParaRPr lang="en-AU" dirty="0" smtClean="0"/>
          </a:p>
          <a:p>
            <a:r>
              <a:rPr lang="en-AU" dirty="0" smtClean="0"/>
              <a:t>Confirmation</a:t>
            </a:r>
            <a:endParaRPr lang="en-AU" dirty="0" smtClean="0"/>
          </a:p>
          <a:p>
            <a:endParaRPr lang="uk-UA" dirty="0"/>
          </a:p>
        </p:txBody>
      </p:sp>
      <p:pic>
        <p:nvPicPr>
          <p:cNvPr id="4" name="Рисунок 3"/>
          <p:cNvPicPr>
            <a:picLocks noChangeAspect="1"/>
          </p:cNvPicPr>
          <p:nvPr/>
        </p:nvPicPr>
        <p:blipFill>
          <a:blip r:embed="rId3"/>
          <a:stretch>
            <a:fillRect/>
          </a:stretch>
        </p:blipFill>
        <p:spPr>
          <a:xfrm>
            <a:off x="3538339" y="2807576"/>
            <a:ext cx="3677163" cy="638264"/>
          </a:xfrm>
          <a:prstGeom prst="rect">
            <a:avLst/>
          </a:prstGeom>
        </p:spPr>
      </p:pic>
      <p:pic>
        <p:nvPicPr>
          <p:cNvPr id="5" name="Рисунок 4"/>
          <p:cNvPicPr>
            <a:picLocks noChangeAspect="1"/>
          </p:cNvPicPr>
          <p:nvPr/>
        </p:nvPicPr>
        <p:blipFill>
          <a:blip r:embed="rId4"/>
          <a:stretch>
            <a:fillRect/>
          </a:stretch>
        </p:blipFill>
        <p:spPr>
          <a:xfrm>
            <a:off x="3284333" y="2122193"/>
            <a:ext cx="4667901" cy="714475"/>
          </a:xfrm>
          <a:prstGeom prst="rect">
            <a:avLst/>
          </a:prstGeom>
        </p:spPr>
      </p:pic>
      <p:pic>
        <p:nvPicPr>
          <p:cNvPr id="6" name="Рисунок 5"/>
          <p:cNvPicPr>
            <a:picLocks noChangeAspect="1"/>
          </p:cNvPicPr>
          <p:nvPr/>
        </p:nvPicPr>
        <p:blipFill rotWithShape="1">
          <a:blip r:embed="rId3"/>
          <a:srcRect l="32343"/>
          <a:stretch/>
        </p:blipFill>
        <p:spPr>
          <a:xfrm>
            <a:off x="3538339" y="4065748"/>
            <a:ext cx="2487859" cy="638264"/>
          </a:xfrm>
          <a:prstGeom prst="rect">
            <a:avLst/>
          </a:prstGeom>
        </p:spPr>
      </p:pic>
    </p:spTree>
    <p:extLst>
      <p:ext uri="{BB962C8B-B14F-4D97-AF65-F5344CB8AC3E}">
        <p14:creationId xmlns:p14="http://schemas.microsoft.com/office/powerpoint/2010/main" val="10994978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AU" dirty="0"/>
              <a:t>Why Visualize Data?</a:t>
            </a:r>
            <a:endParaRPr lang="uk-UA" dirty="0"/>
          </a:p>
        </p:txBody>
      </p:sp>
      <p:sp>
        <p:nvSpPr>
          <p:cNvPr id="3" name="Объект 2"/>
          <p:cNvSpPr>
            <a:spLocks noGrp="1"/>
          </p:cNvSpPr>
          <p:nvPr>
            <p:ph idx="1"/>
          </p:nvPr>
        </p:nvSpPr>
        <p:spPr>
          <a:xfrm>
            <a:off x="457200" y="1462184"/>
            <a:ext cx="8229600" cy="4525963"/>
          </a:xfrm>
        </p:spPr>
        <p:txBody>
          <a:bodyPr/>
          <a:lstStyle/>
          <a:p>
            <a:pPr marL="0" indent="0">
              <a:buNone/>
            </a:pPr>
            <a:r>
              <a:rPr lang="en-AU" u="sng" dirty="0"/>
              <a:t>Data Visualization for </a:t>
            </a:r>
            <a:r>
              <a:rPr lang="en-AU" b="1" u="sng" dirty="0"/>
              <a:t>Exploration</a:t>
            </a:r>
            <a:endParaRPr lang="uk-UA" b="1" u="sng" dirty="0"/>
          </a:p>
        </p:txBody>
      </p:sp>
      <p:pic>
        <p:nvPicPr>
          <p:cNvPr id="4" name="Рисунок 3"/>
          <p:cNvPicPr>
            <a:picLocks noChangeAspect="1"/>
          </p:cNvPicPr>
          <p:nvPr/>
        </p:nvPicPr>
        <p:blipFill>
          <a:blip r:embed="rId3"/>
          <a:stretch>
            <a:fillRect/>
          </a:stretch>
        </p:blipFill>
        <p:spPr>
          <a:xfrm>
            <a:off x="256573" y="2321509"/>
            <a:ext cx="8630854" cy="2353003"/>
          </a:xfrm>
          <a:prstGeom prst="rect">
            <a:avLst/>
          </a:prstGeom>
        </p:spPr>
      </p:pic>
    </p:spTree>
    <p:extLst>
      <p:ext uri="{BB962C8B-B14F-4D97-AF65-F5344CB8AC3E}">
        <p14:creationId xmlns:p14="http://schemas.microsoft.com/office/powerpoint/2010/main" val="14620246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AU" dirty="0"/>
              <a:t>Why Visualize Data?</a:t>
            </a:r>
            <a:endParaRPr lang="uk-UA" dirty="0"/>
          </a:p>
        </p:txBody>
      </p:sp>
      <p:sp>
        <p:nvSpPr>
          <p:cNvPr id="3" name="Объект 2"/>
          <p:cNvSpPr>
            <a:spLocks noGrp="1"/>
          </p:cNvSpPr>
          <p:nvPr>
            <p:ph idx="1"/>
          </p:nvPr>
        </p:nvSpPr>
        <p:spPr>
          <a:xfrm>
            <a:off x="457200" y="1470810"/>
            <a:ext cx="8229600" cy="4525963"/>
          </a:xfrm>
        </p:spPr>
        <p:txBody>
          <a:bodyPr/>
          <a:lstStyle/>
          <a:p>
            <a:pPr marL="0" indent="0">
              <a:buNone/>
            </a:pPr>
            <a:r>
              <a:rPr lang="en-AU" u="sng" dirty="0"/>
              <a:t>Data Visualization for </a:t>
            </a:r>
            <a:r>
              <a:rPr lang="en-AU" b="1" u="sng" dirty="0"/>
              <a:t>Exploration</a:t>
            </a:r>
            <a:endParaRPr lang="uk-UA" b="1" u="sng" dirty="0"/>
          </a:p>
        </p:txBody>
      </p:sp>
      <p:pic>
        <p:nvPicPr>
          <p:cNvPr id="5" name="Рисунок 4"/>
          <p:cNvPicPr>
            <a:picLocks noChangeAspect="1"/>
          </p:cNvPicPr>
          <p:nvPr/>
        </p:nvPicPr>
        <p:blipFill>
          <a:blip r:embed="rId3"/>
          <a:stretch>
            <a:fillRect/>
          </a:stretch>
        </p:blipFill>
        <p:spPr>
          <a:xfrm>
            <a:off x="1009153" y="1969939"/>
            <a:ext cx="7125694" cy="4715533"/>
          </a:xfrm>
          <a:prstGeom prst="rect">
            <a:avLst/>
          </a:prstGeom>
        </p:spPr>
      </p:pic>
    </p:spTree>
    <p:extLst>
      <p:ext uri="{BB962C8B-B14F-4D97-AF65-F5344CB8AC3E}">
        <p14:creationId xmlns:p14="http://schemas.microsoft.com/office/powerpoint/2010/main" val="30556273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86270"/>
            <a:ext cx="8229600" cy="1143000"/>
          </a:xfrm>
        </p:spPr>
        <p:txBody>
          <a:bodyPr/>
          <a:lstStyle/>
          <a:p>
            <a:r>
              <a:rPr lang="en-AU" dirty="0"/>
              <a:t>Why Visualize Data?</a:t>
            </a:r>
            <a:endParaRPr lang="uk-UA" dirty="0"/>
          </a:p>
        </p:txBody>
      </p:sp>
      <p:sp>
        <p:nvSpPr>
          <p:cNvPr id="3" name="Объект 2"/>
          <p:cNvSpPr>
            <a:spLocks noGrp="1"/>
          </p:cNvSpPr>
          <p:nvPr>
            <p:ph idx="1"/>
          </p:nvPr>
        </p:nvSpPr>
        <p:spPr>
          <a:xfrm>
            <a:off x="457200" y="1091247"/>
            <a:ext cx="8229600" cy="4525963"/>
          </a:xfrm>
        </p:spPr>
        <p:txBody>
          <a:bodyPr/>
          <a:lstStyle/>
          <a:p>
            <a:pPr marL="0" indent="0">
              <a:buNone/>
            </a:pPr>
            <a:r>
              <a:rPr lang="en-AU" u="sng" dirty="0"/>
              <a:t>Data Visualization for </a:t>
            </a:r>
            <a:r>
              <a:rPr lang="en-AU" b="1" u="sng" dirty="0"/>
              <a:t>Exploration</a:t>
            </a:r>
            <a:endParaRPr lang="uk-UA" b="1" u="sng" dirty="0"/>
          </a:p>
        </p:txBody>
      </p:sp>
      <p:pic>
        <p:nvPicPr>
          <p:cNvPr id="4" name="Рисунок 3"/>
          <p:cNvPicPr>
            <a:picLocks noChangeAspect="1"/>
          </p:cNvPicPr>
          <p:nvPr/>
        </p:nvPicPr>
        <p:blipFill>
          <a:blip r:embed="rId2"/>
          <a:stretch>
            <a:fillRect/>
          </a:stretch>
        </p:blipFill>
        <p:spPr>
          <a:xfrm>
            <a:off x="1193162" y="1657904"/>
            <a:ext cx="6596492" cy="4964283"/>
          </a:xfrm>
          <a:prstGeom prst="rect">
            <a:avLst/>
          </a:prstGeom>
        </p:spPr>
      </p:pic>
    </p:spTree>
    <p:extLst>
      <p:ext uri="{BB962C8B-B14F-4D97-AF65-F5344CB8AC3E}">
        <p14:creationId xmlns:p14="http://schemas.microsoft.com/office/powerpoint/2010/main" val="30209345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86270"/>
            <a:ext cx="8229600" cy="1143000"/>
          </a:xfrm>
        </p:spPr>
        <p:txBody>
          <a:bodyPr/>
          <a:lstStyle/>
          <a:p>
            <a:r>
              <a:rPr lang="en-AU" dirty="0"/>
              <a:t>Why Visualize Data?</a:t>
            </a:r>
            <a:endParaRPr lang="uk-UA" dirty="0"/>
          </a:p>
        </p:txBody>
      </p:sp>
      <p:sp>
        <p:nvSpPr>
          <p:cNvPr id="3" name="Объект 2"/>
          <p:cNvSpPr>
            <a:spLocks noGrp="1"/>
          </p:cNvSpPr>
          <p:nvPr>
            <p:ph idx="1"/>
          </p:nvPr>
        </p:nvSpPr>
        <p:spPr>
          <a:xfrm>
            <a:off x="457200" y="1091247"/>
            <a:ext cx="8229600" cy="4525963"/>
          </a:xfrm>
        </p:spPr>
        <p:txBody>
          <a:bodyPr/>
          <a:lstStyle/>
          <a:p>
            <a:pPr marL="0" indent="0">
              <a:buNone/>
            </a:pPr>
            <a:r>
              <a:rPr lang="en-AU" u="sng" dirty="0"/>
              <a:t>Data Visualization for </a:t>
            </a:r>
            <a:r>
              <a:rPr lang="en-AU" b="1" u="sng" dirty="0"/>
              <a:t>Exploration</a:t>
            </a:r>
            <a:endParaRPr lang="uk-UA" b="1" u="sng" dirty="0"/>
          </a:p>
        </p:txBody>
      </p:sp>
      <p:pic>
        <p:nvPicPr>
          <p:cNvPr id="5" name="Рисунок 4"/>
          <p:cNvPicPr>
            <a:picLocks noChangeAspect="1"/>
          </p:cNvPicPr>
          <p:nvPr/>
        </p:nvPicPr>
        <p:blipFill>
          <a:blip r:embed="rId3"/>
          <a:stretch>
            <a:fillRect/>
          </a:stretch>
        </p:blipFill>
        <p:spPr>
          <a:xfrm>
            <a:off x="956758" y="1642946"/>
            <a:ext cx="7230484" cy="581106"/>
          </a:xfrm>
          <a:prstGeom prst="rect">
            <a:avLst/>
          </a:prstGeom>
        </p:spPr>
      </p:pic>
      <p:pic>
        <p:nvPicPr>
          <p:cNvPr id="6" name="Рисунок 5"/>
          <p:cNvPicPr>
            <a:picLocks noChangeAspect="1"/>
          </p:cNvPicPr>
          <p:nvPr/>
        </p:nvPicPr>
        <p:blipFill>
          <a:blip r:embed="rId4"/>
          <a:stretch>
            <a:fillRect/>
          </a:stretch>
        </p:blipFill>
        <p:spPr>
          <a:xfrm>
            <a:off x="176382" y="3129434"/>
            <a:ext cx="4255003" cy="2788287"/>
          </a:xfrm>
          <a:prstGeom prst="rect">
            <a:avLst/>
          </a:prstGeom>
        </p:spPr>
      </p:pic>
      <p:pic>
        <p:nvPicPr>
          <p:cNvPr id="7" name="Рисунок 6"/>
          <p:cNvPicPr>
            <a:picLocks noChangeAspect="1"/>
          </p:cNvPicPr>
          <p:nvPr/>
        </p:nvPicPr>
        <p:blipFill rotWithShape="1">
          <a:blip r:embed="rId5"/>
          <a:srcRect r="8267"/>
          <a:stretch/>
        </p:blipFill>
        <p:spPr>
          <a:xfrm>
            <a:off x="4509024" y="3129434"/>
            <a:ext cx="4358932" cy="2804301"/>
          </a:xfrm>
          <a:prstGeom prst="rect">
            <a:avLst/>
          </a:prstGeom>
        </p:spPr>
      </p:pic>
    </p:spTree>
    <p:extLst>
      <p:ext uri="{BB962C8B-B14F-4D97-AF65-F5344CB8AC3E}">
        <p14:creationId xmlns:p14="http://schemas.microsoft.com/office/powerpoint/2010/main" val="7056998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86270"/>
            <a:ext cx="8229600" cy="1143000"/>
          </a:xfrm>
        </p:spPr>
        <p:txBody>
          <a:bodyPr/>
          <a:lstStyle/>
          <a:p>
            <a:r>
              <a:rPr lang="en-AU" dirty="0"/>
              <a:t>Why Visualize Data?</a:t>
            </a:r>
            <a:endParaRPr lang="uk-UA" dirty="0"/>
          </a:p>
        </p:txBody>
      </p:sp>
      <p:sp>
        <p:nvSpPr>
          <p:cNvPr id="3" name="Объект 2"/>
          <p:cNvSpPr>
            <a:spLocks noGrp="1"/>
          </p:cNvSpPr>
          <p:nvPr>
            <p:ph idx="1"/>
          </p:nvPr>
        </p:nvSpPr>
        <p:spPr>
          <a:xfrm>
            <a:off x="457200" y="1091247"/>
            <a:ext cx="8229600" cy="4525963"/>
          </a:xfrm>
        </p:spPr>
        <p:txBody>
          <a:bodyPr/>
          <a:lstStyle/>
          <a:p>
            <a:pPr marL="0" indent="0">
              <a:buNone/>
            </a:pPr>
            <a:r>
              <a:rPr lang="en-AU" u="sng" dirty="0"/>
              <a:t>Data Visualization for </a:t>
            </a:r>
            <a:r>
              <a:rPr lang="en-AU" b="1" u="sng" dirty="0" smtClean="0"/>
              <a:t>Explanation</a:t>
            </a:r>
            <a:endParaRPr lang="uk-UA" b="1" u="sng" dirty="0"/>
          </a:p>
        </p:txBody>
      </p:sp>
    </p:spTree>
    <p:extLst>
      <p:ext uri="{BB962C8B-B14F-4D97-AF65-F5344CB8AC3E}">
        <p14:creationId xmlns:p14="http://schemas.microsoft.com/office/powerpoint/2010/main" val="11558415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86270"/>
            <a:ext cx="8229600" cy="1143000"/>
          </a:xfrm>
        </p:spPr>
        <p:txBody>
          <a:bodyPr/>
          <a:lstStyle/>
          <a:p>
            <a:r>
              <a:rPr lang="en-AU" dirty="0"/>
              <a:t>Why Visualize Data?</a:t>
            </a:r>
            <a:endParaRPr lang="uk-UA" dirty="0"/>
          </a:p>
        </p:txBody>
      </p:sp>
      <p:sp>
        <p:nvSpPr>
          <p:cNvPr id="3" name="Объект 2"/>
          <p:cNvSpPr>
            <a:spLocks noGrp="1"/>
          </p:cNvSpPr>
          <p:nvPr>
            <p:ph idx="1"/>
          </p:nvPr>
        </p:nvSpPr>
        <p:spPr>
          <a:xfrm>
            <a:off x="457200" y="1091247"/>
            <a:ext cx="8229600" cy="4525963"/>
          </a:xfrm>
        </p:spPr>
        <p:txBody>
          <a:bodyPr/>
          <a:lstStyle/>
          <a:p>
            <a:pPr marL="0" indent="0">
              <a:buNone/>
            </a:pPr>
            <a:r>
              <a:rPr lang="en-AU" u="sng" dirty="0"/>
              <a:t>Data Visualization for </a:t>
            </a:r>
            <a:r>
              <a:rPr lang="en-AU" b="1" u="sng" dirty="0" smtClean="0"/>
              <a:t>Explanation</a:t>
            </a:r>
            <a:endParaRPr lang="uk-UA" b="1" u="sng" dirty="0"/>
          </a:p>
        </p:txBody>
      </p:sp>
      <p:pic>
        <p:nvPicPr>
          <p:cNvPr id="8" name="Рисунок 7"/>
          <p:cNvPicPr>
            <a:picLocks noChangeAspect="1"/>
          </p:cNvPicPr>
          <p:nvPr/>
        </p:nvPicPr>
        <p:blipFill>
          <a:blip r:embed="rId3"/>
          <a:stretch>
            <a:fillRect/>
          </a:stretch>
        </p:blipFill>
        <p:spPr>
          <a:xfrm>
            <a:off x="561261" y="1805751"/>
            <a:ext cx="7659169" cy="4505954"/>
          </a:xfrm>
          <a:prstGeom prst="rect">
            <a:avLst/>
          </a:prstGeom>
        </p:spPr>
      </p:pic>
    </p:spTree>
    <p:extLst>
      <p:ext uri="{BB962C8B-B14F-4D97-AF65-F5344CB8AC3E}">
        <p14:creationId xmlns:p14="http://schemas.microsoft.com/office/powerpoint/2010/main" val="41189787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86270"/>
            <a:ext cx="8229600" cy="1143000"/>
          </a:xfrm>
        </p:spPr>
        <p:txBody>
          <a:bodyPr/>
          <a:lstStyle/>
          <a:p>
            <a:r>
              <a:rPr lang="en-AU" dirty="0"/>
              <a:t>Why Visualize Data?</a:t>
            </a:r>
            <a:endParaRPr lang="uk-UA" dirty="0"/>
          </a:p>
        </p:txBody>
      </p:sp>
      <p:sp>
        <p:nvSpPr>
          <p:cNvPr id="3" name="Объект 2"/>
          <p:cNvSpPr>
            <a:spLocks noGrp="1"/>
          </p:cNvSpPr>
          <p:nvPr>
            <p:ph idx="1"/>
          </p:nvPr>
        </p:nvSpPr>
        <p:spPr>
          <a:xfrm>
            <a:off x="457200" y="1091247"/>
            <a:ext cx="8229600" cy="4525963"/>
          </a:xfrm>
        </p:spPr>
        <p:txBody>
          <a:bodyPr/>
          <a:lstStyle/>
          <a:p>
            <a:pPr marL="0" indent="0">
              <a:buNone/>
            </a:pPr>
            <a:r>
              <a:rPr lang="en-AU" dirty="0"/>
              <a:t>Data Visualization in Practice </a:t>
            </a:r>
            <a:r>
              <a:rPr lang="en-AU" sz="2400" dirty="0"/>
              <a:t>(Accounting)</a:t>
            </a:r>
            <a:endParaRPr lang="uk-UA" sz="2400" b="1" u="sng" dirty="0"/>
          </a:p>
        </p:txBody>
      </p:sp>
      <p:pic>
        <p:nvPicPr>
          <p:cNvPr id="4" name="Рисунок 3"/>
          <p:cNvPicPr>
            <a:picLocks noChangeAspect="1"/>
          </p:cNvPicPr>
          <p:nvPr/>
        </p:nvPicPr>
        <p:blipFill>
          <a:blip r:embed="rId3"/>
          <a:stretch>
            <a:fillRect/>
          </a:stretch>
        </p:blipFill>
        <p:spPr>
          <a:xfrm>
            <a:off x="1042495" y="1596390"/>
            <a:ext cx="7059010" cy="4372585"/>
          </a:xfrm>
          <a:prstGeom prst="rect">
            <a:avLst/>
          </a:prstGeom>
        </p:spPr>
      </p:pic>
    </p:spTree>
    <p:extLst>
      <p:ext uri="{BB962C8B-B14F-4D97-AF65-F5344CB8AC3E}">
        <p14:creationId xmlns:p14="http://schemas.microsoft.com/office/powerpoint/2010/main" val="37204902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86270"/>
            <a:ext cx="8229600" cy="1143000"/>
          </a:xfrm>
        </p:spPr>
        <p:txBody>
          <a:bodyPr/>
          <a:lstStyle/>
          <a:p>
            <a:r>
              <a:rPr lang="en-AU" dirty="0"/>
              <a:t>Why Visualize Data?</a:t>
            </a:r>
            <a:endParaRPr lang="uk-UA" dirty="0"/>
          </a:p>
        </p:txBody>
      </p:sp>
      <p:sp>
        <p:nvSpPr>
          <p:cNvPr id="3" name="Объект 2"/>
          <p:cNvSpPr>
            <a:spLocks noGrp="1"/>
          </p:cNvSpPr>
          <p:nvPr>
            <p:ph idx="1"/>
          </p:nvPr>
        </p:nvSpPr>
        <p:spPr>
          <a:xfrm>
            <a:off x="457200" y="1091247"/>
            <a:ext cx="8229600" cy="4525963"/>
          </a:xfrm>
        </p:spPr>
        <p:txBody>
          <a:bodyPr/>
          <a:lstStyle/>
          <a:p>
            <a:pPr marL="0" indent="0">
              <a:buNone/>
            </a:pPr>
            <a:r>
              <a:rPr lang="en-AU" dirty="0" smtClean="0"/>
              <a:t>Data Visualization in Practice</a:t>
            </a:r>
            <a:r>
              <a:rPr lang="uk-UA" dirty="0" smtClean="0"/>
              <a:t> </a:t>
            </a:r>
            <a:r>
              <a:rPr lang="en-AU" sz="2400" dirty="0"/>
              <a:t>(Accounting</a:t>
            </a:r>
            <a:r>
              <a:rPr lang="en-AU" sz="2400" dirty="0" smtClean="0"/>
              <a:t>)</a:t>
            </a:r>
            <a:r>
              <a:rPr lang="en-AU" dirty="0" smtClean="0"/>
              <a:t> </a:t>
            </a:r>
            <a:r>
              <a:rPr lang="uk-UA" dirty="0" smtClean="0"/>
              <a:t/>
            </a:r>
            <a:br>
              <a:rPr lang="uk-UA" dirty="0" smtClean="0"/>
            </a:br>
            <a:r>
              <a:rPr lang="en-AU" sz="2000" b="1" dirty="0" smtClean="0"/>
              <a:t>side-by-side column chart</a:t>
            </a:r>
            <a:endParaRPr lang="uk-UA" sz="2000" b="1" u="sng" dirty="0"/>
          </a:p>
        </p:txBody>
      </p:sp>
      <p:pic>
        <p:nvPicPr>
          <p:cNvPr id="5" name="Рисунок 4"/>
          <p:cNvPicPr>
            <a:picLocks noChangeAspect="1"/>
          </p:cNvPicPr>
          <p:nvPr/>
        </p:nvPicPr>
        <p:blipFill>
          <a:blip r:embed="rId3"/>
          <a:stretch>
            <a:fillRect/>
          </a:stretch>
        </p:blipFill>
        <p:spPr>
          <a:xfrm>
            <a:off x="804183" y="1955702"/>
            <a:ext cx="7173326" cy="4734586"/>
          </a:xfrm>
          <a:prstGeom prst="rect">
            <a:avLst/>
          </a:prstGeom>
        </p:spPr>
      </p:pic>
    </p:spTree>
    <p:extLst>
      <p:ext uri="{BB962C8B-B14F-4D97-AF65-F5344CB8AC3E}">
        <p14:creationId xmlns:p14="http://schemas.microsoft.com/office/powerpoint/2010/main" val="33593693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86270"/>
            <a:ext cx="8229600" cy="1143000"/>
          </a:xfrm>
        </p:spPr>
        <p:txBody>
          <a:bodyPr/>
          <a:lstStyle/>
          <a:p>
            <a:r>
              <a:rPr lang="en-AU" dirty="0"/>
              <a:t>Why Visualize Data?</a:t>
            </a:r>
            <a:endParaRPr lang="uk-UA" dirty="0"/>
          </a:p>
        </p:txBody>
      </p:sp>
      <p:sp>
        <p:nvSpPr>
          <p:cNvPr id="3" name="Объект 2"/>
          <p:cNvSpPr>
            <a:spLocks noGrp="1"/>
          </p:cNvSpPr>
          <p:nvPr>
            <p:ph idx="1"/>
          </p:nvPr>
        </p:nvSpPr>
        <p:spPr>
          <a:xfrm>
            <a:off x="457200" y="1091247"/>
            <a:ext cx="8229600" cy="4525963"/>
          </a:xfrm>
        </p:spPr>
        <p:txBody>
          <a:bodyPr/>
          <a:lstStyle/>
          <a:p>
            <a:pPr marL="0" indent="0">
              <a:buNone/>
            </a:pPr>
            <a:r>
              <a:rPr lang="en-AU" dirty="0"/>
              <a:t>Data Visualization in </a:t>
            </a:r>
            <a:r>
              <a:rPr lang="en-AU" dirty="0" smtClean="0"/>
              <a:t>Practice </a:t>
            </a:r>
            <a:r>
              <a:rPr lang="uk-UA" sz="2000" dirty="0" smtClean="0"/>
              <a:t>(</a:t>
            </a:r>
            <a:r>
              <a:rPr lang="en-US" sz="2000" dirty="0" smtClean="0"/>
              <a:t>Finance</a:t>
            </a:r>
            <a:r>
              <a:rPr lang="uk-UA" sz="2000" dirty="0" smtClean="0"/>
              <a:t>)</a:t>
            </a:r>
            <a:endParaRPr lang="uk-UA" sz="2000" b="1" u="sng" dirty="0"/>
          </a:p>
          <a:p>
            <a:pPr marL="0" indent="0">
              <a:buNone/>
            </a:pPr>
            <a:endParaRPr lang="uk-UA" sz="2000" b="1" u="sng" dirty="0"/>
          </a:p>
        </p:txBody>
      </p:sp>
      <p:pic>
        <p:nvPicPr>
          <p:cNvPr id="4" name="Рисунок 3"/>
          <p:cNvPicPr>
            <a:picLocks noChangeAspect="1"/>
          </p:cNvPicPr>
          <p:nvPr/>
        </p:nvPicPr>
        <p:blipFill>
          <a:blip r:embed="rId3"/>
          <a:stretch>
            <a:fillRect/>
          </a:stretch>
        </p:blipFill>
        <p:spPr>
          <a:xfrm>
            <a:off x="866274" y="1701719"/>
            <a:ext cx="7182852" cy="4667901"/>
          </a:xfrm>
          <a:prstGeom prst="rect">
            <a:avLst/>
          </a:prstGeom>
        </p:spPr>
      </p:pic>
    </p:spTree>
    <p:extLst>
      <p:ext uri="{BB962C8B-B14F-4D97-AF65-F5344CB8AC3E}">
        <p14:creationId xmlns:p14="http://schemas.microsoft.com/office/powerpoint/2010/main" val="347363284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86270"/>
            <a:ext cx="8229600" cy="1143000"/>
          </a:xfrm>
        </p:spPr>
        <p:txBody>
          <a:bodyPr/>
          <a:lstStyle/>
          <a:p>
            <a:r>
              <a:rPr lang="en-AU" dirty="0"/>
              <a:t>Why Visualize Data?</a:t>
            </a:r>
            <a:endParaRPr lang="uk-UA" dirty="0"/>
          </a:p>
        </p:txBody>
      </p:sp>
      <p:sp>
        <p:nvSpPr>
          <p:cNvPr id="3" name="Объект 2"/>
          <p:cNvSpPr>
            <a:spLocks noGrp="1"/>
          </p:cNvSpPr>
          <p:nvPr>
            <p:ph idx="1"/>
          </p:nvPr>
        </p:nvSpPr>
        <p:spPr>
          <a:xfrm>
            <a:off x="457200" y="1091247"/>
            <a:ext cx="8229600" cy="4525963"/>
          </a:xfrm>
        </p:spPr>
        <p:txBody>
          <a:bodyPr/>
          <a:lstStyle/>
          <a:p>
            <a:pPr marL="0" indent="0">
              <a:buNone/>
            </a:pPr>
            <a:r>
              <a:rPr lang="en-AU" dirty="0"/>
              <a:t>Data Visualization in </a:t>
            </a:r>
            <a:r>
              <a:rPr lang="en-AU" dirty="0" smtClean="0"/>
              <a:t>Practice</a:t>
            </a:r>
            <a:r>
              <a:rPr lang="uk-UA" dirty="0" smtClean="0"/>
              <a:t> </a:t>
            </a:r>
            <a:r>
              <a:rPr lang="uk-UA" sz="2400" dirty="0" smtClean="0"/>
              <a:t>(</a:t>
            </a:r>
            <a:r>
              <a:rPr lang="en-US" sz="2400" dirty="0" smtClean="0"/>
              <a:t>HR management</a:t>
            </a:r>
            <a:r>
              <a:rPr lang="uk-UA" sz="2400" dirty="0" smtClean="0"/>
              <a:t>)</a:t>
            </a:r>
            <a:endParaRPr lang="uk-UA" sz="2400" b="1" u="sng" dirty="0"/>
          </a:p>
        </p:txBody>
      </p:sp>
      <p:pic>
        <p:nvPicPr>
          <p:cNvPr id="5" name="Рисунок 4"/>
          <p:cNvPicPr>
            <a:picLocks noChangeAspect="1"/>
          </p:cNvPicPr>
          <p:nvPr/>
        </p:nvPicPr>
        <p:blipFill>
          <a:blip r:embed="rId3"/>
          <a:stretch>
            <a:fillRect/>
          </a:stretch>
        </p:blipFill>
        <p:spPr>
          <a:xfrm>
            <a:off x="1141771" y="1739598"/>
            <a:ext cx="6481160" cy="4882589"/>
          </a:xfrm>
          <a:prstGeom prst="rect">
            <a:avLst/>
          </a:prstGeom>
        </p:spPr>
      </p:pic>
    </p:spTree>
    <p:extLst>
      <p:ext uri="{BB962C8B-B14F-4D97-AF65-F5344CB8AC3E}">
        <p14:creationId xmlns:p14="http://schemas.microsoft.com/office/powerpoint/2010/main" val="15493562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86270"/>
            <a:ext cx="8229600" cy="1143000"/>
          </a:xfrm>
        </p:spPr>
        <p:txBody>
          <a:bodyPr/>
          <a:lstStyle/>
          <a:p>
            <a:r>
              <a:rPr lang="en-AU" dirty="0"/>
              <a:t>Why Visualize Data?</a:t>
            </a:r>
            <a:endParaRPr lang="uk-UA" dirty="0"/>
          </a:p>
        </p:txBody>
      </p:sp>
      <p:sp>
        <p:nvSpPr>
          <p:cNvPr id="3" name="Объект 2"/>
          <p:cNvSpPr>
            <a:spLocks noGrp="1"/>
          </p:cNvSpPr>
          <p:nvPr>
            <p:ph idx="1"/>
          </p:nvPr>
        </p:nvSpPr>
        <p:spPr>
          <a:xfrm>
            <a:off x="457200" y="1091247"/>
            <a:ext cx="8229600" cy="4525963"/>
          </a:xfrm>
        </p:spPr>
        <p:txBody>
          <a:bodyPr/>
          <a:lstStyle/>
          <a:p>
            <a:pPr marL="0" indent="0">
              <a:buNone/>
            </a:pPr>
            <a:r>
              <a:rPr lang="en-AU" dirty="0"/>
              <a:t>Data Visualization in </a:t>
            </a:r>
            <a:r>
              <a:rPr lang="en-AU" dirty="0" smtClean="0"/>
              <a:t>Practice</a:t>
            </a:r>
            <a:r>
              <a:rPr lang="uk-UA" dirty="0" smtClean="0"/>
              <a:t> </a:t>
            </a:r>
            <a:r>
              <a:rPr lang="uk-UA" sz="2400" dirty="0" smtClean="0"/>
              <a:t>(</a:t>
            </a:r>
            <a:r>
              <a:rPr lang="en-AU" sz="2400" dirty="0"/>
              <a:t>operations function of business</a:t>
            </a:r>
            <a:r>
              <a:rPr lang="uk-UA" sz="2400" dirty="0" smtClean="0"/>
              <a:t>)</a:t>
            </a:r>
            <a:endParaRPr lang="uk-UA" sz="2400" b="1" u="sng" dirty="0"/>
          </a:p>
        </p:txBody>
      </p:sp>
      <p:pic>
        <p:nvPicPr>
          <p:cNvPr id="4" name="Рисунок 3"/>
          <p:cNvPicPr>
            <a:picLocks noChangeAspect="1"/>
          </p:cNvPicPr>
          <p:nvPr/>
        </p:nvPicPr>
        <p:blipFill>
          <a:blip r:embed="rId3"/>
          <a:stretch>
            <a:fillRect/>
          </a:stretch>
        </p:blipFill>
        <p:spPr>
          <a:xfrm>
            <a:off x="1884355" y="1987238"/>
            <a:ext cx="5571522" cy="4184236"/>
          </a:xfrm>
          <a:prstGeom prst="rect">
            <a:avLst/>
          </a:prstGeom>
        </p:spPr>
      </p:pic>
    </p:spTree>
    <p:extLst>
      <p:ext uri="{BB962C8B-B14F-4D97-AF65-F5344CB8AC3E}">
        <p14:creationId xmlns:p14="http://schemas.microsoft.com/office/powerpoint/2010/main" val="11912734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86270"/>
            <a:ext cx="8229600" cy="1143000"/>
          </a:xfrm>
        </p:spPr>
        <p:txBody>
          <a:bodyPr/>
          <a:lstStyle/>
          <a:p>
            <a:r>
              <a:rPr lang="en-AU" dirty="0"/>
              <a:t>Why Visualize Data?</a:t>
            </a:r>
            <a:endParaRPr lang="uk-UA" dirty="0"/>
          </a:p>
        </p:txBody>
      </p:sp>
      <p:sp>
        <p:nvSpPr>
          <p:cNvPr id="3" name="Объект 2"/>
          <p:cNvSpPr>
            <a:spLocks noGrp="1"/>
          </p:cNvSpPr>
          <p:nvPr>
            <p:ph idx="1"/>
          </p:nvPr>
        </p:nvSpPr>
        <p:spPr>
          <a:xfrm>
            <a:off x="457200" y="1091247"/>
            <a:ext cx="8229600" cy="4525963"/>
          </a:xfrm>
        </p:spPr>
        <p:txBody>
          <a:bodyPr/>
          <a:lstStyle/>
          <a:p>
            <a:pPr marL="0" indent="0">
              <a:buNone/>
            </a:pPr>
            <a:r>
              <a:rPr lang="en-AU" dirty="0"/>
              <a:t>Data Visualization in </a:t>
            </a:r>
            <a:r>
              <a:rPr lang="en-AU" dirty="0" smtClean="0"/>
              <a:t>Practice</a:t>
            </a:r>
            <a:r>
              <a:rPr lang="uk-UA" dirty="0" smtClean="0"/>
              <a:t> </a:t>
            </a:r>
            <a:r>
              <a:rPr lang="uk-UA" sz="2400" dirty="0" smtClean="0"/>
              <a:t>(</a:t>
            </a:r>
            <a:r>
              <a:rPr lang="en-AU" sz="2400" dirty="0"/>
              <a:t>operations function of business</a:t>
            </a:r>
            <a:r>
              <a:rPr lang="uk-UA" sz="2400" dirty="0" smtClean="0"/>
              <a:t>)</a:t>
            </a:r>
            <a:endParaRPr lang="uk-UA" sz="2400" b="1" u="sng" dirty="0"/>
          </a:p>
        </p:txBody>
      </p:sp>
      <p:pic>
        <p:nvPicPr>
          <p:cNvPr id="5" name="Рисунок 4"/>
          <p:cNvPicPr>
            <a:picLocks noChangeAspect="1"/>
          </p:cNvPicPr>
          <p:nvPr/>
        </p:nvPicPr>
        <p:blipFill>
          <a:blip r:embed="rId3"/>
          <a:stretch>
            <a:fillRect/>
          </a:stretch>
        </p:blipFill>
        <p:spPr>
          <a:xfrm>
            <a:off x="1023442" y="1972078"/>
            <a:ext cx="7097115" cy="4725059"/>
          </a:xfrm>
          <a:prstGeom prst="rect">
            <a:avLst/>
          </a:prstGeom>
        </p:spPr>
      </p:pic>
    </p:spTree>
    <p:extLst>
      <p:ext uri="{BB962C8B-B14F-4D97-AF65-F5344CB8AC3E}">
        <p14:creationId xmlns:p14="http://schemas.microsoft.com/office/powerpoint/2010/main" val="19344630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86270"/>
            <a:ext cx="8229600" cy="1143000"/>
          </a:xfrm>
        </p:spPr>
        <p:txBody>
          <a:bodyPr/>
          <a:lstStyle/>
          <a:p>
            <a:r>
              <a:rPr lang="en-AU" dirty="0"/>
              <a:t>Why Visualize Data?</a:t>
            </a:r>
            <a:endParaRPr lang="uk-UA" dirty="0"/>
          </a:p>
        </p:txBody>
      </p:sp>
      <p:sp>
        <p:nvSpPr>
          <p:cNvPr id="3" name="Объект 2"/>
          <p:cNvSpPr>
            <a:spLocks noGrp="1"/>
          </p:cNvSpPr>
          <p:nvPr>
            <p:ph idx="1"/>
          </p:nvPr>
        </p:nvSpPr>
        <p:spPr>
          <a:xfrm>
            <a:off x="633046" y="1091248"/>
            <a:ext cx="8053754" cy="605668"/>
          </a:xfrm>
        </p:spPr>
        <p:txBody>
          <a:bodyPr/>
          <a:lstStyle/>
          <a:p>
            <a:pPr marL="0" indent="0">
              <a:buNone/>
            </a:pPr>
            <a:r>
              <a:rPr lang="en-AU" dirty="0"/>
              <a:t>Data Visualization in </a:t>
            </a:r>
            <a:r>
              <a:rPr lang="en-AU" dirty="0" smtClean="0"/>
              <a:t>Practice</a:t>
            </a:r>
            <a:r>
              <a:rPr lang="uk-UA" dirty="0" smtClean="0"/>
              <a:t> </a:t>
            </a:r>
            <a:r>
              <a:rPr lang="uk-UA" sz="2400" dirty="0" smtClean="0"/>
              <a:t>(</a:t>
            </a:r>
            <a:r>
              <a:rPr lang="en-US" sz="2400" dirty="0" smtClean="0"/>
              <a:t>quality control</a:t>
            </a:r>
            <a:r>
              <a:rPr lang="uk-UA" sz="2400" dirty="0" smtClean="0"/>
              <a:t>)</a:t>
            </a:r>
            <a:endParaRPr lang="uk-UA" sz="2400" b="1" u="sng" dirty="0"/>
          </a:p>
        </p:txBody>
      </p:sp>
      <p:pic>
        <p:nvPicPr>
          <p:cNvPr id="4" name="Рисунок 3"/>
          <p:cNvPicPr>
            <a:picLocks noChangeAspect="1"/>
          </p:cNvPicPr>
          <p:nvPr/>
        </p:nvPicPr>
        <p:blipFill>
          <a:blip r:embed="rId3"/>
          <a:stretch>
            <a:fillRect/>
          </a:stretch>
        </p:blipFill>
        <p:spPr>
          <a:xfrm>
            <a:off x="819017" y="1778440"/>
            <a:ext cx="7154273" cy="4667901"/>
          </a:xfrm>
          <a:prstGeom prst="rect">
            <a:avLst/>
          </a:prstGeom>
        </p:spPr>
      </p:pic>
    </p:spTree>
    <p:extLst>
      <p:ext uri="{BB962C8B-B14F-4D97-AF65-F5344CB8AC3E}">
        <p14:creationId xmlns:p14="http://schemas.microsoft.com/office/powerpoint/2010/main" val="27270663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86270"/>
            <a:ext cx="8229600" cy="1143000"/>
          </a:xfrm>
        </p:spPr>
        <p:txBody>
          <a:bodyPr/>
          <a:lstStyle/>
          <a:p>
            <a:r>
              <a:rPr lang="en-AU" dirty="0"/>
              <a:t>Why Visualize Data?</a:t>
            </a:r>
            <a:endParaRPr lang="uk-UA" dirty="0"/>
          </a:p>
        </p:txBody>
      </p:sp>
      <p:sp>
        <p:nvSpPr>
          <p:cNvPr id="3" name="Объект 2"/>
          <p:cNvSpPr>
            <a:spLocks noGrp="1"/>
          </p:cNvSpPr>
          <p:nvPr>
            <p:ph idx="1"/>
          </p:nvPr>
        </p:nvSpPr>
        <p:spPr>
          <a:xfrm>
            <a:off x="457200" y="1091247"/>
            <a:ext cx="8229600" cy="4525963"/>
          </a:xfrm>
        </p:spPr>
        <p:txBody>
          <a:bodyPr/>
          <a:lstStyle/>
          <a:p>
            <a:pPr marL="0" indent="0">
              <a:buNone/>
            </a:pPr>
            <a:r>
              <a:rPr lang="en-AU" dirty="0"/>
              <a:t>Data Visualization in </a:t>
            </a:r>
            <a:r>
              <a:rPr lang="en-AU" dirty="0" smtClean="0"/>
              <a:t>Practice</a:t>
            </a:r>
            <a:r>
              <a:rPr lang="uk-UA" dirty="0" smtClean="0"/>
              <a:t> </a:t>
            </a:r>
            <a:r>
              <a:rPr lang="uk-UA" sz="2000" dirty="0" smtClean="0"/>
              <a:t>(</a:t>
            </a:r>
            <a:r>
              <a:rPr lang="en-US" sz="2000" dirty="0" smtClean="0"/>
              <a:t>COVID-19 spread across US</a:t>
            </a:r>
            <a:r>
              <a:rPr lang="uk-UA" sz="2000" dirty="0" smtClean="0"/>
              <a:t>)</a:t>
            </a:r>
            <a:endParaRPr lang="uk-UA" sz="2000" b="1" u="sng" dirty="0"/>
          </a:p>
        </p:txBody>
      </p:sp>
      <p:pic>
        <p:nvPicPr>
          <p:cNvPr id="5" name="Picture 4">
            <a:extLst>
              <a:ext uri="{FF2B5EF4-FFF2-40B4-BE49-F238E27FC236}">
                <a16:creationId xmlns:a16="http://schemas.microsoft.com/office/drawing/2014/main" xmlns="" id="{DE97D3F0-7A51-4847-BB50-00A77AF2B0FA}"/>
              </a:ext>
            </a:extLst>
          </p:cNvPr>
          <p:cNvPicPr>
            <a:picLocks noChangeAspect="1"/>
          </p:cNvPicPr>
          <p:nvPr/>
        </p:nvPicPr>
        <p:blipFill rotWithShape="1">
          <a:blip r:embed="rId3"/>
          <a:srcRect l="3868" t="4616" b="6128"/>
          <a:stretch/>
        </p:blipFill>
        <p:spPr>
          <a:xfrm>
            <a:off x="1125416" y="2329961"/>
            <a:ext cx="7221026" cy="4230351"/>
          </a:xfrm>
          <a:prstGeom prst="rect">
            <a:avLst/>
          </a:prstGeom>
        </p:spPr>
      </p:pic>
      <p:sp>
        <p:nvSpPr>
          <p:cNvPr id="7" name="Прямоугольник 6"/>
          <p:cNvSpPr/>
          <p:nvPr/>
        </p:nvSpPr>
        <p:spPr>
          <a:xfrm>
            <a:off x="3104956" y="1587916"/>
            <a:ext cx="3842238" cy="646331"/>
          </a:xfrm>
          <a:prstGeom prst="rect">
            <a:avLst/>
          </a:prstGeom>
        </p:spPr>
        <p:txBody>
          <a:bodyPr wrap="square">
            <a:spAutoFit/>
          </a:bodyPr>
          <a:lstStyle/>
          <a:p>
            <a:pPr algn="ctr"/>
            <a:r>
              <a:rPr lang="en-US" b="1" dirty="0"/>
              <a:t>Number of confirmed </a:t>
            </a:r>
            <a:r>
              <a:rPr lang="en-US" b="1" dirty="0" smtClean="0"/>
              <a:t>cases</a:t>
            </a:r>
          </a:p>
          <a:p>
            <a:pPr algn="ctr"/>
            <a:r>
              <a:rPr lang="en-US" b="1" dirty="0" smtClean="0"/>
              <a:t> </a:t>
            </a:r>
            <a:r>
              <a:rPr lang="en-US" b="1" dirty="0" smtClean="0">
                <a:solidFill>
                  <a:srgbClr val="0070C0"/>
                </a:solidFill>
                <a:ea typeface="MS PGothic" panose="020B0600070205080204" pitchFamily="34" charset="-128"/>
              </a:rPr>
              <a:t>1,151,933</a:t>
            </a:r>
            <a:r>
              <a:rPr lang="en-US" dirty="0" smtClean="0"/>
              <a:t>, Day </a:t>
            </a:r>
            <a:r>
              <a:rPr lang="en-US" b="1" dirty="0">
                <a:solidFill>
                  <a:srgbClr val="0070C0"/>
                </a:solidFill>
                <a:ea typeface="MS PGothic" panose="020B0600070205080204" pitchFamily="34" charset="-128"/>
              </a:rPr>
              <a:t>103</a:t>
            </a:r>
            <a:r>
              <a:rPr lang="en-US" dirty="0"/>
              <a:t>, May 3, 2020</a:t>
            </a:r>
          </a:p>
        </p:txBody>
      </p:sp>
    </p:spTree>
    <p:extLst>
      <p:ext uri="{BB962C8B-B14F-4D97-AF65-F5344CB8AC3E}">
        <p14:creationId xmlns:p14="http://schemas.microsoft.com/office/powerpoint/2010/main" val="33056979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 xmlns:a16="http://schemas.microsoft.com/office/drawing/2014/main" id="{4B9E6A61-C89C-4CC3-90F8-2EDC8E3B6FF5}"/>
              </a:ext>
            </a:extLst>
          </p:cNvPr>
          <p:cNvPicPr>
            <a:picLocks noChangeAspect="1"/>
          </p:cNvPicPr>
          <p:nvPr/>
        </p:nvPicPr>
        <p:blipFill>
          <a:blip r:embed="rId2"/>
          <a:stretch>
            <a:fillRect/>
          </a:stretch>
        </p:blipFill>
        <p:spPr>
          <a:xfrm>
            <a:off x="4124850" y="1705707"/>
            <a:ext cx="4910486" cy="3532822"/>
          </a:xfrm>
          <a:prstGeom prst="rect">
            <a:avLst/>
          </a:prstGeom>
        </p:spPr>
      </p:pic>
      <p:sp>
        <p:nvSpPr>
          <p:cNvPr id="15" name="Text Box 37">
            <a:extLst>
              <a:ext uri="{FF2B5EF4-FFF2-40B4-BE49-F238E27FC236}">
                <a16:creationId xmlns="" xmlns:a16="http://schemas.microsoft.com/office/drawing/2014/main" id="{A4B3556A-4670-4024-BC68-B395E44175AA}"/>
              </a:ext>
            </a:extLst>
          </p:cNvPr>
          <p:cNvSpPr txBox="1"/>
          <p:nvPr/>
        </p:nvSpPr>
        <p:spPr>
          <a:xfrm>
            <a:off x="565495" y="5121990"/>
            <a:ext cx="2936740" cy="926511"/>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2400" b="1" dirty="0">
                <a:solidFill>
                  <a:schemeClr val="tx1">
                    <a:lumMod val="65000"/>
                    <a:lumOff val="35000"/>
                  </a:schemeClr>
                </a:solidFill>
                <a:latin typeface="Arial" panose="020B0604020202020204" pitchFamily="34" charset="0"/>
                <a:cs typeface="Arial" panose="020B0604020202020204" pitchFamily="34" charset="0"/>
              </a:rPr>
              <a:t>Unstructured </a:t>
            </a:r>
            <a:br>
              <a:rPr lang="en-US" sz="2400" b="1" dirty="0">
                <a:solidFill>
                  <a:schemeClr val="tx1">
                    <a:lumMod val="65000"/>
                    <a:lumOff val="35000"/>
                  </a:schemeClr>
                </a:solidFill>
                <a:latin typeface="Arial" panose="020B0604020202020204" pitchFamily="34" charset="0"/>
                <a:cs typeface="Arial" panose="020B0604020202020204" pitchFamily="34" charset="0"/>
              </a:rPr>
            </a:br>
            <a:r>
              <a:rPr lang="en-US" sz="2400" b="1" dirty="0">
                <a:solidFill>
                  <a:schemeClr val="tx1">
                    <a:lumMod val="65000"/>
                    <a:lumOff val="35000"/>
                  </a:schemeClr>
                </a:solidFill>
                <a:latin typeface="Arial" panose="020B0604020202020204" pitchFamily="34" charset="0"/>
                <a:cs typeface="Arial" panose="020B0604020202020204" pitchFamily="34" charset="0"/>
              </a:rPr>
              <a:t>raw data </a:t>
            </a:r>
          </a:p>
        </p:txBody>
      </p:sp>
      <p:sp>
        <p:nvSpPr>
          <p:cNvPr id="16" name="Arrow: Right 16">
            <a:extLst>
              <a:ext uri="{FF2B5EF4-FFF2-40B4-BE49-F238E27FC236}">
                <a16:creationId xmlns="" xmlns:a16="http://schemas.microsoft.com/office/drawing/2014/main" id="{849736BA-FD48-4CBD-8693-3E977422B06B}"/>
              </a:ext>
            </a:extLst>
          </p:cNvPr>
          <p:cNvSpPr/>
          <p:nvPr/>
        </p:nvSpPr>
        <p:spPr>
          <a:xfrm>
            <a:off x="3294268" y="2902714"/>
            <a:ext cx="2135491" cy="851447"/>
          </a:xfrm>
          <a:prstGeom prst="rightArrow">
            <a:avLst>
              <a:gd name="adj1" fmla="val 50000"/>
              <a:gd name="adj2" fmla="val 44179"/>
            </a:avLst>
          </a:prstGeom>
          <a:solidFill>
            <a:schemeClr val="bg1">
              <a:lumMod val="75000"/>
            </a:schemeClr>
          </a:solidFill>
          <a:ln>
            <a:noFill/>
          </a:ln>
        </p:spPr>
        <p:style>
          <a:lnRef idx="2">
            <a:schemeClr val="dk1"/>
          </a:lnRef>
          <a:fillRef idx="1">
            <a:schemeClr val="lt1"/>
          </a:fillRef>
          <a:effectRef idx="0">
            <a:schemeClr val="dk1"/>
          </a:effectRef>
          <a:fontRef idx="minor">
            <a:schemeClr val="dk1"/>
          </a:fontRef>
        </p:style>
        <p:txBody>
          <a:bodyPr vert="horz" wrap="square" lIns="75164" tIns="37582" rIns="75164" bIns="37582" numCol="1" anchor="t" anchorCtr="0" compatLnSpc="1">
            <a:prstTxWarp prst="textNoShape">
              <a:avLst/>
            </a:prstTxWarp>
          </a:bodyPr>
          <a:lstStyle/>
          <a:p>
            <a:endParaRPr lang="en-US" sz="1562">
              <a:solidFill>
                <a:schemeClr val="tx1">
                  <a:lumMod val="65000"/>
                  <a:lumOff val="35000"/>
                </a:schemeClr>
              </a:solidFill>
              <a:latin typeface="Lucida Sans Unicode" panose="020B0602030504020204" pitchFamily="34" charset="0"/>
              <a:ea typeface="MS PGothic" panose="020B0600070205080204" pitchFamily="34" charset="-128"/>
            </a:endParaRPr>
          </a:p>
        </p:txBody>
      </p:sp>
      <p:sp>
        <p:nvSpPr>
          <p:cNvPr id="17" name="Text Box 37">
            <a:extLst>
              <a:ext uri="{FF2B5EF4-FFF2-40B4-BE49-F238E27FC236}">
                <a16:creationId xmlns="" xmlns:a16="http://schemas.microsoft.com/office/drawing/2014/main" id="{A4B3556A-4670-4024-BC68-B395E44175AA}"/>
              </a:ext>
            </a:extLst>
          </p:cNvPr>
          <p:cNvSpPr txBox="1"/>
          <p:nvPr/>
        </p:nvSpPr>
        <p:spPr>
          <a:xfrm>
            <a:off x="3569676" y="2281579"/>
            <a:ext cx="1584677" cy="76583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marR="0" algn="ctr">
              <a:spcBef>
                <a:spcPts val="0"/>
              </a:spcBef>
              <a:spcAft>
                <a:spcPts val="0"/>
              </a:spcAft>
              <a:defRPr sz="2400" b="1">
                <a:latin typeface="Exo" pitchFamily="2" charset="0"/>
              </a:defRPr>
            </a:lvl1pPr>
          </a:lstStyle>
          <a:p>
            <a:pPr algn="l"/>
            <a:r>
              <a:rPr lang="en-US" dirty="0">
                <a:solidFill>
                  <a:schemeClr val="tx1">
                    <a:lumMod val="65000"/>
                    <a:lumOff val="35000"/>
                  </a:schemeClr>
                </a:solidFill>
                <a:latin typeface="Arial" panose="020B0604020202020204" pitchFamily="34" charset="0"/>
              </a:rPr>
              <a:t>TDA algorithm</a:t>
            </a:r>
          </a:p>
        </p:txBody>
      </p:sp>
      <p:pic>
        <p:nvPicPr>
          <p:cNvPr id="18" name="Рисунок 17"/>
          <p:cNvPicPr>
            <a:picLocks noChangeAspect="1"/>
          </p:cNvPicPr>
          <p:nvPr/>
        </p:nvPicPr>
        <p:blipFill>
          <a:blip r:embed="rId3"/>
          <a:stretch>
            <a:fillRect/>
          </a:stretch>
        </p:blipFill>
        <p:spPr>
          <a:xfrm>
            <a:off x="0" y="1868256"/>
            <a:ext cx="3671464" cy="3207723"/>
          </a:xfrm>
          <a:prstGeom prst="rect">
            <a:avLst/>
          </a:prstGeom>
        </p:spPr>
      </p:pic>
      <p:sp>
        <p:nvSpPr>
          <p:cNvPr id="19" name="Text Box 37">
            <a:extLst>
              <a:ext uri="{FF2B5EF4-FFF2-40B4-BE49-F238E27FC236}">
                <a16:creationId xmlns="" xmlns:a16="http://schemas.microsoft.com/office/drawing/2014/main" id="{A4B3556A-4670-4024-BC68-B395E44175AA}"/>
              </a:ext>
            </a:extLst>
          </p:cNvPr>
          <p:cNvSpPr txBox="1"/>
          <p:nvPr/>
        </p:nvSpPr>
        <p:spPr>
          <a:xfrm>
            <a:off x="6042036" y="5356807"/>
            <a:ext cx="2353186" cy="1148409"/>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marR="0" algn="ctr">
              <a:spcBef>
                <a:spcPts val="0"/>
              </a:spcBef>
              <a:spcAft>
                <a:spcPts val="0"/>
              </a:spcAft>
              <a:defRPr sz="2400" b="1">
                <a:latin typeface="Exo" pitchFamily="2" charset="0"/>
              </a:defRPr>
            </a:lvl1pPr>
          </a:lstStyle>
          <a:p>
            <a:pPr lvl="0"/>
            <a:r>
              <a:rPr lang="en-US" dirty="0">
                <a:solidFill>
                  <a:schemeClr val="tx1">
                    <a:lumMod val="65000"/>
                    <a:lumOff val="35000"/>
                  </a:schemeClr>
                </a:solidFill>
                <a:latin typeface="Arial" panose="020B0604020202020204" pitchFamily="34" charset="0"/>
              </a:rPr>
              <a:t>Topological data </a:t>
            </a:r>
            <a:r>
              <a:rPr lang="en-US" dirty="0" smtClean="0">
                <a:solidFill>
                  <a:schemeClr val="tx1">
                    <a:lumMod val="65000"/>
                    <a:lumOff val="35000"/>
                  </a:schemeClr>
                </a:solidFill>
                <a:latin typeface="Arial" panose="020B0604020202020204" pitchFamily="34" charset="0"/>
                <a:cs typeface="Arial" panose="020B0604020202020204" pitchFamily="34" charset="0"/>
              </a:rPr>
              <a:t>model </a:t>
            </a:r>
            <a:endParaRPr lang="uk-UA" dirty="0">
              <a:solidFill>
                <a:schemeClr val="tx1">
                  <a:lumMod val="65000"/>
                  <a:lumOff val="35000"/>
                </a:schemeClr>
              </a:solidFill>
            </a:endParaRPr>
          </a:p>
          <a:p>
            <a:r>
              <a:rPr lang="ru-RU" dirty="0" smtClean="0">
                <a:solidFill>
                  <a:schemeClr val="tx1">
                    <a:lumMod val="65000"/>
                    <a:lumOff val="35000"/>
                  </a:schemeClr>
                </a:solidFill>
                <a:latin typeface="Arial" panose="020B0604020202020204" pitchFamily="34" charset="0"/>
              </a:rPr>
              <a:t>(</a:t>
            </a:r>
            <a:r>
              <a:rPr lang="en-US" dirty="0" smtClean="0">
                <a:solidFill>
                  <a:schemeClr val="tx1">
                    <a:lumMod val="65000"/>
                    <a:lumOff val="35000"/>
                  </a:schemeClr>
                </a:solidFill>
                <a:latin typeface="Arial" panose="020B0604020202020204" pitchFamily="34" charset="0"/>
              </a:rPr>
              <a:t>a TDA graph</a:t>
            </a:r>
            <a:r>
              <a:rPr lang="ru-RU" dirty="0" smtClean="0">
                <a:solidFill>
                  <a:schemeClr val="tx1">
                    <a:lumMod val="65000"/>
                    <a:lumOff val="35000"/>
                  </a:schemeClr>
                </a:solidFill>
                <a:latin typeface="Arial" panose="020B0604020202020204" pitchFamily="34" charset="0"/>
              </a:rPr>
              <a:t>)</a:t>
            </a:r>
            <a:endParaRPr lang="en-US" dirty="0">
              <a:solidFill>
                <a:schemeClr val="tx1">
                  <a:lumMod val="65000"/>
                  <a:lumOff val="35000"/>
                </a:schemeClr>
              </a:solidFill>
              <a:latin typeface="Arial" panose="020B0604020202020204" pitchFamily="34" charset="0"/>
            </a:endParaRPr>
          </a:p>
        </p:txBody>
      </p:sp>
      <p:sp>
        <p:nvSpPr>
          <p:cNvPr id="21" name="Заголовок 1"/>
          <p:cNvSpPr>
            <a:spLocks noGrp="1"/>
          </p:cNvSpPr>
          <p:nvPr>
            <p:ph type="title"/>
          </p:nvPr>
        </p:nvSpPr>
        <p:spPr>
          <a:xfrm>
            <a:off x="457200" y="86270"/>
            <a:ext cx="8229600" cy="1143000"/>
          </a:xfrm>
        </p:spPr>
        <p:txBody>
          <a:bodyPr/>
          <a:lstStyle/>
          <a:p>
            <a:r>
              <a:rPr lang="en-AU" dirty="0"/>
              <a:t>Why Visualize Data?</a:t>
            </a:r>
            <a:endParaRPr lang="uk-UA" dirty="0"/>
          </a:p>
        </p:txBody>
      </p:sp>
      <p:sp>
        <p:nvSpPr>
          <p:cNvPr id="23" name="Объект 2"/>
          <p:cNvSpPr>
            <a:spLocks noGrp="1"/>
          </p:cNvSpPr>
          <p:nvPr>
            <p:ph idx="1"/>
          </p:nvPr>
        </p:nvSpPr>
        <p:spPr>
          <a:xfrm>
            <a:off x="633046" y="1091248"/>
            <a:ext cx="8053754" cy="605668"/>
          </a:xfrm>
        </p:spPr>
        <p:txBody>
          <a:bodyPr/>
          <a:lstStyle/>
          <a:p>
            <a:pPr marL="0" indent="0">
              <a:buNone/>
            </a:pPr>
            <a:r>
              <a:rPr lang="en-AU" dirty="0"/>
              <a:t>Data Visualization in </a:t>
            </a:r>
            <a:r>
              <a:rPr lang="en-AU" dirty="0" smtClean="0"/>
              <a:t>Practice</a:t>
            </a:r>
            <a:r>
              <a:rPr lang="uk-UA" dirty="0" smtClean="0"/>
              <a:t> </a:t>
            </a:r>
            <a:r>
              <a:rPr lang="uk-UA" sz="2400" dirty="0" smtClean="0"/>
              <a:t>(</a:t>
            </a:r>
            <a:r>
              <a:rPr lang="en-US" sz="2400" dirty="0" smtClean="0"/>
              <a:t>TDA</a:t>
            </a:r>
            <a:r>
              <a:rPr lang="uk-UA" sz="2400" dirty="0" smtClean="0"/>
              <a:t>)</a:t>
            </a:r>
            <a:endParaRPr lang="uk-UA" sz="2400" b="1" u="sng" dirty="0"/>
          </a:p>
        </p:txBody>
      </p:sp>
    </p:spTree>
    <p:extLst>
      <p:ext uri="{BB962C8B-B14F-4D97-AF65-F5344CB8AC3E}">
        <p14:creationId xmlns:p14="http://schemas.microsoft.com/office/powerpoint/2010/main" val="311545454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AU" dirty="0"/>
              <a:t>Why Visualize Data?</a:t>
            </a:r>
            <a:endParaRPr lang="uk-UA" dirty="0"/>
          </a:p>
        </p:txBody>
      </p:sp>
      <p:sp>
        <p:nvSpPr>
          <p:cNvPr id="3" name="Прямоугольник 2"/>
          <p:cNvSpPr/>
          <p:nvPr/>
        </p:nvSpPr>
        <p:spPr>
          <a:xfrm>
            <a:off x="290146" y="2329961"/>
            <a:ext cx="8792308" cy="1384995"/>
          </a:xfrm>
          <a:prstGeom prst="rect">
            <a:avLst/>
          </a:prstGeom>
        </p:spPr>
        <p:txBody>
          <a:bodyPr wrap="square">
            <a:spAutoFit/>
          </a:bodyPr>
          <a:lstStyle/>
          <a:p>
            <a:r>
              <a:rPr lang="en-US" sz="2800" u="sng" smtClean="0"/>
              <a:t>A little </a:t>
            </a:r>
            <a:r>
              <a:rPr lang="en-US" sz="2800" u="sng" dirty="0"/>
              <a:t>secret about data visualization: </a:t>
            </a:r>
            <a:r>
              <a:rPr lang="en-US" sz="2800" dirty="0" smtClean="0"/>
              <a:t/>
            </a:r>
            <a:br>
              <a:rPr lang="en-US" sz="2800" dirty="0" smtClean="0"/>
            </a:br>
            <a:endParaRPr lang="en-US" sz="2800" dirty="0" smtClean="0"/>
          </a:p>
          <a:p>
            <a:r>
              <a:rPr lang="en-US" sz="2800" i="1" dirty="0" smtClean="0"/>
              <a:t>it </a:t>
            </a:r>
            <a:r>
              <a:rPr lang="en-US" sz="2800" i="1" dirty="0">
                <a:solidFill>
                  <a:srgbClr val="0070C0"/>
                </a:solidFill>
              </a:rPr>
              <a:t>illuminates </a:t>
            </a:r>
            <a:r>
              <a:rPr lang="en-US" sz="2800" i="1" dirty="0" smtClean="0">
                <a:solidFill>
                  <a:srgbClr val="0070C0"/>
                </a:solidFill>
              </a:rPr>
              <a:t>the </a:t>
            </a:r>
            <a:r>
              <a:rPr lang="en-US" sz="2800" i="1" dirty="0">
                <a:solidFill>
                  <a:srgbClr val="0070C0"/>
                </a:solidFill>
              </a:rPr>
              <a:t>truth</a:t>
            </a:r>
            <a:r>
              <a:rPr lang="en-US" sz="2800" i="1" dirty="0"/>
              <a:t>, but it also </a:t>
            </a:r>
            <a:r>
              <a:rPr lang="en-US" sz="2800" i="1" dirty="0">
                <a:solidFill>
                  <a:srgbClr val="FF0000"/>
                </a:solidFill>
              </a:rPr>
              <a:t>empowers us to </a:t>
            </a:r>
            <a:r>
              <a:rPr lang="en-US" sz="2800" i="1" dirty="0" smtClean="0">
                <a:solidFill>
                  <a:srgbClr val="FF0000"/>
                </a:solidFill>
              </a:rPr>
              <a:t>deceive</a:t>
            </a:r>
            <a:endParaRPr lang="uk-UA" sz="2800" i="1" dirty="0"/>
          </a:p>
        </p:txBody>
      </p:sp>
    </p:spTree>
    <p:extLst>
      <p:ext uri="{BB962C8B-B14F-4D97-AF65-F5344CB8AC3E}">
        <p14:creationId xmlns:p14="http://schemas.microsoft.com/office/powerpoint/2010/main" val="386534826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visualization</a:t>
            </a:r>
            <a:endParaRPr dirty="0"/>
          </a:p>
        </p:txBody>
      </p:sp>
      <p:sp>
        <p:nvSpPr>
          <p:cNvPr id="3" name="Content Placeholder 2"/>
          <p:cNvSpPr>
            <a:spLocks noGrp="1"/>
          </p:cNvSpPr>
          <p:nvPr>
            <p:ph idx="1"/>
          </p:nvPr>
        </p:nvSpPr>
        <p:spPr>
          <a:xfrm>
            <a:off x="457200" y="1600201"/>
            <a:ext cx="7965831" cy="3156438"/>
          </a:xfrm>
        </p:spPr>
        <p:txBody>
          <a:bodyPr/>
          <a:lstStyle/>
          <a:p>
            <a:endParaRPr dirty="0"/>
          </a:p>
          <a:p>
            <a:pPr>
              <a:defRPr sz="2000"/>
            </a:pPr>
            <a:r>
              <a:rPr dirty="0"/>
              <a:t>Excel, Google Sheets – </a:t>
            </a:r>
            <a:r>
              <a:rPr lang="en-US" dirty="0" smtClean="0"/>
              <a:t>easy and simple, </a:t>
            </a:r>
            <a:r>
              <a:rPr lang="en-US" dirty="0"/>
              <a:t>but </a:t>
            </a:r>
            <a:r>
              <a:rPr lang="en-US" dirty="0" smtClean="0"/>
              <a:t>limited</a:t>
            </a:r>
            <a:endParaRPr dirty="0"/>
          </a:p>
          <a:p>
            <a:pPr>
              <a:defRPr sz="2000"/>
            </a:pPr>
            <a:r>
              <a:rPr dirty="0"/>
              <a:t>Tableau, Power BI </a:t>
            </a:r>
            <a:r>
              <a:rPr dirty="0" smtClean="0"/>
              <a:t>–</a:t>
            </a:r>
            <a:r>
              <a:rPr lang="en-US" dirty="0" smtClean="0"/>
              <a:t> </a:t>
            </a:r>
            <a:r>
              <a:rPr lang="en-US" dirty="0"/>
              <a:t>fast, </a:t>
            </a:r>
            <a:r>
              <a:rPr lang="en-US" dirty="0" smtClean="0"/>
              <a:t>interactive dashboard</a:t>
            </a:r>
            <a:endParaRPr dirty="0"/>
          </a:p>
          <a:p>
            <a:pPr>
              <a:defRPr sz="2000"/>
            </a:pPr>
            <a:r>
              <a:rPr lang="en-US" dirty="0" smtClean="0"/>
              <a:t>Python/R – most flexible, needs coding</a:t>
            </a:r>
          </a:p>
          <a:p>
            <a:pPr lvl="1">
              <a:buFont typeface="Wingdings" panose="05000000000000000000" pitchFamily="2" charset="2"/>
              <a:buChar char="Ø"/>
              <a:defRPr sz="2000"/>
            </a:pPr>
            <a:r>
              <a:rPr lang="en-AU" dirty="0"/>
              <a:t>Python (</a:t>
            </a:r>
            <a:r>
              <a:rPr lang="en-AU" dirty="0" err="1"/>
              <a:t>matplotlib</a:t>
            </a:r>
            <a:r>
              <a:rPr lang="en-AU" dirty="0"/>
              <a:t>, seaborn, </a:t>
            </a:r>
            <a:r>
              <a:rPr lang="en-AU" dirty="0" err="1"/>
              <a:t>plotly</a:t>
            </a:r>
            <a:r>
              <a:rPr lang="en-AU" dirty="0"/>
              <a:t>) – analytics &amp; ML</a:t>
            </a:r>
          </a:p>
          <a:p>
            <a:pPr lvl="1">
              <a:buFont typeface="Wingdings" panose="05000000000000000000" pitchFamily="2" charset="2"/>
              <a:buChar char="Ø"/>
              <a:defRPr sz="2000"/>
            </a:pPr>
            <a:r>
              <a:rPr lang="en-AU" dirty="0"/>
              <a:t>R (ggplot2, shiny) – statistical study (</a:t>
            </a:r>
            <a:r>
              <a:rPr lang="en-AU" dirty="0" err="1"/>
              <a:t>e.g</a:t>
            </a:r>
            <a:r>
              <a:rPr lang="en-AU" dirty="0"/>
              <a:t> Clinical Study)</a:t>
            </a:r>
          </a:p>
          <a:p>
            <a:pPr lvl="1">
              <a:buFont typeface="Wingdings" panose="05000000000000000000" pitchFamily="2" charset="2"/>
              <a:buChar char="Ø"/>
              <a:defRPr sz="2000"/>
            </a:pPr>
            <a:r>
              <a:rPr lang="en-AU" dirty="0"/>
              <a:t>…</a:t>
            </a:r>
          </a:p>
          <a:p>
            <a:pPr>
              <a:defRPr sz="2000"/>
            </a:pPr>
            <a:r>
              <a:rPr lang="en-US" dirty="0" smtClean="0"/>
              <a:t>…</a:t>
            </a:r>
          </a:p>
          <a:p>
            <a:pPr lvl="1">
              <a:buFont typeface="Wingdings" panose="05000000000000000000" pitchFamily="2" charset="2"/>
              <a:buChar char="Ø"/>
              <a:defRPr sz="2000"/>
            </a:pP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visualization</a:t>
            </a:r>
            <a:endParaRPr dirty="0"/>
          </a:p>
        </p:txBody>
      </p:sp>
      <p:graphicFrame>
        <p:nvGraphicFramePr>
          <p:cNvPr id="7" name="Объект 6"/>
          <p:cNvGraphicFramePr>
            <a:graphicFrameLocks noGrp="1"/>
          </p:cNvGraphicFramePr>
          <p:nvPr>
            <p:ph idx="1"/>
            <p:extLst>
              <p:ext uri="{D42A27DB-BD31-4B8C-83A1-F6EECF244321}">
                <p14:modId xmlns:p14="http://schemas.microsoft.com/office/powerpoint/2010/main" val="4294001319"/>
              </p:ext>
            </p:extLst>
          </p:nvPr>
        </p:nvGraphicFramePr>
        <p:xfrm>
          <a:off x="457200" y="2319582"/>
          <a:ext cx="8229600" cy="296672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70840">
                <a:tc>
                  <a:txBody>
                    <a:bodyPr/>
                    <a:lstStyle/>
                    <a:p>
                      <a:pPr algn="ctr" rtl="0" fontAlgn="t"/>
                      <a:r>
                        <a:rPr lang="en-AU" b="1" dirty="0">
                          <a:effectLst/>
                        </a:rPr>
                        <a:t>TOTCHOL_2</a:t>
                      </a:r>
                    </a:p>
                  </a:txBody>
                  <a:tcPr marL="28575" marR="28575" marT="0" marB="0"/>
                </a:tc>
                <a:tc>
                  <a:txBody>
                    <a:bodyPr/>
                    <a:lstStyle/>
                    <a:p>
                      <a:pPr algn="ctr" rtl="0" fontAlgn="t"/>
                      <a:r>
                        <a:rPr lang="en-AU" b="1" dirty="0">
                          <a:effectLst/>
                        </a:rPr>
                        <a:t>TOTCHOL_3</a:t>
                      </a:r>
                    </a:p>
                  </a:txBody>
                  <a:tcPr marL="28575" marR="28575" marT="0" marB="0"/>
                </a:tc>
                <a:tc>
                  <a:txBody>
                    <a:bodyPr/>
                    <a:lstStyle/>
                    <a:p>
                      <a:pPr algn="ctr" rtl="0" fontAlgn="t"/>
                      <a:r>
                        <a:rPr lang="en-AU" b="1">
                          <a:effectLst/>
                        </a:rPr>
                        <a:t>AGE_1</a:t>
                      </a:r>
                    </a:p>
                  </a:txBody>
                  <a:tcPr marL="28575" marR="28575" marT="0" marB="0"/>
                </a:tc>
                <a:tc>
                  <a:txBody>
                    <a:bodyPr/>
                    <a:lstStyle/>
                    <a:p>
                      <a:pPr algn="ctr" rtl="0" fontAlgn="t"/>
                      <a:r>
                        <a:rPr lang="en-AU" b="1">
                          <a:effectLst/>
                        </a:rPr>
                        <a:t>AGE_2</a:t>
                      </a:r>
                    </a:p>
                  </a:txBody>
                  <a:tcPr marL="28575" marR="28575" marT="0" marB="0"/>
                </a:tc>
                <a:tc>
                  <a:txBody>
                    <a:bodyPr/>
                    <a:lstStyle/>
                    <a:p>
                      <a:pPr algn="ctr" rtl="0" fontAlgn="t"/>
                      <a:r>
                        <a:rPr lang="en-AU" b="1" dirty="0">
                          <a:effectLst/>
                        </a:rPr>
                        <a:t>AGE_3</a:t>
                      </a:r>
                    </a:p>
                  </a:txBody>
                  <a:tcPr marL="28575" marR="28575" marT="0" marB="0"/>
                </a:tc>
              </a:tr>
              <a:tr h="370840">
                <a:tc>
                  <a:txBody>
                    <a:bodyPr/>
                    <a:lstStyle/>
                    <a:p>
                      <a:pPr rtl="0" fontAlgn="b"/>
                      <a:endParaRPr lang="uk-UA" dirty="0">
                        <a:effectLst/>
                      </a:endParaRPr>
                    </a:p>
                  </a:txBody>
                  <a:tcPr marL="28575" marR="28575" marT="0" marB="0" anchor="b"/>
                </a:tc>
                <a:tc>
                  <a:txBody>
                    <a:bodyPr/>
                    <a:lstStyle/>
                    <a:p>
                      <a:pPr algn="r" rtl="0" fontAlgn="b"/>
                      <a:r>
                        <a:rPr lang="uk-UA" dirty="0">
                          <a:effectLst/>
                        </a:rPr>
                        <a:t>209</a:t>
                      </a:r>
                    </a:p>
                  </a:txBody>
                  <a:tcPr marL="28575" marR="28575" marT="0" marB="0" anchor="b"/>
                </a:tc>
                <a:tc>
                  <a:txBody>
                    <a:bodyPr/>
                    <a:lstStyle/>
                    <a:p>
                      <a:pPr algn="r" rtl="0" fontAlgn="b"/>
                      <a:r>
                        <a:rPr lang="uk-UA" dirty="0">
                          <a:effectLst/>
                        </a:rPr>
                        <a:t>39</a:t>
                      </a:r>
                    </a:p>
                  </a:txBody>
                  <a:tcPr marL="28575" marR="28575" marT="0" marB="0" anchor="b"/>
                </a:tc>
                <a:tc>
                  <a:txBody>
                    <a:bodyPr/>
                    <a:lstStyle/>
                    <a:p>
                      <a:pPr rtl="0" fontAlgn="b"/>
                      <a:endParaRPr lang="uk-UA">
                        <a:effectLst/>
                      </a:endParaRPr>
                    </a:p>
                  </a:txBody>
                  <a:tcPr marL="28575" marR="28575" marT="0" marB="0" anchor="b"/>
                </a:tc>
                <a:tc>
                  <a:txBody>
                    <a:bodyPr/>
                    <a:lstStyle/>
                    <a:p>
                      <a:pPr algn="r" rtl="0" fontAlgn="b"/>
                      <a:r>
                        <a:rPr lang="uk-UA">
                          <a:effectLst/>
                        </a:rPr>
                        <a:t>52</a:t>
                      </a:r>
                    </a:p>
                  </a:txBody>
                  <a:tcPr marL="28575" marR="28575" marT="0" marB="0" anchor="b"/>
                </a:tc>
              </a:tr>
              <a:tr h="370840">
                <a:tc>
                  <a:txBody>
                    <a:bodyPr/>
                    <a:lstStyle/>
                    <a:p>
                      <a:pPr algn="r" rtl="0" fontAlgn="b"/>
                      <a:r>
                        <a:rPr lang="uk-UA" dirty="0">
                          <a:effectLst/>
                        </a:rPr>
                        <a:t>260</a:t>
                      </a:r>
                    </a:p>
                  </a:txBody>
                  <a:tcPr marL="28575" marR="28575" marT="0" marB="0" anchor="b"/>
                </a:tc>
                <a:tc>
                  <a:txBody>
                    <a:bodyPr/>
                    <a:lstStyle/>
                    <a:p>
                      <a:pPr algn="r" rtl="0" fontAlgn="b"/>
                      <a:r>
                        <a:rPr lang="uk-UA" dirty="0">
                          <a:effectLst/>
                        </a:rPr>
                        <a:t>237</a:t>
                      </a:r>
                    </a:p>
                  </a:txBody>
                  <a:tcPr marL="28575" marR="28575" marT="0" marB="0" anchor="b"/>
                </a:tc>
                <a:tc>
                  <a:txBody>
                    <a:bodyPr/>
                    <a:lstStyle/>
                    <a:p>
                      <a:pPr algn="r" rtl="0" fontAlgn="b"/>
                      <a:r>
                        <a:rPr lang="uk-UA" dirty="0">
                          <a:effectLst/>
                        </a:rPr>
                        <a:t>46</a:t>
                      </a:r>
                    </a:p>
                  </a:txBody>
                  <a:tcPr marL="28575" marR="28575" marT="0" marB="0" anchor="b"/>
                </a:tc>
                <a:tc>
                  <a:txBody>
                    <a:bodyPr/>
                    <a:lstStyle/>
                    <a:p>
                      <a:pPr algn="r" rtl="0" fontAlgn="b"/>
                      <a:r>
                        <a:rPr lang="uk-UA" dirty="0">
                          <a:effectLst/>
                        </a:rPr>
                        <a:t>52</a:t>
                      </a:r>
                    </a:p>
                  </a:txBody>
                  <a:tcPr marL="28575" marR="28575" marT="0" marB="0" anchor="b"/>
                </a:tc>
                <a:tc>
                  <a:txBody>
                    <a:bodyPr/>
                    <a:lstStyle/>
                    <a:p>
                      <a:pPr algn="r" rtl="0" fontAlgn="b"/>
                      <a:r>
                        <a:rPr lang="uk-UA">
                          <a:effectLst/>
                        </a:rPr>
                        <a:t>58</a:t>
                      </a:r>
                    </a:p>
                  </a:txBody>
                  <a:tcPr marL="28575" marR="28575" marT="0" marB="0" anchor="b"/>
                </a:tc>
              </a:tr>
              <a:tr h="370840">
                <a:tc>
                  <a:txBody>
                    <a:bodyPr/>
                    <a:lstStyle/>
                    <a:p>
                      <a:pPr algn="r" rtl="0" fontAlgn="b"/>
                      <a:r>
                        <a:rPr lang="uk-UA">
                          <a:effectLst/>
                        </a:rPr>
                        <a:t>283</a:t>
                      </a:r>
                    </a:p>
                  </a:txBody>
                  <a:tcPr marL="28575" marR="28575" marT="0" marB="0" anchor="b"/>
                </a:tc>
                <a:tc>
                  <a:txBody>
                    <a:bodyPr/>
                    <a:lstStyle/>
                    <a:p>
                      <a:pPr rtl="0" fontAlgn="b"/>
                      <a:endParaRPr lang="uk-UA">
                        <a:effectLst/>
                      </a:endParaRPr>
                    </a:p>
                  </a:txBody>
                  <a:tcPr marL="28575" marR="28575" marT="0" marB="0" anchor="b"/>
                </a:tc>
                <a:tc>
                  <a:txBody>
                    <a:bodyPr/>
                    <a:lstStyle/>
                    <a:p>
                      <a:pPr algn="r" rtl="0" fontAlgn="b"/>
                      <a:r>
                        <a:rPr lang="uk-UA" dirty="0">
                          <a:effectLst/>
                        </a:rPr>
                        <a:t>48</a:t>
                      </a:r>
                    </a:p>
                  </a:txBody>
                  <a:tcPr marL="28575" marR="28575" marT="0" marB="0" anchor="b"/>
                </a:tc>
                <a:tc>
                  <a:txBody>
                    <a:bodyPr/>
                    <a:lstStyle/>
                    <a:p>
                      <a:pPr algn="r" rtl="0" fontAlgn="b"/>
                      <a:r>
                        <a:rPr lang="uk-UA" dirty="0">
                          <a:effectLst/>
                        </a:rPr>
                        <a:t>54</a:t>
                      </a:r>
                    </a:p>
                  </a:txBody>
                  <a:tcPr marL="28575" marR="28575" marT="0" marB="0" anchor="b"/>
                </a:tc>
                <a:tc>
                  <a:txBody>
                    <a:bodyPr/>
                    <a:lstStyle/>
                    <a:p>
                      <a:pPr rtl="0" fontAlgn="b"/>
                      <a:endParaRPr lang="uk-UA" dirty="0">
                        <a:effectLst/>
                      </a:endParaRPr>
                    </a:p>
                  </a:txBody>
                  <a:tcPr marL="28575" marR="28575" marT="0" marB="0" anchor="b"/>
                </a:tc>
              </a:tr>
              <a:tr h="370840">
                <a:tc>
                  <a:txBody>
                    <a:bodyPr/>
                    <a:lstStyle/>
                    <a:p>
                      <a:pPr algn="r" rtl="0" fontAlgn="b"/>
                      <a:r>
                        <a:rPr lang="uk-UA">
                          <a:effectLst/>
                        </a:rPr>
                        <a:t>232</a:t>
                      </a:r>
                    </a:p>
                  </a:txBody>
                  <a:tcPr marL="28575" marR="28575" marT="0" marB="0" anchor="b"/>
                </a:tc>
                <a:tc>
                  <a:txBody>
                    <a:bodyPr/>
                    <a:lstStyle/>
                    <a:p>
                      <a:pPr rtl="0" fontAlgn="b"/>
                      <a:endParaRPr lang="uk-UA">
                        <a:effectLst/>
                      </a:endParaRPr>
                    </a:p>
                  </a:txBody>
                  <a:tcPr marL="28575" marR="28575" marT="0" marB="0" anchor="b"/>
                </a:tc>
                <a:tc>
                  <a:txBody>
                    <a:bodyPr/>
                    <a:lstStyle/>
                    <a:p>
                      <a:pPr algn="r" rtl="0" fontAlgn="b"/>
                      <a:r>
                        <a:rPr lang="uk-UA">
                          <a:effectLst/>
                        </a:rPr>
                        <a:t>61</a:t>
                      </a:r>
                    </a:p>
                  </a:txBody>
                  <a:tcPr marL="28575" marR="28575" marT="0" marB="0" anchor="b"/>
                </a:tc>
                <a:tc>
                  <a:txBody>
                    <a:bodyPr/>
                    <a:lstStyle/>
                    <a:p>
                      <a:pPr algn="r" rtl="0" fontAlgn="b"/>
                      <a:r>
                        <a:rPr lang="uk-UA" dirty="0">
                          <a:effectLst/>
                        </a:rPr>
                        <a:t>67</a:t>
                      </a:r>
                    </a:p>
                  </a:txBody>
                  <a:tcPr marL="28575" marR="28575" marT="0" marB="0" anchor="b"/>
                </a:tc>
                <a:tc>
                  <a:txBody>
                    <a:bodyPr/>
                    <a:lstStyle/>
                    <a:p>
                      <a:pPr rtl="0" fontAlgn="b"/>
                      <a:endParaRPr lang="uk-UA" dirty="0">
                        <a:effectLst/>
                      </a:endParaRPr>
                    </a:p>
                  </a:txBody>
                  <a:tcPr marL="28575" marR="28575" marT="0" marB="0" anchor="b"/>
                </a:tc>
              </a:tr>
              <a:tr h="370840">
                <a:tc>
                  <a:txBody>
                    <a:bodyPr/>
                    <a:lstStyle/>
                    <a:p>
                      <a:pPr algn="r" rtl="0" fontAlgn="b"/>
                      <a:r>
                        <a:rPr lang="uk-UA">
                          <a:effectLst/>
                        </a:rPr>
                        <a:t>343</a:t>
                      </a:r>
                    </a:p>
                  </a:txBody>
                  <a:tcPr marL="28575" marR="28575" marT="0" marB="0" anchor="b"/>
                </a:tc>
                <a:tc>
                  <a:txBody>
                    <a:bodyPr/>
                    <a:lstStyle/>
                    <a:p>
                      <a:pPr rtl="0" fontAlgn="b"/>
                      <a:endParaRPr lang="uk-UA">
                        <a:effectLst/>
                      </a:endParaRPr>
                    </a:p>
                  </a:txBody>
                  <a:tcPr marL="28575" marR="28575" marT="0" marB="0" anchor="b"/>
                </a:tc>
                <a:tc>
                  <a:txBody>
                    <a:bodyPr/>
                    <a:lstStyle/>
                    <a:p>
                      <a:pPr algn="r" rtl="0" fontAlgn="b"/>
                      <a:r>
                        <a:rPr lang="uk-UA">
                          <a:effectLst/>
                        </a:rPr>
                        <a:t>46</a:t>
                      </a:r>
                    </a:p>
                  </a:txBody>
                  <a:tcPr marL="28575" marR="28575" marT="0" marB="0" anchor="b"/>
                </a:tc>
                <a:tc>
                  <a:txBody>
                    <a:bodyPr/>
                    <a:lstStyle/>
                    <a:p>
                      <a:pPr algn="r" rtl="0" fontAlgn="b"/>
                      <a:r>
                        <a:rPr lang="uk-UA" dirty="0">
                          <a:effectLst/>
                        </a:rPr>
                        <a:t>51</a:t>
                      </a:r>
                    </a:p>
                  </a:txBody>
                  <a:tcPr marL="28575" marR="28575" marT="0" marB="0" anchor="b"/>
                </a:tc>
                <a:tc>
                  <a:txBody>
                    <a:bodyPr/>
                    <a:lstStyle/>
                    <a:p>
                      <a:pPr algn="r" rtl="0" fontAlgn="b"/>
                      <a:r>
                        <a:rPr lang="uk-UA" dirty="0">
                          <a:effectLst/>
                        </a:rPr>
                        <a:t>58</a:t>
                      </a:r>
                    </a:p>
                  </a:txBody>
                  <a:tcPr marL="28575" marR="28575" marT="0" marB="0" anchor="b"/>
                </a:tc>
              </a:tr>
              <a:tr h="370840">
                <a:tc>
                  <a:txBody>
                    <a:bodyPr/>
                    <a:lstStyle/>
                    <a:p>
                      <a:pPr algn="r" rtl="0" fontAlgn="b"/>
                      <a:r>
                        <a:rPr lang="uk-UA">
                          <a:effectLst/>
                        </a:rPr>
                        <a:t>230</a:t>
                      </a:r>
                    </a:p>
                  </a:txBody>
                  <a:tcPr marL="28575" marR="28575" marT="0" marB="0" anchor="b"/>
                </a:tc>
                <a:tc>
                  <a:txBody>
                    <a:bodyPr/>
                    <a:lstStyle/>
                    <a:p>
                      <a:pPr algn="r" rtl="0" fontAlgn="b"/>
                      <a:r>
                        <a:rPr lang="uk-UA">
                          <a:effectLst/>
                        </a:rPr>
                        <a:t>220</a:t>
                      </a:r>
                    </a:p>
                  </a:txBody>
                  <a:tcPr marL="28575" marR="28575" marT="0" marB="0" anchor="b"/>
                </a:tc>
                <a:tc>
                  <a:txBody>
                    <a:bodyPr/>
                    <a:lstStyle/>
                    <a:p>
                      <a:pPr algn="r" rtl="0" fontAlgn="b"/>
                      <a:r>
                        <a:rPr lang="uk-UA">
                          <a:effectLst/>
                        </a:rPr>
                        <a:t>43</a:t>
                      </a:r>
                    </a:p>
                  </a:txBody>
                  <a:tcPr marL="28575" marR="28575" marT="0" marB="0" anchor="b"/>
                </a:tc>
                <a:tc>
                  <a:txBody>
                    <a:bodyPr/>
                    <a:lstStyle/>
                    <a:p>
                      <a:pPr algn="r" rtl="0" fontAlgn="b"/>
                      <a:r>
                        <a:rPr lang="uk-UA" dirty="0">
                          <a:effectLst/>
                        </a:rPr>
                        <a:t>49</a:t>
                      </a:r>
                    </a:p>
                  </a:txBody>
                  <a:tcPr marL="28575" marR="28575" marT="0" marB="0" anchor="b"/>
                </a:tc>
                <a:tc>
                  <a:txBody>
                    <a:bodyPr/>
                    <a:lstStyle/>
                    <a:p>
                      <a:pPr algn="r" rtl="0" fontAlgn="b"/>
                      <a:r>
                        <a:rPr lang="uk-UA" dirty="0">
                          <a:effectLst/>
                        </a:rPr>
                        <a:t>55</a:t>
                      </a:r>
                    </a:p>
                  </a:txBody>
                  <a:tcPr marL="28575" marR="28575" marT="0" marB="0" anchor="b"/>
                </a:tc>
              </a:tr>
              <a:tr h="370840">
                <a:tc>
                  <a:txBody>
                    <a:bodyPr/>
                    <a:lstStyle/>
                    <a:p>
                      <a:pPr algn="r" rtl="0" fontAlgn="b"/>
                      <a:r>
                        <a:rPr lang="uk-UA">
                          <a:effectLst/>
                        </a:rPr>
                        <a:t>220</a:t>
                      </a:r>
                    </a:p>
                  </a:txBody>
                  <a:tcPr marL="28575" marR="28575" marT="0" marB="0" anchor="b"/>
                </a:tc>
                <a:tc>
                  <a:txBody>
                    <a:bodyPr/>
                    <a:lstStyle/>
                    <a:p>
                      <a:pPr rtl="0" fontAlgn="b"/>
                      <a:endParaRPr lang="uk-UA">
                        <a:effectLst/>
                      </a:endParaRPr>
                    </a:p>
                  </a:txBody>
                  <a:tcPr marL="28575" marR="28575" marT="0" marB="0" anchor="b"/>
                </a:tc>
                <a:tc>
                  <a:txBody>
                    <a:bodyPr/>
                    <a:lstStyle/>
                    <a:p>
                      <a:pPr algn="r" rtl="0" fontAlgn="b"/>
                      <a:r>
                        <a:rPr lang="uk-UA" dirty="0">
                          <a:effectLst/>
                        </a:rPr>
                        <a:t>63</a:t>
                      </a:r>
                    </a:p>
                  </a:txBody>
                  <a:tcPr marL="28575" marR="28575" marT="0" marB="0" anchor="b"/>
                </a:tc>
                <a:tc>
                  <a:txBody>
                    <a:bodyPr/>
                    <a:lstStyle/>
                    <a:p>
                      <a:pPr algn="r" rtl="0" fontAlgn="b"/>
                      <a:r>
                        <a:rPr lang="uk-UA">
                          <a:effectLst/>
                        </a:rPr>
                        <a:t>70</a:t>
                      </a:r>
                    </a:p>
                  </a:txBody>
                  <a:tcPr marL="28575" marR="28575" marT="0" marB="0" anchor="b"/>
                </a:tc>
                <a:tc>
                  <a:txBody>
                    <a:bodyPr/>
                    <a:lstStyle/>
                    <a:p>
                      <a:pPr rtl="0" fontAlgn="b"/>
                      <a:endParaRPr lang="uk-UA" dirty="0">
                        <a:effectLst/>
                      </a:endParaRPr>
                    </a:p>
                  </a:txBody>
                  <a:tcPr marL="28575" marR="28575" marT="0" marB="0" anchor="b"/>
                </a:tc>
              </a:tr>
            </a:tbl>
          </a:graphicData>
        </a:graphic>
      </p:graphicFrame>
      <p:sp>
        <p:nvSpPr>
          <p:cNvPr id="5" name="Прямоугольник 4"/>
          <p:cNvSpPr/>
          <p:nvPr/>
        </p:nvSpPr>
        <p:spPr>
          <a:xfrm>
            <a:off x="457200" y="1536403"/>
            <a:ext cx="6057900" cy="400110"/>
          </a:xfrm>
          <a:prstGeom prst="rect">
            <a:avLst/>
          </a:prstGeom>
        </p:spPr>
        <p:txBody>
          <a:bodyPr wrap="square">
            <a:spAutoFit/>
          </a:bodyPr>
          <a:lstStyle/>
          <a:p>
            <a:pPr>
              <a:defRPr sz="2000"/>
            </a:pPr>
            <a:r>
              <a:rPr lang="en-US" b="1" u="sng" dirty="0"/>
              <a:t>Excel/Google </a:t>
            </a:r>
            <a:r>
              <a:rPr lang="en-US" b="1" u="sng" dirty="0" smtClean="0"/>
              <a:t>Sheets</a:t>
            </a:r>
            <a:endParaRPr lang="en-US" b="1" u="sng" dirty="0"/>
          </a:p>
        </p:txBody>
      </p:sp>
    </p:spTree>
    <p:extLst>
      <p:ext uri="{BB962C8B-B14F-4D97-AF65-F5344CB8AC3E}">
        <p14:creationId xmlns:p14="http://schemas.microsoft.com/office/powerpoint/2010/main" val="213888758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visualization</a:t>
            </a:r>
            <a:endParaRPr dirty="0"/>
          </a:p>
        </p:txBody>
      </p:sp>
      <p:sp>
        <p:nvSpPr>
          <p:cNvPr id="5" name="Прямоугольник 4"/>
          <p:cNvSpPr/>
          <p:nvPr/>
        </p:nvSpPr>
        <p:spPr>
          <a:xfrm>
            <a:off x="457200" y="1536403"/>
            <a:ext cx="6057900" cy="707886"/>
          </a:xfrm>
          <a:prstGeom prst="rect">
            <a:avLst/>
          </a:prstGeom>
        </p:spPr>
        <p:txBody>
          <a:bodyPr wrap="square">
            <a:spAutoFit/>
          </a:bodyPr>
          <a:lstStyle/>
          <a:p>
            <a:pPr>
              <a:defRPr sz="2000"/>
            </a:pPr>
            <a:r>
              <a:rPr lang="en-US" b="1" u="sng" dirty="0"/>
              <a:t>Excel/Google Sheets </a:t>
            </a:r>
          </a:p>
          <a:p>
            <a:pPr>
              <a:defRPr sz="2000"/>
            </a:pPr>
            <a:endParaRPr lang="en-US" b="1" u="sng" dirty="0"/>
          </a:p>
        </p:txBody>
      </p:sp>
      <p:graphicFrame>
        <p:nvGraphicFramePr>
          <p:cNvPr id="8" name="Объект 7"/>
          <p:cNvGraphicFramePr>
            <a:graphicFrameLocks noGrp="1"/>
          </p:cNvGraphicFramePr>
          <p:nvPr>
            <p:ph idx="1"/>
            <p:extLst>
              <p:ext uri="{D42A27DB-BD31-4B8C-83A1-F6EECF244321}">
                <p14:modId xmlns:p14="http://schemas.microsoft.com/office/powerpoint/2010/main" val="637144230"/>
              </p:ext>
            </p:extLst>
          </p:nvPr>
        </p:nvGraphicFramePr>
        <p:xfrm>
          <a:off x="457200" y="2055813"/>
          <a:ext cx="8229600" cy="40703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312208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visualization</a:t>
            </a:r>
            <a:endParaRPr dirty="0"/>
          </a:p>
        </p:txBody>
      </p:sp>
      <p:sp>
        <p:nvSpPr>
          <p:cNvPr id="5" name="Прямоугольник 4"/>
          <p:cNvSpPr/>
          <p:nvPr/>
        </p:nvSpPr>
        <p:spPr>
          <a:xfrm>
            <a:off x="457200" y="1536403"/>
            <a:ext cx="6057900" cy="707886"/>
          </a:xfrm>
          <a:prstGeom prst="rect">
            <a:avLst/>
          </a:prstGeom>
        </p:spPr>
        <p:txBody>
          <a:bodyPr wrap="square">
            <a:spAutoFit/>
          </a:bodyPr>
          <a:lstStyle/>
          <a:p>
            <a:pPr>
              <a:defRPr sz="2000"/>
            </a:pPr>
            <a:r>
              <a:rPr lang="en-US" b="1" u="sng" dirty="0"/>
              <a:t>Excel/Google Sheets </a:t>
            </a:r>
          </a:p>
          <a:p>
            <a:pPr>
              <a:defRPr sz="2000"/>
            </a:pPr>
            <a:endParaRPr lang="en-US" b="1" u="sng" dirty="0"/>
          </a:p>
        </p:txBody>
      </p:sp>
      <p:graphicFrame>
        <p:nvGraphicFramePr>
          <p:cNvPr id="25" name="Объект 24"/>
          <p:cNvGraphicFramePr>
            <a:graphicFrameLocks noGrp="1"/>
          </p:cNvGraphicFramePr>
          <p:nvPr>
            <p:ph idx="1"/>
            <p:extLst>
              <p:ext uri="{D42A27DB-BD31-4B8C-83A1-F6EECF244321}">
                <p14:modId xmlns:p14="http://schemas.microsoft.com/office/powerpoint/2010/main" val="661989697"/>
              </p:ext>
            </p:extLst>
          </p:nvPr>
        </p:nvGraphicFramePr>
        <p:xfrm>
          <a:off x="457200" y="2241550"/>
          <a:ext cx="8229600" cy="38846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075892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visualization</a:t>
            </a:r>
            <a:endParaRPr dirty="0"/>
          </a:p>
        </p:txBody>
      </p:sp>
      <p:sp>
        <p:nvSpPr>
          <p:cNvPr id="5" name="Прямоугольник 4"/>
          <p:cNvSpPr/>
          <p:nvPr/>
        </p:nvSpPr>
        <p:spPr>
          <a:xfrm>
            <a:off x="457200" y="1536403"/>
            <a:ext cx="6057900" cy="400110"/>
          </a:xfrm>
          <a:prstGeom prst="rect">
            <a:avLst/>
          </a:prstGeom>
        </p:spPr>
        <p:txBody>
          <a:bodyPr wrap="square">
            <a:spAutoFit/>
          </a:bodyPr>
          <a:lstStyle/>
          <a:p>
            <a:pPr>
              <a:defRPr sz="2000"/>
            </a:pPr>
            <a:r>
              <a:rPr lang="en-US" b="1" u="sng" dirty="0"/>
              <a:t>Excel/Google Sheets </a:t>
            </a:r>
          </a:p>
        </p:txBody>
      </p:sp>
      <p:graphicFrame>
        <p:nvGraphicFramePr>
          <p:cNvPr id="8" name="Объект 7"/>
          <p:cNvGraphicFramePr>
            <a:graphicFrameLocks noGrp="1"/>
          </p:cNvGraphicFramePr>
          <p:nvPr>
            <p:ph idx="1"/>
            <p:extLst>
              <p:ext uri="{D42A27DB-BD31-4B8C-83A1-F6EECF244321}">
                <p14:modId xmlns:p14="http://schemas.microsoft.com/office/powerpoint/2010/main" val="1025367391"/>
              </p:ext>
            </p:extLst>
          </p:nvPr>
        </p:nvGraphicFramePr>
        <p:xfrm>
          <a:off x="457200" y="2055813"/>
          <a:ext cx="8229600" cy="40703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632285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visualization</a:t>
            </a:r>
            <a:endParaRPr dirty="0"/>
          </a:p>
        </p:txBody>
      </p:sp>
      <p:sp>
        <p:nvSpPr>
          <p:cNvPr id="5" name="Прямоугольник 4"/>
          <p:cNvSpPr/>
          <p:nvPr/>
        </p:nvSpPr>
        <p:spPr>
          <a:xfrm>
            <a:off x="457200" y="1536403"/>
            <a:ext cx="6057900" cy="400110"/>
          </a:xfrm>
          <a:prstGeom prst="rect">
            <a:avLst/>
          </a:prstGeom>
        </p:spPr>
        <p:txBody>
          <a:bodyPr wrap="square">
            <a:spAutoFit/>
          </a:bodyPr>
          <a:lstStyle/>
          <a:p>
            <a:pPr>
              <a:defRPr sz="2000"/>
            </a:pPr>
            <a:r>
              <a:rPr lang="en-US" b="1" u="sng" dirty="0"/>
              <a:t>Excel/Google Sheets </a:t>
            </a:r>
          </a:p>
        </p:txBody>
      </p:sp>
      <p:graphicFrame>
        <p:nvGraphicFramePr>
          <p:cNvPr id="8" name="Объект 7"/>
          <p:cNvGraphicFramePr>
            <a:graphicFrameLocks noGrp="1"/>
          </p:cNvGraphicFramePr>
          <p:nvPr>
            <p:ph idx="1"/>
            <p:extLst>
              <p:ext uri="{D42A27DB-BD31-4B8C-83A1-F6EECF244321}">
                <p14:modId xmlns:p14="http://schemas.microsoft.com/office/powerpoint/2010/main" val="3720406503"/>
              </p:ext>
            </p:extLst>
          </p:nvPr>
        </p:nvGraphicFramePr>
        <p:xfrm>
          <a:off x="457200" y="2055813"/>
          <a:ext cx="8229600" cy="40703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7932526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visualization</a:t>
            </a:r>
            <a:endParaRPr dirty="0"/>
          </a:p>
        </p:txBody>
      </p:sp>
      <p:sp>
        <p:nvSpPr>
          <p:cNvPr id="5" name="Прямоугольник 4"/>
          <p:cNvSpPr/>
          <p:nvPr/>
        </p:nvSpPr>
        <p:spPr>
          <a:xfrm>
            <a:off x="457200" y="1536403"/>
            <a:ext cx="6057900" cy="400110"/>
          </a:xfrm>
          <a:prstGeom prst="rect">
            <a:avLst/>
          </a:prstGeom>
        </p:spPr>
        <p:txBody>
          <a:bodyPr wrap="square">
            <a:spAutoFit/>
          </a:bodyPr>
          <a:lstStyle/>
          <a:p>
            <a:pPr>
              <a:defRPr sz="2000"/>
            </a:pPr>
            <a:r>
              <a:rPr lang="en-US" b="1" u="sng" dirty="0"/>
              <a:t>Excel/Google </a:t>
            </a:r>
            <a:r>
              <a:rPr lang="en-US" b="1" u="sng" dirty="0" smtClean="0"/>
              <a:t>Sheets</a:t>
            </a:r>
            <a:endParaRPr lang="en-US" b="1" u="sng" dirty="0"/>
          </a:p>
        </p:txBody>
      </p:sp>
      <p:sp>
        <p:nvSpPr>
          <p:cNvPr id="3" name="Объект 2"/>
          <p:cNvSpPr>
            <a:spLocks noGrp="1"/>
          </p:cNvSpPr>
          <p:nvPr>
            <p:ph idx="1"/>
          </p:nvPr>
        </p:nvSpPr>
        <p:spPr>
          <a:xfrm>
            <a:off x="457200" y="2055278"/>
            <a:ext cx="8229600" cy="4070885"/>
          </a:xfrm>
        </p:spPr>
        <p:txBody>
          <a:bodyPr/>
          <a:lstStyle/>
          <a:p>
            <a:endParaRPr lang="uk-UA" dirty="0"/>
          </a:p>
        </p:txBody>
      </p:sp>
    </p:spTree>
    <p:extLst>
      <p:ext uri="{BB962C8B-B14F-4D97-AF65-F5344CB8AC3E}">
        <p14:creationId xmlns:p14="http://schemas.microsoft.com/office/powerpoint/2010/main" val="416692958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visualization</a:t>
            </a:r>
            <a:endParaRPr dirty="0"/>
          </a:p>
        </p:txBody>
      </p:sp>
      <p:sp>
        <p:nvSpPr>
          <p:cNvPr id="5" name="Прямоугольник 4"/>
          <p:cNvSpPr/>
          <p:nvPr/>
        </p:nvSpPr>
        <p:spPr>
          <a:xfrm>
            <a:off x="457200" y="1536403"/>
            <a:ext cx="6057900" cy="400110"/>
          </a:xfrm>
          <a:prstGeom prst="rect">
            <a:avLst/>
          </a:prstGeom>
        </p:spPr>
        <p:txBody>
          <a:bodyPr wrap="square">
            <a:spAutoFit/>
          </a:bodyPr>
          <a:lstStyle/>
          <a:p>
            <a:pPr>
              <a:defRPr sz="2000"/>
            </a:pPr>
            <a:r>
              <a:rPr lang="en-US" b="1" u="sng" dirty="0" smtClean="0"/>
              <a:t>Google Sheets </a:t>
            </a:r>
            <a:endParaRPr lang="en-US" b="1" u="sng" dirty="0"/>
          </a:p>
        </p:txBody>
      </p:sp>
      <p:sp>
        <p:nvSpPr>
          <p:cNvPr id="3" name="Объект 2"/>
          <p:cNvSpPr>
            <a:spLocks noGrp="1"/>
          </p:cNvSpPr>
          <p:nvPr>
            <p:ph idx="1"/>
          </p:nvPr>
        </p:nvSpPr>
        <p:spPr>
          <a:xfrm>
            <a:off x="457200" y="2055278"/>
            <a:ext cx="8229600" cy="4070885"/>
          </a:xfrm>
        </p:spPr>
        <p:txBody>
          <a:bodyPr/>
          <a:lstStyle/>
          <a:p>
            <a:endParaRPr lang="uk-UA" dirty="0"/>
          </a:p>
        </p:txBody>
      </p:sp>
    </p:spTree>
    <p:extLst>
      <p:ext uri="{BB962C8B-B14F-4D97-AF65-F5344CB8AC3E}">
        <p14:creationId xmlns:p14="http://schemas.microsoft.com/office/powerpoint/2010/main" val="415989828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visualization</a:t>
            </a:r>
            <a:endParaRPr dirty="0"/>
          </a:p>
        </p:txBody>
      </p:sp>
      <p:sp>
        <p:nvSpPr>
          <p:cNvPr id="5" name="Прямоугольник 4"/>
          <p:cNvSpPr/>
          <p:nvPr/>
        </p:nvSpPr>
        <p:spPr>
          <a:xfrm>
            <a:off x="457200" y="1536403"/>
            <a:ext cx="6057900" cy="400110"/>
          </a:xfrm>
          <a:prstGeom prst="rect">
            <a:avLst/>
          </a:prstGeom>
        </p:spPr>
        <p:txBody>
          <a:bodyPr wrap="square">
            <a:spAutoFit/>
          </a:bodyPr>
          <a:lstStyle/>
          <a:p>
            <a:pPr>
              <a:defRPr sz="2000"/>
            </a:pPr>
            <a:r>
              <a:rPr lang="en-US" b="1" u="sng" dirty="0"/>
              <a:t>Tableau/Power BI</a:t>
            </a:r>
          </a:p>
        </p:txBody>
      </p:sp>
      <p:sp>
        <p:nvSpPr>
          <p:cNvPr id="3" name="Объект 2"/>
          <p:cNvSpPr>
            <a:spLocks noGrp="1"/>
          </p:cNvSpPr>
          <p:nvPr>
            <p:ph idx="1"/>
          </p:nvPr>
        </p:nvSpPr>
        <p:spPr>
          <a:xfrm>
            <a:off x="457200" y="2055278"/>
            <a:ext cx="8229600" cy="4070885"/>
          </a:xfrm>
        </p:spPr>
        <p:txBody>
          <a:bodyPr>
            <a:normAutofit/>
          </a:bodyPr>
          <a:lstStyle/>
          <a:p>
            <a:r>
              <a:rPr lang="en-AU" sz="2400" dirty="0"/>
              <a:t>https://public.tableau.com/app/learn/sample-data </a:t>
            </a:r>
            <a:endParaRPr lang="en-AU" sz="2400" dirty="0" smtClean="0"/>
          </a:p>
          <a:p>
            <a:r>
              <a:rPr lang="en-AU" sz="2400" dirty="0" smtClean="0"/>
              <a:t>https</a:t>
            </a:r>
            <a:r>
              <a:rPr lang="en-AU" sz="2400" dirty="0"/>
              <a:t>://app.powerbi.com/</a:t>
            </a:r>
            <a:endParaRPr lang="uk-UA" sz="2400" dirty="0"/>
          </a:p>
        </p:txBody>
      </p:sp>
    </p:spTree>
    <p:extLst>
      <p:ext uri="{BB962C8B-B14F-4D97-AF65-F5344CB8AC3E}">
        <p14:creationId xmlns:p14="http://schemas.microsoft.com/office/powerpoint/2010/main" val="49039306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visualization</a:t>
            </a:r>
            <a:endParaRPr dirty="0"/>
          </a:p>
        </p:txBody>
      </p:sp>
      <p:sp>
        <p:nvSpPr>
          <p:cNvPr id="5" name="Прямоугольник 4"/>
          <p:cNvSpPr/>
          <p:nvPr/>
        </p:nvSpPr>
        <p:spPr>
          <a:xfrm>
            <a:off x="457200" y="1536403"/>
            <a:ext cx="6057900" cy="400110"/>
          </a:xfrm>
          <a:prstGeom prst="rect">
            <a:avLst/>
          </a:prstGeom>
        </p:spPr>
        <p:txBody>
          <a:bodyPr wrap="square">
            <a:spAutoFit/>
          </a:bodyPr>
          <a:lstStyle/>
          <a:p>
            <a:pPr>
              <a:defRPr sz="2000"/>
            </a:pPr>
            <a:r>
              <a:rPr lang="en-US" b="1" u="sng" dirty="0" smtClean="0"/>
              <a:t>Python</a:t>
            </a:r>
            <a:endParaRPr lang="en-US" b="1" u="sng" dirty="0"/>
          </a:p>
        </p:txBody>
      </p:sp>
      <p:pic>
        <p:nvPicPr>
          <p:cNvPr id="4" name="Объект 3"/>
          <p:cNvPicPr>
            <a:picLocks noGrp="1" noChangeAspect="1"/>
          </p:cNvPicPr>
          <p:nvPr>
            <p:ph idx="1"/>
          </p:nvPr>
        </p:nvPicPr>
        <p:blipFill rotWithShape="1">
          <a:blip r:embed="rId3"/>
          <a:srcRect t="11553"/>
          <a:stretch/>
        </p:blipFill>
        <p:spPr>
          <a:xfrm>
            <a:off x="721384" y="2198077"/>
            <a:ext cx="7510538" cy="3641383"/>
          </a:xfrm>
          <a:prstGeom prst="rect">
            <a:avLst/>
          </a:prstGeom>
        </p:spPr>
      </p:pic>
    </p:spTree>
    <p:extLst>
      <p:ext uri="{BB962C8B-B14F-4D97-AF65-F5344CB8AC3E}">
        <p14:creationId xmlns:p14="http://schemas.microsoft.com/office/powerpoint/2010/main" val="380044604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visualization</a:t>
            </a:r>
            <a:endParaRPr dirty="0"/>
          </a:p>
        </p:txBody>
      </p:sp>
      <p:sp>
        <p:nvSpPr>
          <p:cNvPr id="5" name="Прямоугольник 4"/>
          <p:cNvSpPr/>
          <p:nvPr/>
        </p:nvSpPr>
        <p:spPr>
          <a:xfrm>
            <a:off x="457200" y="1536403"/>
            <a:ext cx="6057900" cy="400110"/>
          </a:xfrm>
          <a:prstGeom prst="rect">
            <a:avLst/>
          </a:prstGeom>
        </p:spPr>
        <p:txBody>
          <a:bodyPr wrap="square">
            <a:spAutoFit/>
          </a:bodyPr>
          <a:lstStyle/>
          <a:p>
            <a:pPr>
              <a:defRPr sz="2000"/>
            </a:pPr>
            <a:r>
              <a:rPr lang="en-US" b="1" u="sng" dirty="0" smtClean="0"/>
              <a:t>R and RSTUDIO</a:t>
            </a:r>
            <a:endParaRPr lang="en-US" b="1" u="sng" dirty="0"/>
          </a:p>
        </p:txBody>
      </p:sp>
      <p:pic>
        <p:nvPicPr>
          <p:cNvPr id="4" name="Объект 3"/>
          <p:cNvPicPr>
            <a:picLocks noGrp="1" noChangeAspect="1"/>
          </p:cNvPicPr>
          <p:nvPr>
            <p:ph idx="1"/>
          </p:nvPr>
        </p:nvPicPr>
        <p:blipFill rotWithShape="1">
          <a:blip r:embed="rId3"/>
          <a:srcRect t="10870"/>
          <a:stretch/>
        </p:blipFill>
        <p:spPr>
          <a:xfrm>
            <a:off x="953020" y="2134409"/>
            <a:ext cx="7098652" cy="3237691"/>
          </a:xfrm>
          <a:prstGeom prst="rect">
            <a:avLst/>
          </a:prstGeom>
        </p:spPr>
      </p:pic>
    </p:spTree>
    <p:extLst>
      <p:ext uri="{BB962C8B-B14F-4D97-AF65-F5344CB8AC3E}">
        <p14:creationId xmlns:p14="http://schemas.microsoft.com/office/powerpoint/2010/main" val="279132795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visualization</a:t>
            </a:r>
            <a:endParaRPr dirty="0"/>
          </a:p>
        </p:txBody>
      </p:sp>
      <p:sp>
        <p:nvSpPr>
          <p:cNvPr id="5" name="Прямоугольник 4"/>
          <p:cNvSpPr/>
          <p:nvPr/>
        </p:nvSpPr>
        <p:spPr>
          <a:xfrm>
            <a:off x="457200" y="1536403"/>
            <a:ext cx="6057900" cy="400110"/>
          </a:xfrm>
          <a:prstGeom prst="rect">
            <a:avLst/>
          </a:prstGeom>
        </p:spPr>
        <p:txBody>
          <a:bodyPr wrap="square">
            <a:spAutoFit/>
          </a:bodyPr>
          <a:lstStyle/>
          <a:p>
            <a:pPr>
              <a:defRPr sz="2000"/>
            </a:pPr>
            <a:r>
              <a:rPr lang="en-US" b="1" u="sng" dirty="0" smtClean="0"/>
              <a:t>JavaScript</a:t>
            </a:r>
            <a:endParaRPr lang="en-US" b="1" u="sng" dirty="0"/>
          </a:p>
        </p:txBody>
      </p:sp>
      <p:pic>
        <p:nvPicPr>
          <p:cNvPr id="3" name="Рисунок 2"/>
          <p:cNvPicPr>
            <a:picLocks noChangeAspect="1"/>
          </p:cNvPicPr>
          <p:nvPr/>
        </p:nvPicPr>
        <p:blipFill>
          <a:blip r:embed="rId3"/>
          <a:stretch>
            <a:fillRect/>
          </a:stretch>
        </p:blipFill>
        <p:spPr>
          <a:xfrm>
            <a:off x="1009903" y="1998678"/>
            <a:ext cx="6878010" cy="1305107"/>
          </a:xfrm>
          <a:prstGeom prst="rect">
            <a:avLst/>
          </a:prstGeom>
        </p:spPr>
      </p:pic>
      <p:sp>
        <p:nvSpPr>
          <p:cNvPr id="4" name="Прямоугольник 3"/>
          <p:cNvSpPr/>
          <p:nvPr/>
        </p:nvSpPr>
        <p:spPr>
          <a:xfrm>
            <a:off x="1009903" y="3515493"/>
            <a:ext cx="3262753" cy="369332"/>
          </a:xfrm>
          <a:prstGeom prst="rect">
            <a:avLst/>
          </a:prstGeom>
        </p:spPr>
        <p:txBody>
          <a:bodyPr wrap="none">
            <a:spAutoFit/>
          </a:bodyPr>
          <a:lstStyle/>
          <a:p>
            <a:r>
              <a:rPr lang="en-AU" dirty="0" smtClean="0">
                <a:hlinkClick r:id="rId4"/>
              </a:rPr>
              <a:t>knowledge_graph_example.html</a:t>
            </a:r>
            <a:endParaRPr lang="uk-UA" dirty="0"/>
          </a:p>
        </p:txBody>
      </p:sp>
    </p:spTree>
    <p:extLst>
      <p:ext uri="{BB962C8B-B14F-4D97-AF65-F5344CB8AC3E}">
        <p14:creationId xmlns:p14="http://schemas.microsoft.com/office/powerpoint/2010/main" val="275020540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Resources, References, Materials</a:t>
            </a:r>
            <a:endParaRPr lang="uk-UA" dirty="0"/>
          </a:p>
        </p:txBody>
      </p:sp>
      <p:sp>
        <p:nvSpPr>
          <p:cNvPr id="3" name="Объект 2"/>
          <p:cNvSpPr>
            <a:spLocks noGrp="1"/>
          </p:cNvSpPr>
          <p:nvPr>
            <p:ph idx="1"/>
          </p:nvPr>
        </p:nvSpPr>
        <p:spPr>
          <a:xfrm>
            <a:off x="457199" y="1600200"/>
            <a:ext cx="8376249" cy="4525963"/>
          </a:xfrm>
        </p:spPr>
        <p:txBody>
          <a:bodyPr>
            <a:normAutofit/>
          </a:bodyPr>
          <a:lstStyle/>
          <a:p>
            <a:r>
              <a:rPr lang="en-AU" dirty="0" smtClean="0"/>
              <a:t>TG group for communication: </a:t>
            </a:r>
            <a:r>
              <a:rPr lang="en-AU" sz="1600" dirty="0" smtClean="0">
                <a:hlinkClick r:id="rId2"/>
              </a:rPr>
              <a:t>https</a:t>
            </a:r>
            <a:r>
              <a:rPr lang="en-AU" sz="1600" dirty="0">
                <a:hlinkClick r:id="rId2"/>
              </a:rPr>
              <a:t>://t.me/+</a:t>
            </a:r>
            <a:r>
              <a:rPr lang="en-AU" sz="1600" dirty="0" smtClean="0">
                <a:hlinkClick r:id="rId2"/>
              </a:rPr>
              <a:t>b3jhNX3o54I2MTE6</a:t>
            </a:r>
            <a:endParaRPr lang="uk-UA" sz="1600" dirty="0" smtClean="0"/>
          </a:p>
          <a:p>
            <a:pPr lvl="0"/>
            <a:r>
              <a:rPr lang="en-US" dirty="0" smtClean="0"/>
              <a:t>Books: </a:t>
            </a:r>
            <a:endParaRPr lang="uk-UA" dirty="0" smtClean="0"/>
          </a:p>
          <a:p>
            <a:pPr marL="0" lvl="0" indent="0">
              <a:buNone/>
            </a:pPr>
            <a:r>
              <a:rPr lang="en-US" sz="1400" dirty="0" smtClean="0"/>
              <a:t>-</a:t>
            </a:r>
            <a:r>
              <a:rPr lang="uk-UA" sz="1400" dirty="0" smtClean="0"/>
              <a:t> Муляр </a:t>
            </a:r>
            <a:r>
              <a:rPr lang="uk-UA" sz="1400" dirty="0"/>
              <a:t>В. П. Візуалізація даних та </a:t>
            </a:r>
            <a:r>
              <a:rPr lang="uk-UA" sz="1400" dirty="0" err="1"/>
              <a:t>інфографіка</a:t>
            </a:r>
            <a:r>
              <a:rPr lang="uk-UA" sz="1400" dirty="0"/>
              <a:t>. </a:t>
            </a:r>
            <a:r>
              <a:rPr lang="uk-UA" sz="1400" dirty="0" smtClean="0"/>
              <a:t/>
            </a:r>
            <a:br>
              <a:rPr lang="uk-UA" sz="1400" dirty="0" smtClean="0"/>
            </a:br>
            <a:r>
              <a:rPr lang="en-US" sz="1400" dirty="0" smtClean="0"/>
              <a:t>- </a:t>
            </a:r>
            <a:r>
              <a:rPr lang="uk-UA" sz="1400" dirty="0" err="1" smtClean="0"/>
              <a:t>Camm</a:t>
            </a:r>
            <a:r>
              <a:rPr lang="uk-UA" sz="1400" dirty="0"/>
              <a:t>, J. D., </a:t>
            </a:r>
            <a:r>
              <a:rPr lang="uk-UA" sz="1400" dirty="0" err="1"/>
              <a:t>Cochran</a:t>
            </a:r>
            <a:r>
              <a:rPr lang="uk-UA" sz="1400" dirty="0"/>
              <a:t>, J. J., </a:t>
            </a:r>
            <a:r>
              <a:rPr lang="uk-UA" sz="1400" dirty="0" err="1"/>
              <a:t>Fry</a:t>
            </a:r>
            <a:r>
              <a:rPr lang="uk-UA" sz="1400" dirty="0"/>
              <a:t>, M. J., &amp; </a:t>
            </a:r>
            <a:r>
              <a:rPr lang="uk-UA" sz="1400" dirty="0" err="1"/>
              <a:t>Ohlmann</a:t>
            </a:r>
            <a:r>
              <a:rPr lang="uk-UA" sz="1400" dirty="0"/>
              <a:t>, J. W.. </a:t>
            </a:r>
            <a:r>
              <a:rPr lang="uk-UA" sz="1400" dirty="0" err="1"/>
              <a:t>Data</a:t>
            </a:r>
            <a:r>
              <a:rPr lang="uk-UA" sz="1400" dirty="0"/>
              <a:t> </a:t>
            </a:r>
            <a:r>
              <a:rPr lang="uk-UA" sz="1400" dirty="0" err="1"/>
              <a:t>Visualization</a:t>
            </a:r>
            <a:r>
              <a:rPr lang="uk-UA" sz="1400" dirty="0"/>
              <a:t>: </a:t>
            </a:r>
            <a:r>
              <a:rPr lang="uk-UA" sz="1400" dirty="0" err="1"/>
              <a:t>Exploring</a:t>
            </a:r>
            <a:r>
              <a:rPr lang="uk-UA" sz="1400" dirty="0"/>
              <a:t> </a:t>
            </a:r>
            <a:r>
              <a:rPr lang="uk-UA" sz="1400" dirty="0" err="1"/>
              <a:t>and</a:t>
            </a:r>
            <a:r>
              <a:rPr lang="uk-UA" sz="1400" dirty="0"/>
              <a:t> </a:t>
            </a:r>
            <a:r>
              <a:rPr lang="uk-UA" sz="1400" dirty="0" err="1"/>
              <a:t>Explaining</a:t>
            </a:r>
            <a:r>
              <a:rPr lang="uk-UA" sz="1400" dirty="0"/>
              <a:t> </a:t>
            </a:r>
            <a:r>
              <a:rPr lang="uk-UA" sz="1400" dirty="0" err="1"/>
              <a:t>with</a:t>
            </a:r>
            <a:r>
              <a:rPr lang="uk-UA" sz="1400" dirty="0"/>
              <a:t> </a:t>
            </a:r>
            <a:r>
              <a:rPr lang="uk-UA" sz="1400" dirty="0" err="1"/>
              <a:t>Data</a:t>
            </a:r>
            <a:r>
              <a:rPr lang="uk-UA" sz="1400" dirty="0"/>
              <a:t>. </a:t>
            </a:r>
          </a:p>
          <a:p>
            <a:pPr marL="0" lvl="0" indent="0">
              <a:buNone/>
            </a:pPr>
            <a:r>
              <a:rPr lang="uk-UA" sz="1400" dirty="0" smtClean="0"/>
              <a:t>- </a:t>
            </a:r>
            <a:r>
              <a:rPr lang="uk-UA" sz="1400" dirty="0" err="1" smtClean="0"/>
              <a:t>Claus</a:t>
            </a:r>
            <a:r>
              <a:rPr lang="uk-UA" sz="1400" dirty="0" smtClean="0"/>
              <a:t> </a:t>
            </a:r>
            <a:r>
              <a:rPr lang="uk-UA" sz="1400" dirty="0"/>
              <a:t>O. </a:t>
            </a:r>
            <a:r>
              <a:rPr lang="uk-UA" sz="1400" dirty="0" err="1"/>
              <a:t>Wilke</a:t>
            </a:r>
            <a:r>
              <a:rPr lang="en-US" sz="1400" dirty="0"/>
              <a:t>.</a:t>
            </a:r>
            <a:r>
              <a:rPr lang="uk-UA" sz="1400" dirty="0"/>
              <a:t>  </a:t>
            </a:r>
            <a:r>
              <a:rPr lang="uk-UA" sz="1400" dirty="0" err="1"/>
              <a:t>Fundamentals</a:t>
            </a:r>
            <a:r>
              <a:rPr lang="uk-UA" sz="1400" dirty="0"/>
              <a:t> </a:t>
            </a:r>
            <a:r>
              <a:rPr lang="uk-UA" sz="1400" dirty="0" err="1"/>
              <a:t>of</a:t>
            </a:r>
            <a:r>
              <a:rPr lang="uk-UA" sz="1400" dirty="0"/>
              <a:t> </a:t>
            </a:r>
            <a:r>
              <a:rPr lang="uk-UA" sz="1400" dirty="0" err="1"/>
              <a:t>Data</a:t>
            </a:r>
            <a:r>
              <a:rPr lang="uk-UA" sz="1400" dirty="0"/>
              <a:t> </a:t>
            </a:r>
            <a:r>
              <a:rPr lang="uk-UA" sz="1400" dirty="0" err="1" smtClean="0"/>
              <a:t>Visualization</a:t>
            </a:r>
            <a:r>
              <a:rPr lang="uk-UA" sz="1400" dirty="0" smtClean="0"/>
              <a:t>.</a:t>
            </a:r>
          </a:p>
          <a:p>
            <a:pPr marL="0" lvl="0" indent="0">
              <a:buNone/>
            </a:pPr>
            <a:r>
              <a:rPr lang="uk-UA" sz="1400" dirty="0" smtClean="0"/>
              <a:t>- </a:t>
            </a:r>
            <a:r>
              <a:rPr lang="uk-UA" sz="1400" dirty="0" err="1" smtClean="0"/>
              <a:t>Jack</a:t>
            </a:r>
            <a:r>
              <a:rPr lang="uk-UA" sz="1400" dirty="0" smtClean="0"/>
              <a:t> </a:t>
            </a:r>
            <a:r>
              <a:rPr lang="uk-UA" sz="1400" dirty="0" err="1" smtClean="0"/>
              <a:t>Dougherty</a:t>
            </a:r>
            <a:r>
              <a:rPr lang="uk-UA" sz="1400" dirty="0" smtClean="0"/>
              <a:t> </a:t>
            </a:r>
            <a:r>
              <a:rPr lang="uk-UA" sz="1400" dirty="0" err="1" smtClean="0"/>
              <a:t>Ilya</a:t>
            </a:r>
            <a:r>
              <a:rPr lang="uk-UA" sz="1400" dirty="0" smtClean="0"/>
              <a:t> </a:t>
            </a:r>
            <a:r>
              <a:rPr lang="uk-UA" sz="1400" dirty="0" err="1" smtClean="0"/>
              <a:t>Ilyankou</a:t>
            </a:r>
            <a:r>
              <a:rPr lang="en-US" sz="1400" dirty="0" smtClean="0"/>
              <a:t>. </a:t>
            </a:r>
            <a:r>
              <a:rPr lang="uk-UA" sz="1400" dirty="0" err="1" smtClean="0"/>
              <a:t>Hands-On</a:t>
            </a:r>
            <a:r>
              <a:rPr lang="uk-UA" sz="1400" dirty="0" smtClean="0"/>
              <a:t> </a:t>
            </a:r>
            <a:r>
              <a:rPr lang="uk-UA" sz="1400" dirty="0" err="1" smtClean="0"/>
              <a:t>Data</a:t>
            </a:r>
            <a:r>
              <a:rPr lang="uk-UA" sz="1400" dirty="0" smtClean="0"/>
              <a:t> </a:t>
            </a:r>
            <a:r>
              <a:rPr lang="uk-UA" sz="1400" dirty="0" err="1" smtClean="0"/>
              <a:t>Visualization</a:t>
            </a:r>
            <a:r>
              <a:rPr lang="uk-UA" sz="1400" dirty="0" smtClean="0"/>
              <a:t> </a:t>
            </a:r>
            <a:r>
              <a:rPr lang="uk-UA" sz="1400" dirty="0" err="1" smtClean="0"/>
              <a:t>Interactive</a:t>
            </a:r>
            <a:r>
              <a:rPr lang="uk-UA" sz="1400" dirty="0" smtClean="0"/>
              <a:t> </a:t>
            </a:r>
            <a:r>
              <a:rPr lang="uk-UA" sz="1400" dirty="0" err="1" smtClean="0"/>
              <a:t>Storytelling</a:t>
            </a:r>
            <a:r>
              <a:rPr lang="uk-UA" sz="1400" dirty="0" smtClean="0"/>
              <a:t> </a:t>
            </a:r>
            <a:r>
              <a:rPr lang="uk-UA" sz="1400" dirty="0" err="1" smtClean="0"/>
              <a:t>from</a:t>
            </a:r>
            <a:r>
              <a:rPr lang="uk-UA" sz="1400" dirty="0" smtClean="0"/>
              <a:t> </a:t>
            </a:r>
            <a:r>
              <a:rPr lang="uk-UA" sz="1400" dirty="0" err="1" smtClean="0"/>
              <a:t>Spreadsheets</a:t>
            </a:r>
            <a:r>
              <a:rPr lang="uk-UA" sz="1400" dirty="0" smtClean="0"/>
              <a:t> </a:t>
            </a:r>
            <a:r>
              <a:rPr lang="uk-UA" sz="1400" dirty="0" err="1" smtClean="0"/>
              <a:t>to</a:t>
            </a:r>
            <a:r>
              <a:rPr lang="uk-UA" sz="1400" dirty="0" smtClean="0"/>
              <a:t> </a:t>
            </a:r>
            <a:r>
              <a:rPr lang="uk-UA" sz="1400" dirty="0" err="1" smtClean="0"/>
              <a:t>Code</a:t>
            </a:r>
            <a:r>
              <a:rPr lang="en-US" sz="1400" dirty="0" smtClean="0"/>
              <a:t>.  (https://handsondataviz.org/HandsOnDataViz.pdf)</a:t>
            </a:r>
            <a:endParaRPr lang="uk-UA" sz="1400" dirty="0" smtClean="0"/>
          </a:p>
          <a:p>
            <a:pPr marL="0" lvl="0" indent="0">
              <a:buNone/>
            </a:pPr>
            <a:r>
              <a:rPr lang="uk-UA" sz="1400" dirty="0" smtClean="0"/>
              <a:t>- </a:t>
            </a:r>
            <a:r>
              <a:rPr lang="uk-UA" sz="1400" dirty="0" err="1" smtClean="0"/>
              <a:t>Kieran</a:t>
            </a:r>
            <a:r>
              <a:rPr lang="uk-UA" sz="1400" dirty="0" smtClean="0"/>
              <a:t> </a:t>
            </a:r>
            <a:r>
              <a:rPr lang="uk-UA" sz="1400" dirty="0" err="1"/>
              <a:t>Healy</a:t>
            </a:r>
            <a:r>
              <a:rPr lang="uk-UA" sz="1400" dirty="0"/>
              <a:t>. </a:t>
            </a:r>
            <a:r>
              <a:rPr lang="uk-UA" sz="1400" dirty="0" err="1"/>
              <a:t>Data</a:t>
            </a:r>
            <a:r>
              <a:rPr lang="uk-UA" sz="1400" dirty="0"/>
              <a:t> </a:t>
            </a:r>
            <a:r>
              <a:rPr lang="uk-UA" sz="1400" dirty="0" err="1"/>
              <a:t>Visualization</a:t>
            </a:r>
            <a:r>
              <a:rPr lang="en-US" sz="1400" dirty="0"/>
              <a:t>:</a:t>
            </a:r>
            <a:r>
              <a:rPr lang="uk-UA" sz="1400" dirty="0"/>
              <a:t> A </a:t>
            </a:r>
            <a:r>
              <a:rPr lang="uk-UA" sz="1400" dirty="0" err="1"/>
              <a:t>Practical</a:t>
            </a:r>
            <a:r>
              <a:rPr lang="uk-UA" sz="1400" dirty="0"/>
              <a:t> </a:t>
            </a:r>
            <a:r>
              <a:rPr lang="uk-UA" sz="1400" dirty="0" err="1" smtClean="0"/>
              <a:t>Introduction</a:t>
            </a:r>
            <a:r>
              <a:rPr lang="en-US" sz="1400" dirty="0" smtClean="0"/>
              <a:t>. </a:t>
            </a:r>
            <a:br>
              <a:rPr lang="en-US" sz="1400" dirty="0" smtClean="0"/>
            </a:br>
            <a:r>
              <a:rPr lang="en-US" sz="1400" dirty="0" smtClean="0"/>
              <a:t>- </a:t>
            </a:r>
            <a:r>
              <a:rPr lang="uk-UA" sz="1400" dirty="0" err="1"/>
              <a:t>Kristen</a:t>
            </a:r>
            <a:r>
              <a:rPr lang="uk-UA" sz="1400" dirty="0"/>
              <a:t> </a:t>
            </a:r>
            <a:r>
              <a:rPr lang="uk-UA" sz="1400" dirty="0" err="1"/>
              <a:t>Sosulski</a:t>
            </a:r>
            <a:r>
              <a:rPr lang="uk-UA" sz="1400" dirty="0"/>
              <a:t>, </a:t>
            </a:r>
            <a:r>
              <a:rPr lang="uk-UA" sz="1400" dirty="0" err="1"/>
              <a:t>Data</a:t>
            </a:r>
            <a:r>
              <a:rPr lang="uk-UA" sz="1400" dirty="0"/>
              <a:t> </a:t>
            </a:r>
            <a:r>
              <a:rPr lang="uk-UA" sz="1400" dirty="0" err="1"/>
              <a:t>Visualization</a:t>
            </a:r>
            <a:r>
              <a:rPr lang="uk-UA" sz="1400" dirty="0"/>
              <a:t> </a:t>
            </a:r>
            <a:r>
              <a:rPr lang="uk-UA" sz="1400" dirty="0" err="1"/>
              <a:t>Made</a:t>
            </a:r>
            <a:r>
              <a:rPr lang="uk-UA" sz="1400" dirty="0"/>
              <a:t> </a:t>
            </a:r>
            <a:r>
              <a:rPr lang="uk-UA" sz="1400" dirty="0" err="1"/>
              <a:t>Simple</a:t>
            </a:r>
            <a:r>
              <a:rPr lang="uk-UA" sz="1400" dirty="0"/>
              <a:t> </a:t>
            </a:r>
            <a:r>
              <a:rPr lang="uk-UA" sz="1400" dirty="0" err="1"/>
              <a:t>Insights</a:t>
            </a:r>
            <a:r>
              <a:rPr lang="uk-UA" sz="1400" dirty="0"/>
              <a:t> </a:t>
            </a:r>
            <a:r>
              <a:rPr lang="uk-UA" sz="1400" dirty="0" err="1"/>
              <a:t>into</a:t>
            </a:r>
            <a:r>
              <a:rPr lang="uk-UA" sz="1400" dirty="0"/>
              <a:t> </a:t>
            </a:r>
            <a:r>
              <a:rPr lang="uk-UA" sz="1400" dirty="0" err="1"/>
              <a:t>Becoming</a:t>
            </a:r>
            <a:r>
              <a:rPr lang="uk-UA" sz="1400" dirty="0"/>
              <a:t> </a:t>
            </a:r>
            <a:r>
              <a:rPr lang="uk-UA" sz="1400" dirty="0" err="1" smtClean="0"/>
              <a:t>Visual</a:t>
            </a:r>
            <a:r>
              <a:rPr lang="en-US" sz="1400" dirty="0" smtClean="0"/>
              <a:t>. </a:t>
            </a:r>
            <a:endParaRPr lang="en-US" dirty="0"/>
          </a:p>
          <a:p>
            <a:pPr lvl="0"/>
            <a:r>
              <a:rPr lang="en-US" dirty="0" smtClean="0"/>
              <a:t>Other: </a:t>
            </a:r>
            <a:endParaRPr lang="en-US" sz="1400" dirty="0" smtClean="0"/>
          </a:p>
          <a:p>
            <a:pPr marL="0" lvl="0" indent="0">
              <a:buNone/>
            </a:pPr>
            <a:r>
              <a:rPr lang="en-US" sz="1400" dirty="0" smtClean="0"/>
              <a:t>- </a:t>
            </a:r>
            <a:r>
              <a:rPr lang="en-US" sz="1400" dirty="0" err="1" smtClean="0"/>
              <a:t>GitHub</a:t>
            </a:r>
            <a:r>
              <a:rPr lang="en-US" sz="1400" dirty="0" smtClean="0"/>
              <a:t> </a:t>
            </a:r>
            <a:r>
              <a:rPr lang="uk-UA" sz="1400" dirty="0"/>
              <a:t>Гіт </a:t>
            </a:r>
            <a:r>
              <a:rPr lang="en-US" sz="1400" dirty="0" smtClean="0"/>
              <a:t>for</a:t>
            </a:r>
            <a:r>
              <a:rPr lang="uk-UA" sz="1400" dirty="0" smtClean="0"/>
              <a:t> </a:t>
            </a:r>
            <a:r>
              <a:rPr lang="uk-UA" sz="1400" dirty="0" err="1"/>
              <a:t>Claus</a:t>
            </a:r>
            <a:r>
              <a:rPr lang="uk-UA" sz="1400" dirty="0"/>
              <a:t> O. </a:t>
            </a:r>
            <a:r>
              <a:rPr lang="uk-UA" sz="1400" dirty="0" err="1"/>
              <a:t>Wilke</a:t>
            </a:r>
            <a:r>
              <a:rPr lang="uk-UA" sz="1400" dirty="0"/>
              <a:t>.  </a:t>
            </a:r>
            <a:r>
              <a:rPr lang="uk-UA" sz="1400" u="sng" dirty="0">
                <a:hlinkClick r:id="rId3"/>
              </a:rPr>
              <a:t>https://</a:t>
            </a:r>
            <a:r>
              <a:rPr lang="uk-UA" sz="1400" u="sng" dirty="0" smtClean="0">
                <a:hlinkClick r:id="rId3"/>
              </a:rPr>
              <a:t>github.com/clauswilke/dataviz</a:t>
            </a:r>
            <a:r>
              <a:rPr lang="en-US" sz="1400" u="sng" dirty="0" smtClean="0"/>
              <a:t> </a:t>
            </a:r>
            <a:r>
              <a:rPr lang="en-US" sz="1400" dirty="0" smtClean="0"/>
              <a:t>  and  </a:t>
            </a:r>
            <a:r>
              <a:rPr lang="uk-UA" sz="1400" u="sng" dirty="0" smtClean="0">
                <a:hlinkClick r:id="rId4"/>
              </a:rPr>
              <a:t>https</a:t>
            </a:r>
            <a:r>
              <a:rPr lang="uk-UA" sz="1400" u="sng" dirty="0">
                <a:hlinkClick r:id="rId4"/>
              </a:rPr>
              <a:t>://github.com/clauswilke/dviz.supp</a:t>
            </a:r>
            <a:endParaRPr lang="uk-UA" sz="1400" dirty="0"/>
          </a:p>
          <a:p>
            <a:pPr marL="0" lvl="0" indent="0">
              <a:buNone/>
            </a:pPr>
            <a:r>
              <a:rPr lang="en-US" sz="1400" dirty="0" smtClean="0"/>
              <a:t>- </a:t>
            </a:r>
            <a:r>
              <a:rPr lang="uk-UA" sz="1400" dirty="0" err="1" smtClean="0"/>
              <a:t>Visualize</a:t>
            </a:r>
            <a:r>
              <a:rPr lang="uk-UA" sz="1400" dirty="0" smtClean="0"/>
              <a:t> </a:t>
            </a:r>
            <a:r>
              <a:rPr lang="uk-UA" sz="1400" dirty="0" err="1"/>
              <a:t>It</a:t>
            </a:r>
            <a:r>
              <a:rPr lang="uk-UA" sz="1400" dirty="0"/>
              <a:t>! A </a:t>
            </a:r>
            <a:r>
              <a:rPr lang="uk-UA" sz="1400" dirty="0" err="1"/>
              <a:t>Comprehensive</a:t>
            </a:r>
            <a:r>
              <a:rPr lang="uk-UA" sz="1400" dirty="0"/>
              <a:t> </a:t>
            </a:r>
            <a:r>
              <a:rPr lang="uk-UA" sz="1400" dirty="0" err="1"/>
              <a:t>Guide</a:t>
            </a:r>
            <a:r>
              <a:rPr lang="uk-UA" sz="1400" dirty="0"/>
              <a:t> </a:t>
            </a:r>
            <a:r>
              <a:rPr lang="uk-UA" sz="1400" dirty="0" err="1"/>
              <a:t>to</a:t>
            </a:r>
            <a:r>
              <a:rPr lang="uk-UA" sz="1400" dirty="0"/>
              <a:t> </a:t>
            </a:r>
            <a:r>
              <a:rPr lang="uk-UA" sz="1400" dirty="0" err="1"/>
              <a:t>Data</a:t>
            </a:r>
            <a:r>
              <a:rPr lang="uk-UA" sz="1400" dirty="0"/>
              <a:t> </a:t>
            </a:r>
            <a:r>
              <a:rPr lang="uk-UA" sz="1400" dirty="0" err="1"/>
              <a:t>Visualization</a:t>
            </a:r>
            <a:r>
              <a:rPr lang="uk-UA" sz="1400" dirty="0"/>
              <a:t> </a:t>
            </a:r>
            <a:r>
              <a:rPr lang="en-US" sz="1400" u="sng" dirty="0">
                <a:hlinkClick r:id="rId5"/>
              </a:rPr>
              <a:t>https://www.netquest.com/hubfs/docs/ebook-data-visualization-EN.pdf</a:t>
            </a:r>
            <a:endParaRPr lang="uk-UA" sz="1400" dirty="0"/>
          </a:p>
          <a:p>
            <a:endParaRPr lang="uk-UA" sz="1600" dirty="0"/>
          </a:p>
        </p:txBody>
      </p:sp>
    </p:spTree>
    <p:extLst>
      <p:ext uri="{BB962C8B-B14F-4D97-AF65-F5344CB8AC3E}">
        <p14:creationId xmlns:p14="http://schemas.microsoft.com/office/powerpoint/2010/main" val="91551438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690114" y="720307"/>
            <a:ext cx="7556740" cy="3230592"/>
          </a:xfrm>
        </p:spPr>
        <p:txBody>
          <a:bodyPr>
            <a:normAutofit/>
          </a:bodyPr>
          <a:lstStyle/>
          <a:p>
            <a:pPr lvl="0"/>
            <a:r>
              <a:rPr lang="uk-UA" sz="1400" dirty="0" smtClean="0"/>
              <a:t>Чому </a:t>
            </a:r>
            <a:r>
              <a:rPr lang="uk-UA" sz="1400" dirty="0"/>
              <a:t>важливо якісно </a:t>
            </a:r>
            <a:r>
              <a:rPr lang="uk-UA" sz="1400" dirty="0" err="1"/>
              <a:t>візуалізувати</a:t>
            </a:r>
            <a:r>
              <a:rPr lang="uk-UA" sz="1400" dirty="0"/>
              <a:t> дані та 10 принципів, як це зробити </a:t>
            </a:r>
            <a:r>
              <a:rPr lang="uk-UA" sz="1400" u="sng" dirty="0">
                <a:hlinkClick r:id="rId2"/>
              </a:rPr>
              <a:t>https://dou.ua/forums/topic/43516/</a:t>
            </a:r>
            <a:endParaRPr lang="uk-UA" sz="1400" dirty="0"/>
          </a:p>
          <a:p>
            <a:pPr lvl="0"/>
            <a:r>
              <a:rPr lang="uk-UA" sz="1400" dirty="0" err="1"/>
              <a:t>What</a:t>
            </a:r>
            <a:r>
              <a:rPr lang="uk-UA" sz="1400" dirty="0"/>
              <a:t> </a:t>
            </a:r>
            <a:r>
              <a:rPr lang="uk-UA" sz="1400" dirty="0" err="1"/>
              <a:t>Is</a:t>
            </a:r>
            <a:r>
              <a:rPr lang="uk-UA" sz="1400" dirty="0"/>
              <a:t> </a:t>
            </a:r>
            <a:r>
              <a:rPr lang="uk-UA" sz="1400" dirty="0" err="1"/>
              <a:t>Data</a:t>
            </a:r>
            <a:r>
              <a:rPr lang="uk-UA" sz="1400" dirty="0"/>
              <a:t> </a:t>
            </a:r>
            <a:r>
              <a:rPr lang="uk-UA" sz="1400" dirty="0" err="1"/>
              <a:t>Visualization</a:t>
            </a:r>
            <a:r>
              <a:rPr lang="uk-UA" sz="1400" dirty="0"/>
              <a:t>? </a:t>
            </a:r>
            <a:r>
              <a:rPr lang="uk-UA" sz="1400" dirty="0" err="1"/>
              <a:t>Definition</a:t>
            </a:r>
            <a:r>
              <a:rPr lang="uk-UA" sz="1400" dirty="0"/>
              <a:t>, </a:t>
            </a:r>
            <a:r>
              <a:rPr lang="uk-UA" sz="1400" dirty="0" err="1"/>
              <a:t>Examples</a:t>
            </a:r>
            <a:r>
              <a:rPr lang="uk-UA" sz="1400" dirty="0"/>
              <a:t>, </a:t>
            </a:r>
            <a:r>
              <a:rPr lang="uk-UA" sz="1400" dirty="0" err="1"/>
              <a:t>And</a:t>
            </a:r>
            <a:r>
              <a:rPr lang="uk-UA" sz="1400" dirty="0"/>
              <a:t> </a:t>
            </a:r>
            <a:r>
              <a:rPr lang="uk-UA" sz="1400" dirty="0" err="1"/>
              <a:t>Learning</a:t>
            </a:r>
            <a:r>
              <a:rPr lang="uk-UA" sz="1400" dirty="0"/>
              <a:t> </a:t>
            </a:r>
            <a:r>
              <a:rPr lang="uk-UA" sz="1400" dirty="0" err="1"/>
              <a:t>Resources</a:t>
            </a:r>
            <a:r>
              <a:rPr lang="uk-UA" sz="1400" dirty="0"/>
              <a:t> </a:t>
            </a:r>
            <a:r>
              <a:rPr lang="en-US" sz="1400" u="sng" dirty="0">
                <a:hlinkClick r:id="rId3"/>
              </a:rPr>
              <a:t>https://www.tableau.com/visualization/what-is-data-visualization</a:t>
            </a:r>
            <a:endParaRPr lang="uk-UA" sz="1400" dirty="0"/>
          </a:p>
          <a:p>
            <a:pPr lvl="0"/>
            <a:r>
              <a:rPr lang="uk-UA" sz="1400" dirty="0"/>
              <a:t>Як і для чого використовувати візуалізацію даних? </a:t>
            </a:r>
            <a:r>
              <a:rPr lang="uk-UA" sz="1400" u="sng" dirty="0">
                <a:hlinkClick r:id="rId4"/>
              </a:rPr>
              <a:t>http://eidos.org.ua/novyny/yak-i-dlya-choho-vykorystovuvaty-vizualizatsiyu-danyh/</a:t>
            </a:r>
            <a:endParaRPr lang="uk-UA" sz="1400" dirty="0"/>
          </a:p>
          <a:p>
            <a:pPr lvl="0"/>
            <a:r>
              <a:rPr lang="uk-UA" sz="1400" dirty="0"/>
              <a:t>Візуалізація. Відкритий посібник з відкритих даних </a:t>
            </a:r>
            <a:r>
              <a:rPr lang="en-US" sz="1400" u="sng" dirty="0" err="1">
                <a:hlinkClick r:id="rId5"/>
              </a:rPr>
              <a:t>ht</a:t>
            </a:r>
            <a:r>
              <a:rPr lang="uk-UA" sz="1400" u="sng" dirty="0">
                <a:hlinkClick r:id="rId5"/>
              </a:rPr>
              <a:t>tps://socialdata.org.ua/manual5/</a:t>
            </a:r>
            <a:endParaRPr lang="uk-UA" sz="1400" dirty="0"/>
          </a:p>
          <a:p>
            <a:pPr lvl="0"/>
            <a:r>
              <a:rPr lang="ru-RU" sz="1400" dirty="0" err="1"/>
              <a:t>Візуалізація</a:t>
            </a:r>
            <a:r>
              <a:rPr lang="ru-RU" sz="1400" dirty="0"/>
              <a:t> </a:t>
            </a:r>
            <a:r>
              <a:rPr lang="ru-RU" sz="1400" dirty="0" err="1"/>
              <a:t>даних</a:t>
            </a:r>
            <a:r>
              <a:rPr lang="ru-RU" sz="1400" dirty="0"/>
              <a:t> з </a:t>
            </a:r>
            <a:r>
              <a:rPr lang="ru-RU" sz="1400" dirty="0" err="1"/>
              <a:t>використанням</a:t>
            </a:r>
            <a:r>
              <a:rPr lang="ru-RU" sz="1400" dirty="0"/>
              <a:t> </a:t>
            </a:r>
            <a:r>
              <a:rPr lang="ru-RU" sz="1400" dirty="0" err="1"/>
              <a:t>умовного</a:t>
            </a:r>
            <a:r>
              <a:rPr lang="ru-RU" sz="1400" dirty="0"/>
              <a:t> </a:t>
            </a:r>
            <a:r>
              <a:rPr lang="ru-RU" sz="1400" dirty="0" err="1"/>
              <a:t>форматування</a:t>
            </a:r>
            <a:r>
              <a:rPr lang="ru-RU" sz="1400" dirty="0"/>
              <a:t> і </a:t>
            </a:r>
            <a:r>
              <a:rPr lang="en-US" sz="1400" dirty="0" err="1"/>
              <a:t>sparklines</a:t>
            </a:r>
            <a:r>
              <a:rPr lang="ru-RU" sz="1400" dirty="0"/>
              <a:t>. </a:t>
            </a:r>
            <a:r>
              <a:rPr lang="ru-RU" sz="1400" dirty="0" err="1"/>
              <a:t>Аналітика</a:t>
            </a:r>
            <a:r>
              <a:rPr lang="ru-RU" sz="1400" dirty="0"/>
              <a:t> </a:t>
            </a:r>
            <a:r>
              <a:rPr lang="ru-RU" sz="1400" dirty="0" err="1"/>
              <a:t>даних</a:t>
            </a:r>
            <a:r>
              <a:rPr lang="ru-RU" sz="1400" dirty="0"/>
              <a:t> в </a:t>
            </a:r>
            <a:r>
              <a:rPr lang="en-US" sz="1400" dirty="0"/>
              <a:t>Excel </a:t>
            </a:r>
            <a:r>
              <a:rPr lang="en-US" sz="1400" u="sng" dirty="0">
                <a:hlinkClick r:id="rId6"/>
              </a:rPr>
              <a:t>https</a:t>
            </a:r>
            <a:r>
              <a:rPr lang="ru-RU" sz="1400" u="sng" dirty="0">
                <a:hlinkClick r:id="rId6"/>
              </a:rPr>
              <a:t>://</a:t>
            </a:r>
            <a:r>
              <a:rPr lang="en-US" sz="1400" u="sng" dirty="0" err="1">
                <a:hlinkClick r:id="rId6"/>
              </a:rPr>
              <a:t>youtu</a:t>
            </a:r>
            <a:r>
              <a:rPr lang="ru-RU" sz="1400" u="sng" dirty="0">
                <a:hlinkClick r:id="rId6"/>
              </a:rPr>
              <a:t>.</a:t>
            </a:r>
            <a:r>
              <a:rPr lang="en-US" sz="1400" u="sng" dirty="0">
                <a:hlinkClick r:id="rId6"/>
              </a:rPr>
              <a:t>be</a:t>
            </a:r>
            <a:r>
              <a:rPr lang="ru-RU" sz="1400" u="sng" dirty="0">
                <a:hlinkClick r:id="rId6"/>
              </a:rPr>
              <a:t>/</a:t>
            </a:r>
            <a:r>
              <a:rPr lang="en-US" sz="1400" u="sng" dirty="0" err="1">
                <a:hlinkClick r:id="rId6"/>
              </a:rPr>
              <a:t>zljVZT</a:t>
            </a:r>
            <a:r>
              <a:rPr lang="ru-RU" sz="1400" u="sng" dirty="0">
                <a:hlinkClick r:id="rId6"/>
              </a:rPr>
              <a:t>2</a:t>
            </a:r>
            <a:r>
              <a:rPr lang="en-US" sz="1400" u="sng" dirty="0">
                <a:hlinkClick r:id="rId6"/>
              </a:rPr>
              <a:t>V</a:t>
            </a:r>
            <a:r>
              <a:rPr lang="ru-RU" sz="1400" u="sng" dirty="0">
                <a:hlinkClick r:id="rId6"/>
              </a:rPr>
              <a:t>_</a:t>
            </a:r>
            <a:r>
              <a:rPr lang="en-US" sz="1400" u="sng" dirty="0" err="1">
                <a:hlinkClick r:id="rId6"/>
              </a:rPr>
              <a:t>xA</a:t>
            </a:r>
            <a:r>
              <a:rPr lang="ru-RU" sz="1400" u="sng" dirty="0">
                <a:hlinkClick r:id="rId6"/>
              </a:rPr>
              <a:t>?</a:t>
            </a:r>
            <a:r>
              <a:rPr lang="en-US" sz="1400" u="sng" dirty="0" err="1">
                <a:hlinkClick r:id="rId6"/>
              </a:rPr>
              <a:t>si</a:t>
            </a:r>
            <a:r>
              <a:rPr lang="ru-RU" sz="1400" u="sng" dirty="0">
                <a:hlinkClick r:id="rId6"/>
              </a:rPr>
              <a:t>=</a:t>
            </a:r>
            <a:r>
              <a:rPr lang="en-US" sz="1400" u="sng" dirty="0" err="1">
                <a:hlinkClick r:id="rId6"/>
              </a:rPr>
              <a:t>usGlUnWfEACKzxtk</a:t>
            </a:r>
            <a:endParaRPr lang="uk-UA" sz="1400" dirty="0"/>
          </a:p>
          <a:p>
            <a:pPr lvl="0"/>
            <a:r>
              <a:rPr lang="en-US" sz="1400" dirty="0"/>
              <a:t>10 Advanced Excel Charts </a:t>
            </a:r>
            <a:r>
              <a:rPr lang="uk-UA" sz="1400" u="sng" dirty="0">
                <a:hlinkClick r:id="rId7"/>
              </a:rPr>
              <a:t>https://youtu.be/lUjZa4YBixI</a:t>
            </a:r>
            <a:endParaRPr lang="uk-UA" sz="1400" dirty="0"/>
          </a:p>
          <a:p>
            <a:pPr lvl="0"/>
            <a:r>
              <a:rPr lang="uk-UA" sz="1400" dirty="0"/>
              <a:t>13 </a:t>
            </a:r>
            <a:r>
              <a:rPr lang="uk-UA" sz="1400" dirty="0" err="1"/>
              <a:t>Scientific</a:t>
            </a:r>
            <a:r>
              <a:rPr lang="uk-UA" sz="1400" dirty="0"/>
              <a:t> </a:t>
            </a:r>
            <a:r>
              <a:rPr lang="uk-UA" sz="1400" dirty="0" err="1"/>
              <a:t>Reason</a:t>
            </a:r>
            <a:r>
              <a:rPr lang="uk-UA" sz="1400" dirty="0"/>
              <a:t> </a:t>
            </a:r>
            <a:r>
              <a:rPr lang="uk-UA" sz="1400" dirty="0" err="1"/>
              <a:t>Why</a:t>
            </a:r>
            <a:r>
              <a:rPr lang="uk-UA" sz="1400" dirty="0"/>
              <a:t> </a:t>
            </a:r>
            <a:r>
              <a:rPr lang="uk-UA" sz="1400" dirty="0" err="1"/>
              <a:t>Your</a:t>
            </a:r>
            <a:r>
              <a:rPr lang="uk-UA" sz="1400" dirty="0"/>
              <a:t> </a:t>
            </a:r>
            <a:r>
              <a:rPr lang="uk-UA" sz="1400" dirty="0" err="1"/>
              <a:t>Brain</a:t>
            </a:r>
            <a:r>
              <a:rPr lang="uk-UA" sz="1400" dirty="0"/>
              <a:t> </a:t>
            </a:r>
            <a:r>
              <a:rPr lang="uk-UA" sz="1400" dirty="0" err="1"/>
              <a:t>Craves</a:t>
            </a:r>
            <a:r>
              <a:rPr lang="uk-UA" sz="1400" dirty="0"/>
              <a:t> </a:t>
            </a:r>
            <a:r>
              <a:rPr lang="uk-UA" sz="1400" dirty="0" err="1"/>
              <a:t>Infographics</a:t>
            </a:r>
            <a:r>
              <a:rPr lang="uk-UA" sz="1400" dirty="0"/>
              <a:t> </a:t>
            </a:r>
            <a:r>
              <a:rPr lang="uk-UA" sz="1400" u="sng" dirty="0">
                <a:hlinkClick r:id="rId8"/>
              </a:rPr>
              <a:t>https://neomam.com/13reasons/</a:t>
            </a:r>
            <a:endParaRPr lang="uk-UA" sz="1400" dirty="0"/>
          </a:p>
          <a:p>
            <a:endParaRPr lang="uk-UA" dirty="0"/>
          </a:p>
        </p:txBody>
      </p:sp>
    </p:spTree>
    <p:extLst>
      <p:ext uri="{BB962C8B-B14F-4D97-AF65-F5344CB8AC3E}">
        <p14:creationId xmlns:p14="http://schemas.microsoft.com/office/powerpoint/2010/main" val="401425430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528</TotalTime>
  <Words>1354</Words>
  <Application>Microsoft Office PowerPoint</Application>
  <PresentationFormat>Экран (4:3)</PresentationFormat>
  <Paragraphs>208</Paragraphs>
  <Slides>37</Slides>
  <Notes>27</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37</vt:i4>
      </vt:variant>
    </vt:vector>
  </HeadingPairs>
  <TitlesOfParts>
    <vt:vector size="44" baseType="lpstr">
      <vt:lpstr>MS PGothic</vt:lpstr>
      <vt:lpstr>Arial</vt:lpstr>
      <vt:lpstr>Calibri</vt:lpstr>
      <vt:lpstr>Exo</vt:lpstr>
      <vt:lpstr>Lucida Sans Unicode</vt:lpstr>
      <vt:lpstr>Wingdings</vt:lpstr>
      <vt:lpstr>Office Theme</vt:lpstr>
      <vt:lpstr>Презентация PowerPoint</vt:lpstr>
      <vt:lpstr>Section 1. Basics of Data Visualization</vt:lpstr>
      <vt:lpstr>What Is Data Visualization?</vt:lpstr>
      <vt:lpstr>Презентация PowerPoint</vt:lpstr>
      <vt:lpstr>Why Visualize Data?</vt:lpstr>
      <vt:lpstr>Why Visualize Data?</vt:lpstr>
      <vt:lpstr>Why Visualize Data?</vt:lpstr>
      <vt:lpstr>Why Visualize Data?</vt:lpstr>
      <vt:lpstr>Why Visualize Data?</vt:lpstr>
      <vt:lpstr>Why Visualize Data?</vt:lpstr>
      <vt:lpstr>Why Visualize Data?</vt:lpstr>
      <vt:lpstr>Why Visualize Data?</vt:lpstr>
      <vt:lpstr>Why Visualize Data?</vt:lpstr>
      <vt:lpstr>Why Visualize Data?</vt:lpstr>
      <vt:lpstr>Why Visualize Data?</vt:lpstr>
      <vt:lpstr>Why Visualize Data?</vt:lpstr>
      <vt:lpstr>Why Visualize Data?</vt:lpstr>
      <vt:lpstr>Why Visualize Data?</vt:lpstr>
      <vt:lpstr>Why Visualize Data?</vt:lpstr>
      <vt:lpstr>Why Visualize Data?</vt:lpstr>
      <vt:lpstr>Why Visualize Data?</vt:lpstr>
      <vt:lpstr>Why Visualize Data?</vt:lpstr>
      <vt:lpstr>Why Visualize Data?</vt:lpstr>
      <vt:lpstr>Tools for visualization</vt:lpstr>
      <vt:lpstr>Tools for visualization</vt:lpstr>
      <vt:lpstr>Tools for visualization</vt:lpstr>
      <vt:lpstr>Tools for visualization</vt:lpstr>
      <vt:lpstr>Tools for visualization</vt:lpstr>
      <vt:lpstr>Tools for visualization</vt:lpstr>
      <vt:lpstr>Tools for visualization</vt:lpstr>
      <vt:lpstr>Tools for visualization</vt:lpstr>
      <vt:lpstr>Tools for visualization</vt:lpstr>
      <vt:lpstr>Tools for visualization</vt:lpstr>
      <vt:lpstr>Tools for visualization</vt:lpstr>
      <vt:lpstr>Tools for visualization</vt:lpstr>
      <vt:lpstr>Resources, References, Materials</vt:lpstr>
      <vt:lpstr>Презентация PowerPoint</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Александр Леонов</dc:creator>
  <cp:keywords/>
  <dc:description>generated using python-pptx</dc:description>
  <cp:lastModifiedBy>Oleksandr</cp:lastModifiedBy>
  <cp:revision>51</cp:revision>
  <dcterms:created xsi:type="dcterms:W3CDTF">2013-01-27T09:14:16Z</dcterms:created>
  <dcterms:modified xsi:type="dcterms:W3CDTF">2025-09-18T19:50:43Z</dcterms:modified>
  <cp:category/>
</cp:coreProperties>
</file>