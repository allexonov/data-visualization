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5" r:id="rId4"/>
    <p:sldId id="260" r:id="rId5"/>
    <p:sldId id="262" r:id="rId6"/>
    <p:sldId id="264" r:id="rId7"/>
    <p:sldId id="263" r:id="rId8"/>
    <p:sldId id="266" r:id="rId9"/>
    <p:sldId id="268" r:id="rId10"/>
    <p:sldId id="267" r:id="rId11"/>
    <p:sldId id="269" r:id="rId12"/>
    <p:sldId id="272" r:id="rId13"/>
    <p:sldId id="271" r:id="rId14"/>
    <p:sldId id="273" r:id="rId15"/>
    <p:sldId id="274" r:id="rId16"/>
    <p:sldId id="275" r:id="rId17"/>
    <p:sldId id="277" r:id="rId18"/>
    <p:sldId id="259" r:id="rId19"/>
    <p:sldId id="258" r:id="rId20"/>
    <p:sldId id="278" r:id="rId21"/>
    <p:sldId id="279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9" r:id="rId30"/>
    <p:sldId id="288" r:id="rId31"/>
    <p:sldId id="276" r:id="rId32"/>
    <p:sldId id="291" r:id="rId33"/>
    <p:sldId id="292" r:id="rId34"/>
    <p:sldId id="297" r:id="rId35"/>
    <p:sldId id="290" r:id="rId36"/>
    <p:sldId id="293" r:id="rId37"/>
    <p:sldId id="294" r:id="rId38"/>
    <p:sldId id="314" r:id="rId39"/>
    <p:sldId id="295" r:id="rId40"/>
    <p:sldId id="296" r:id="rId41"/>
    <p:sldId id="299" r:id="rId42"/>
    <p:sldId id="300" r:id="rId43"/>
    <p:sldId id="302" r:id="rId44"/>
    <p:sldId id="303" r:id="rId45"/>
    <p:sldId id="304" r:id="rId46"/>
    <p:sldId id="305" r:id="rId47"/>
    <p:sldId id="307" r:id="rId48"/>
    <p:sldId id="309" r:id="rId49"/>
    <p:sldId id="315" r:id="rId50"/>
    <p:sldId id="316" r:id="rId51"/>
    <p:sldId id="311" r:id="rId52"/>
    <p:sldId id="313" r:id="rId53"/>
    <p:sldId id="306" r:id="rId54"/>
    <p:sldId id="310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eksandr" initials="OL" lastIdx="5" clrIdx="0">
    <p:extLst>
      <p:ext uri="{19B8F6BF-5375-455C-9EA6-DF929625EA0E}">
        <p15:presenceInfo xmlns:p15="http://schemas.microsoft.com/office/powerpoint/2012/main" userId="Oleksand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CCCC00"/>
    <a:srgbClr val="8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19" autoAdjust="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8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19T09:50:38.867" idx="1">
    <p:pos x="5338" y="2823"/>
    <p:text>most
people find it difficult to remember which color represents which category if more than
four different colors/categories are used in a bar or column chart</p:text>
    <p:extLst>
      <p:ext uri="{C676402C-5697-4E1C-873F-D02D1690AC5C}">
        <p15:threadingInfo xmlns:p15="http://schemas.microsoft.com/office/powerpoint/2012/main" timeZoneBias="-180"/>
      </p:ext>
    </p:extLst>
  </p:cm>
  <p:cm authorId="1" dt="2025-09-19T09:51:39.409" idx="2">
    <p:pos x="5326" y="2411"/>
    <p:text>processed automatically</p:text>
    <p:extLst>
      <p:ext uri="{C676402C-5697-4E1C-873F-D02D1690AC5C}">
        <p15:threadingInfo xmlns:p15="http://schemas.microsoft.com/office/powerpoint/2012/main" timeZoneBias="-180"/>
      </p:ext>
    </p:extLst>
  </p:cm>
  <p:cm authorId="1" dt="2025-09-19T09:56:42.103" idx="5">
    <p:pos x="5332" y="3142"/>
    <p:text>formed through repetition and rehearsal, but also through clever use of storytelling</p:text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902" y="1216326"/>
            <a:ext cx="8824823" cy="2228850"/>
          </a:xfrm>
        </p:spPr>
        <p:txBody>
          <a:bodyPr>
            <a:normAutofit/>
          </a:bodyPr>
          <a:lstStyle/>
          <a:p>
            <a:r>
              <a:rPr lang="en-US" b="1" dirty="0" smtClean="0"/>
              <a:t>Section </a:t>
            </a:r>
            <a:r>
              <a:rPr b="1" dirty="0" smtClean="0"/>
              <a:t>1</a:t>
            </a:r>
            <a:r>
              <a:rPr b="1" dirty="0"/>
              <a:t>.</a:t>
            </a:r>
            <a:r>
              <a:rPr dirty="0"/>
              <a:t> </a:t>
            </a:r>
            <a:r>
              <a:rPr lang="en-US" dirty="0" smtClean="0"/>
              <a:t>Basics of Data Visualization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059" y="3321170"/>
            <a:ext cx="6987397" cy="231763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Lection </a:t>
            </a:r>
            <a:r>
              <a:rPr lang="uk-UA" dirty="0" smtClean="0">
                <a:solidFill>
                  <a:srgbClr val="0070C0"/>
                </a:solidFill>
              </a:rPr>
              <a:t>3</a:t>
            </a:r>
            <a:r>
              <a:rPr dirty="0" smtClean="0">
                <a:solidFill>
                  <a:srgbClr val="0070C0"/>
                </a:solidFill>
              </a:rPr>
              <a:t>.</a:t>
            </a:r>
            <a:r>
              <a:rPr dirty="0" smtClean="0"/>
              <a:t> </a:t>
            </a:r>
            <a:r>
              <a:rPr lang="en-US" dirty="0" smtClean="0"/>
              <a:t>Scales</a:t>
            </a:r>
            <a:r>
              <a:rPr lang="en-US" dirty="0"/>
              <a:t>, </a:t>
            </a:r>
            <a:r>
              <a:rPr lang="en-US" dirty="0" smtClean="0"/>
              <a:t>proportions, colors. </a:t>
            </a:r>
            <a:r>
              <a:rPr lang="en-US" dirty="0"/>
              <a:t>Annotations and explanatory </a:t>
            </a:r>
            <a:r>
              <a:rPr lang="en-US" dirty="0" smtClean="0"/>
              <a:t>elements. </a:t>
            </a:r>
            <a:r>
              <a:rPr lang="en-US" dirty="0"/>
              <a:t>Common Mistakes in </a:t>
            </a:r>
            <a:r>
              <a:rPr lang="en-US" dirty="0" smtClean="0"/>
              <a:t>DV </a:t>
            </a:r>
            <a:r>
              <a:rPr lang="en-US" dirty="0"/>
              <a:t>Design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199" y="169031"/>
            <a:ext cx="8541945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Basic principles of Visual </a:t>
            </a:r>
            <a:r>
              <a:rPr lang="en-AU" b="1" dirty="0" smtClean="0"/>
              <a:t>Perception</a:t>
            </a:r>
            <a:endParaRPr lang="uk-UA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500612"/>
            <a:ext cx="8229600" cy="4525963"/>
          </a:xfrm>
        </p:spPr>
        <p:txBody>
          <a:bodyPr>
            <a:normAutofit/>
          </a:bodyPr>
          <a:lstStyle/>
          <a:p>
            <a:r>
              <a:rPr lang="en-AU" dirty="0"/>
              <a:t>eyes </a:t>
            </a:r>
            <a:r>
              <a:rPr lang="en-AU" dirty="0" smtClean="0"/>
              <a:t>+ brains</a:t>
            </a:r>
          </a:p>
          <a:p>
            <a:pPr marL="0" indent="0">
              <a:buNone/>
            </a:pPr>
            <a:endParaRPr lang="en-AU" dirty="0" smtClean="0"/>
          </a:p>
          <a:p>
            <a:pPr lvl="1"/>
            <a:r>
              <a:rPr lang="en-AU" dirty="0" smtClean="0"/>
              <a:t>Colour</a:t>
            </a:r>
            <a:r>
              <a:rPr lang="en-AU" dirty="0"/>
              <a:t>, </a:t>
            </a:r>
            <a:r>
              <a:rPr lang="en-AU" dirty="0" smtClean="0"/>
              <a:t>Position, Form </a:t>
            </a:r>
            <a:endParaRPr lang="en-AU" sz="2400" dirty="0" smtClean="0"/>
          </a:p>
          <a:p>
            <a:pPr lvl="1"/>
            <a:r>
              <a:rPr lang="en-AU" dirty="0" smtClean="0"/>
              <a:t>Memory:</a:t>
            </a:r>
          </a:p>
          <a:p>
            <a:pPr lvl="2"/>
            <a:r>
              <a:rPr lang="en-US" dirty="0" smtClean="0">
                <a:solidFill>
                  <a:srgbClr val="00B0F0"/>
                </a:solidFill>
              </a:rPr>
              <a:t>Iconic </a:t>
            </a:r>
            <a:r>
              <a:rPr lang="en-US" dirty="0">
                <a:solidFill>
                  <a:srgbClr val="00B0F0"/>
                </a:solidFill>
              </a:rPr>
              <a:t>memory:</a:t>
            </a:r>
            <a:r>
              <a:rPr lang="en-US" dirty="0"/>
              <a:t> the quickest, information held &lt; </a:t>
            </a:r>
            <a:r>
              <a:rPr lang="en-US" dirty="0">
                <a:solidFill>
                  <a:srgbClr val="FF0000"/>
                </a:solidFill>
              </a:rPr>
              <a:t>1 sec</a:t>
            </a:r>
            <a:r>
              <a:rPr lang="en-US" dirty="0"/>
              <a:t>  </a:t>
            </a:r>
          </a:p>
          <a:p>
            <a:pPr marL="1371600" lvl="3" indent="-203200">
              <a:buNone/>
            </a:pPr>
            <a:r>
              <a:rPr lang="en-US" sz="1400" i="1" u="sng" dirty="0" err="1" smtClean="0"/>
              <a:t>Preattentive</a:t>
            </a:r>
            <a:r>
              <a:rPr lang="en-US" sz="1400" i="1" u="sng" dirty="0" smtClean="0"/>
              <a:t> attributes</a:t>
            </a:r>
            <a:r>
              <a:rPr lang="en-US" sz="1400" i="1" dirty="0" smtClean="0"/>
              <a:t> are those features that can be processed by iconic memory</a:t>
            </a:r>
            <a:endParaRPr lang="en-US" dirty="0" smtClean="0"/>
          </a:p>
          <a:p>
            <a:pPr lvl="2"/>
            <a:r>
              <a:rPr lang="en-AU" dirty="0" smtClean="0">
                <a:solidFill>
                  <a:srgbClr val="00B0F0"/>
                </a:solidFill>
              </a:rPr>
              <a:t>Short-term memory: </a:t>
            </a:r>
            <a:r>
              <a:rPr lang="en-US" dirty="0" smtClean="0"/>
              <a:t>information held ~ </a:t>
            </a:r>
            <a:r>
              <a:rPr lang="en-US" dirty="0" smtClean="0">
                <a:solidFill>
                  <a:srgbClr val="FFC000"/>
                </a:solidFill>
              </a:rPr>
              <a:t>1 min </a:t>
            </a:r>
          </a:p>
          <a:p>
            <a:pPr lvl="2"/>
            <a:r>
              <a:rPr lang="en-US" dirty="0" smtClean="0"/>
              <a:t>Long-term </a:t>
            </a:r>
            <a:r>
              <a:rPr lang="en-US" dirty="0"/>
              <a:t>memory: an extended amount of time </a:t>
            </a:r>
            <a:r>
              <a:rPr lang="en-US" dirty="0" smtClean="0"/>
              <a:t>⌚</a:t>
            </a:r>
            <a:endParaRPr lang="en-AU" dirty="0" smtClean="0"/>
          </a:p>
          <a:p>
            <a:pPr marL="457200" lvl="1" indent="0">
              <a:buNone/>
            </a:pPr>
            <a:endParaRPr lang="en-AU" dirty="0" smtClean="0"/>
          </a:p>
          <a:p>
            <a:pPr marL="914400" lvl="2" indent="0">
              <a:buNone/>
            </a:pPr>
            <a:endParaRPr lang="en-US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t="25345" b="16386"/>
          <a:stretch/>
        </p:blipFill>
        <p:spPr>
          <a:xfrm>
            <a:off x="4430338" y="1430448"/>
            <a:ext cx="3298434" cy="98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180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194"/>
            <a:ext cx="8229600" cy="1143000"/>
          </a:xfrm>
        </p:spPr>
        <p:txBody>
          <a:bodyPr>
            <a:normAutofit/>
          </a:bodyPr>
          <a:lstStyle/>
          <a:p>
            <a:r>
              <a:rPr lang="en-AU" b="1" dirty="0" err="1" smtClean="0"/>
              <a:t>Preattentive</a:t>
            </a:r>
            <a:r>
              <a:rPr lang="en-AU" b="1" dirty="0" smtClean="0"/>
              <a:t> attributes</a:t>
            </a:r>
            <a:endParaRPr lang="uk-UA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73194"/>
            <a:ext cx="8514784" cy="5483608"/>
          </a:xfrm>
        </p:spPr>
        <p:txBody>
          <a:bodyPr>
            <a:normAutofit fontScale="92500" lnSpcReduction="20000"/>
          </a:bodyPr>
          <a:lstStyle/>
          <a:p>
            <a:r>
              <a:rPr lang="en-US" i="1" dirty="0" smtClean="0">
                <a:solidFill>
                  <a:srgbClr val="00B0F0"/>
                </a:solidFill>
              </a:rPr>
              <a:t>Color</a:t>
            </a:r>
            <a:r>
              <a:rPr lang="en-US" i="1" dirty="0" smtClean="0"/>
              <a:t> </a:t>
            </a:r>
            <a:r>
              <a:rPr lang="en-US" dirty="0" smtClean="0"/>
              <a:t>attributes</a:t>
            </a:r>
            <a:r>
              <a:rPr lang="en-US" i="1" dirty="0" smtClean="0"/>
              <a:t>:</a:t>
            </a:r>
          </a:p>
          <a:p>
            <a:pPr lvl="1"/>
            <a:r>
              <a:rPr lang="en-US" dirty="0" smtClean="0"/>
              <a:t>       Hue (differs colors, </a:t>
            </a:r>
            <a:r>
              <a:rPr lang="en-US" sz="1400" dirty="0" smtClean="0"/>
              <a:t>the </a:t>
            </a:r>
            <a:r>
              <a:rPr lang="en-US" sz="1400" dirty="0"/>
              <a:t>position the light occupies on the visible light </a:t>
            </a:r>
            <a:r>
              <a:rPr lang="en-US" sz="1400" dirty="0" smtClean="0"/>
              <a:t>spectrum</a:t>
            </a:r>
            <a:r>
              <a:rPr lang="en-US" dirty="0" smtClean="0"/>
              <a:t>) </a:t>
            </a:r>
          </a:p>
          <a:p>
            <a:pPr lvl="1"/>
            <a:r>
              <a:rPr lang="en-US" dirty="0" smtClean="0"/>
              <a:t>       Saturation (intensity of </a:t>
            </a:r>
            <a:r>
              <a:rPr lang="en-US" dirty="0"/>
              <a:t>the color, </a:t>
            </a:r>
            <a:r>
              <a:rPr lang="en-US" sz="1400" dirty="0" smtClean="0"/>
              <a:t>the </a:t>
            </a:r>
            <a:r>
              <a:rPr lang="en-US" sz="1400" dirty="0"/>
              <a:t>amount of gray in the </a:t>
            </a:r>
            <a:r>
              <a:rPr lang="en-US" sz="1400" dirty="0" smtClean="0"/>
              <a:t>color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       Luminance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smtClean="0"/>
              <a:t>(amount </a:t>
            </a:r>
            <a:r>
              <a:rPr lang="en-US" dirty="0"/>
              <a:t>of black versus </a:t>
            </a:r>
            <a:r>
              <a:rPr lang="en-US" dirty="0" smtClean="0"/>
              <a:t>white)</a:t>
            </a:r>
          </a:p>
          <a:p>
            <a:endParaRPr lang="en-US" dirty="0" smtClean="0"/>
          </a:p>
          <a:p>
            <a:r>
              <a:rPr lang="en-US" dirty="0" smtClean="0"/>
              <a:t>Position</a:t>
            </a:r>
          </a:p>
          <a:p>
            <a:endParaRPr lang="en-US" dirty="0" smtClean="0"/>
          </a:p>
          <a:p>
            <a:r>
              <a:rPr lang="en-US" dirty="0" smtClean="0"/>
              <a:t>Form</a:t>
            </a:r>
          </a:p>
          <a:p>
            <a:pPr lvl="1"/>
            <a:r>
              <a:rPr lang="en-US" dirty="0" smtClean="0"/>
              <a:t>orientation</a:t>
            </a:r>
          </a:p>
          <a:p>
            <a:pPr lvl="1"/>
            <a:r>
              <a:rPr lang="en-US" dirty="0" smtClean="0"/>
              <a:t>size</a:t>
            </a:r>
          </a:p>
          <a:p>
            <a:pPr lvl="1"/>
            <a:r>
              <a:rPr lang="en-US" dirty="0" smtClean="0"/>
              <a:t>shape</a:t>
            </a:r>
          </a:p>
          <a:p>
            <a:pPr lvl="1"/>
            <a:r>
              <a:rPr lang="en-US" dirty="0" smtClean="0"/>
              <a:t>length</a:t>
            </a:r>
          </a:p>
          <a:p>
            <a:pPr lvl="1"/>
            <a:r>
              <a:rPr lang="en-US" dirty="0" smtClean="0"/>
              <a:t>width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012" y="1548142"/>
            <a:ext cx="525101" cy="127918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3259" t="12634" r="3824" b="6693"/>
          <a:stretch/>
        </p:blipFill>
        <p:spPr>
          <a:xfrm>
            <a:off x="3902042" y="3476531"/>
            <a:ext cx="4599161" cy="31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45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 err="1" smtClean="0"/>
              <a:t>Preattentive</a:t>
            </a:r>
            <a:r>
              <a:rPr lang="en-AU" b="1" dirty="0" smtClean="0"/>
              <a:t> </a:t>
            </a:r>
            <a:r>
              <a:rPr lang="en-AU" b="1" dirty="0"/>
              <a:t>attributes in data visualization</a:t>
            </a:r>
            <a:endParaRPr lang="uk-UA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465" y="1600200"/>
            <a:ext cx="675707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644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38938"/>
          </a:xfrm>
        </p:spPr>
        <p:txBody>
          <a:bodyPr>
            <a:normAutofit/>
          </a:bodyPr>
          <a:lstStyle/>
          <a:p>
            <a:r>
              <a:rPr lang="en-AU" b="1" dirty="0" err="1" smtClean="0"/>
              <a:t>Preattentive</a:t>
            </a:r>
            <a:r>
              <a:rPr lang="en-AU" b="1" dirty="0" smtClean="0"/>
              <a:t> attributes</a:t>
            </a:r>
            <a:endParaRPr lang="uk-UA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88" y="1496430"/>
            <a:ext cx="7313570" cy="504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94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116" y="320072"/>
            <a:ext cx="6439799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205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285" y="295384"/>
            <a:ext cx="6910368" cy="590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1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Gestalt Principles</a:t>
            </a:r>
            <a:endParaRPr lang="uk-UA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Similarity (</a:t>
            </a:r>
            <a:r>
              <a:rPr lang="en-US" sz="1600" dirty="0"/>
              <a:t>objects with similar characteristics </a:t>
            </a:r>
            <a:r>
              <a:rPr lang="en-US" sz="1600" dirty="0" smtClean="0"/>
              <a:t>belong to </a:t>
            </a:r>
            <a:r>
              <a:rPr lang="en-US" sz="1600" dirty="0"/>
              <a:t>the same group</a:t>
            </a:r>
            <a:r>
              <a:rPr lang="en-AU" dirty="0" smtClean="0"/>
              <a:t>)</a:t>
            </a:r>
          </a:p>
          <a:p>
            <a:r>
              <a:rPr lang="en-AU" dirty="0" smtClean="0"/>
              <a:t>Proximity (</a:t>
            </a:r>
            <a:r>
              <a:rPr lang="en-US" sz="1600" dirty="0"/>
              <a:t>close to one another </a:t>
            </a:r>
            <a:r>
              <a:rPr lang="en-US" sz="1600" dirty="0" smtClean="0"/>
              <a:t>objects belong to </a:t>
            </a:r>
            <a:r>
              <a:rPr lang="en-US" sz="1600" dirty="0"/>
              <a:t>the same</a:t>
            </a:r>
            <a:r>
              <a:rPr lang="en-US" sz="1600" dirty="0" smtClean="0"/>
              <a:t> </a:t>
            </a:r>
            <a:r>
              <a:rPr lang="en-US" sz="1600" dirty="0"/>
              <a:t>group</a:t>
            </a:r>
            <a:r>
              <a:rPr lang="en-AU" dirty="0" smtClean="0"/>
              <a:t>)</a:t>
            </a:r>
          </a:p>
          <a:p>
            <a:r>
              <a:rPr lang="en-US" dirty="0" smtClean="0"/>
              <a:t>Enclosure (</a:t>
            </a:r>
            <a:r>
              <a:rPr lang="en-US" sz="1600" dirty="0"/>
              <a:t>enclosed together </a:t>
            </a:r>
            <a:r>
              <a:rPr lang="en-US" sz="1600" dirty="0" smtClean="0"/>
              <a:t>objects belong </a:t>
            </a:r>
            <a:r>
              <a:rPr lang="en-US" sz="1600" dirty="0"/>
              <a:t>to the same </a:t>
            </a:r>
            <a:r>
              <a:rPr lang="en-US" sz="1600" dirty="0" smtClean="0"/>
              <a:t>group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Connection (</a:t>
            </a:r>
            <a:r>
              <a:rPr lang="en-US" sz="1600" dirty="0" smtClean="0"/>
              <a:t>connected objects belong </a:t>
            </a:r>
            <a:r>
              <a:rPr lang="en-US" sz="1600" dirty="0"/>
              <a:t>to the same </a:t>
            </a:r>
            <a:r>
              <a:rPr lang="en-US" sz="1600" dirty="0" smtClean="0"/>
              <a:t>group</a:t>
            </a:r>
            <a:r>
              <a:rPr lang="en-US" dirty="0" smtClean="0"/>
              <a:t>)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20696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Gestalt Principles</a:t>
            </a:r>
            <a:endParaRPr lang="uk-UA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Similarity (</a:t>
            </a:r>
            <a:r>
              <a:rPr lang="en-US" sz="1600" dirty="0"/>
              <a:t>objects with similar characteristics </a:t>
            </a:r>
            <a:r>
              <a:rPr lang="en-US" sz="1600" dirty="0" smtClean="0"/>
              <a:t>belong to </a:t>
            </a:r>
            <a:r>
              <a:rPr lang="en-US" sz="1600" dirty="0"/>
              <a:t>the same group</a:t>
            </a:r>
            <a:r>
              <a:rPr lang="en-AU" dirty="0" smtClean="0"/>
              <a:t>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774" y="2510442"/>
            <a:ext cx="6535062" cy="270547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321806" y="5503040"/>
            <a:ext cx="70798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characteristics could be 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color</a:t>
            </a:r>
            <a:r>
              <a:rPr lang="en-US" dirty="0"/>
              <a:t>, shape, size, </a:t>
            </a:r>
            <a:r>
              <a:rPr lang="en-US" dirty="0" smtClean="0"/>
              <a:t>orientation (any </a:t>
            </a:r>
            <a:r>
              <a:rPr lang="en-US" dirty="0" err="1"/>
              <a:t>preattentive</a:t>
            </a:r>
            <a:r>
              <a:rPr lang="en-US" dirty="0"/>
              <a:t> </a:t>
            </a:r>
            <a:r>
              <a:rPr lang="en-US" dirty="0" smtClean="0"/>
              <a:t>attribute)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90981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Gestalt Principles</a:t>
            </a:r>
            <a:endParaRPr lang="uk-UA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28596"/>
            <a:ext cx="8229600" cy="4525963"/>
          </a:xfrm>
        </p:spPr>
        <p:txBody>
          <a:bodyPr/>
          <a:lstStyle/>
          <a:p>
            <a:r>
              <a:rPr lang="en-AU" dirty="0" smtClean="0"/>
              <a:t>Proximity (</a:t>
            </a:r>
            <a:r>
              <a:rPr lang="en-US" sz="1600" dirty="0"/>
              <a:t>close to one another </a:t>
            </a:r>
            <a:r>
              <a:rPr lang="en-US" sz="1600" dirty="0" smtClean="0"/>
              <a:t>objects belong to </a:t>
            </a:r>
            <a:r>
              <a:rPr lang="en-US" sz="1600" dirty="0"/>
              <a:t>the same</a:t>
            </a:r>
            <a:r>
              <a:rPr lang="en-US" sz="1600" dirty="0" smtClean="0"/>
              <a:t> </a:t>
            </a:r>
            <a:r>
              <a:rPr lang="en-US" sz="1600" dirty="0"/>
              <a:t>group</a:t>
            </a:r>
            <a:r>
              <a:rPr lang="en-AU" dirty="0" smtClean="0"/>
              <a:t>)</a:t>
            </a:r>
          </a:p>
          <a:p>
            <a:endParaRPr lang="en-A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790" y="1974181"/>
            <a:ext cx="6518233" cy="473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836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34"/>
            <a:ext cx="8229600" cy="1143000"/>
          </a:xfrm>
        </p:spPr>
        <p:txBody>
          <a:bodyPr/>
          <a:lstStyle/>
          <a:p>
            <a:r>
              <a:rPr lang="en-AU" b="1" dirty="0"/>
              <a:t>Gestalt Principles</a:t>
            </a:r>
            <a:endParaRPr lang="uk-UA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11725"/>
            <a:ext cx="8229600" cy="4525963"/>
          </a:xfrm>
        </p:spPr>
        <p:txBody>
          <a:bodyPr/>
          <a:lstStyle/>
          <a:p>
            <a:r>
              <a:rPr lang="en-US" dirty="0" smtClean="0"/>
              <a:t>Enclosure (</a:t>
            </a:r>
            <a:r>
              <a:rPr lang="en-US" sz="1600" dirty="0"/>
              <a:t>enclosed together </a:t>
            </a:r>
            <a:r>
              <a:rPr lang="en-US" sz="1600" dirty="0" smtClean="0"/>
              <a:t>objects belong </a:t>
            </a:r>
            <a:r>
              <a:rPr lang="en-US" sz="1600" dirty="0"/>
              <a:t>to the same </a:t>
            </a:r>
            <a:r>
              <a:rPr lang="en-US" sz="1600" dirty="0" smtClean="0"/>
              <a:t>group</a:t>
            </a:r>
            <a:r>
              <a:rPr lang="en-US" dirty="0" smtClean="0"/>
              <a:t>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2832"/>
          <a:stretch/>
        </p:blipFill>
        <p:spPr>
          <a:xfrm>
            <a:off x="0" y="1962851"/>
            <a:ext cx="4706392" cy="414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608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34"/>
            <a:ext cx="8229600" cy="1143000"/>
          </a:xfrm>
        </p:spPr>
        <p:txBody>
          <a:bodyPr/>
          <a:lstStyle/>
          <a:p>
            <a:r>
              <a:rPr lang="en-AU" b="1" dirty="0"/>
              <a:t>Gestalt Principles</a:t>
            </a:r>
            <a:endParaRPr lang="uk-UA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11725"/>
            <a:ext cx="8229600" cy="4525963"/>
          </a:xfrm>
        </p:spPr>
        <p:txBody>
          <a:bodyPr/>
          <a:lstStyle/>
          <a:p>
            <a:r>
              <a:rPr lang="en-US" dirty="0" smtClean="0"/>
              <a:t>Enclosure (</a:t>
            </a:r>
            <a:r>
              <a:rPr lang="en-US" sz="1600" dirty="0"/>
              <a:t>enclosed together </a:t>
            </a:r>
            <a:r>
              <a:rPr lang="en-US" sz="1600" dirty="0" smtClean="0"/>
              <a:t>objects belong </a:t>
            </a:r>
            <a:r>
              <a:rPr lang="en-US" sz="1600" dirty="0"/>
              <a:t>to the same </a:t>
            </a:r>
            <a:r>
              <a:rPr lang="en-US" sz="1600" dirty="0" smtClean="0"/>
              <a:t>group</a:t>
            </a:r>
            <a:r>
              <a:rPr lang="en-US" dirty="0" smtClean="0"/>
              <a:t>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2832"/>
          <a:stretch/>
        </p:blipFill>
        <p:spPr>
          <a:xfrm>
            <a:off x="0" y="1962851"/>
            <a:ext cx="4706392" cy="414824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393" y="2504971"/>
            <a:ext cx="4256538" cy="360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43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34"/>
            <a:ext cx="8229600" cy="1143000"/>
          </a:xfrm>
        </p:spPr>
        <p:txBody>
          <a:bodyPr/>
          <a:lstStyle/>
          <a:p>
            <a:r>
              <a:rPr lang="en-AU" b="1" dirty="0"/>
              <a:t>Gestalt Principles</a:t>
            </a:r>
            <a:endParaRPr lang="uk-UA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0292" y="1518719"/>
            <a:ext cx="3516335" cy="4257392"/>
          </a:xfrm>
        </p:spPr>
        <p:txBody>
          <a:bodyPr/>
          <a:lstStyle/>
          <a:p>
            <a:r>
              <a:rPr lang="en-US" dirty="0"/>
              <a:t>Connection (</a:t>
            </a:r>
            <a:r>
              <a:rPr lang="en-US" sz="1600" dirty="0"/>
              <a:t>connected objects belong to the same group</a:t>
            </a:r>
            <a:r>
              <a:rPr lang="en-US" dirty="0"/>
              <a:t>)</a:t>
            </a:r>
            <a:endParaRPr lang="uk-UA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2149"/>
          <a:stretch/>
        </p:blipFill>
        <p:spPr>
          <a:xfrm>
            <a:off x="3802291" y="921191"/>
            <a:ext cx="4884509" cy="311765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t="1955"/>
          <a:stretch/>
        </p:blipFill>
        <p:spPr>
          <a:xfrm>
            <a:off x="3933619" y="4038847"/>
            <a:ext cx="4991797" cy="280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68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34"/>
            <a:ext cx="8229600" cy="1143000"/>
          </a:xfrm>
        </p:spPr>
        <p:txBody>
          <a:bodyPr/>
          <a:lstStyle/>
          <a:p>
            <a:r>
              <a:rPr lang="en-AU" b="1" dirty="0"/>
              <a:t>Gestalt Principles</a:t>
            </a:r>
            <a:endParaRPr lang="uk-UA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0292" y="1518719"/>
            <a:ext cx="3516335" cy="4257392"/>
          </a:xfrm>
        </p:spPr>
        <p:txBody>
          <a:bodyPr/>
          <a:lstStyle/>
          <a:p>
            <a:r>
              <a:rPr lang="en-US" dirty="0"/>
              <a:t>Connection (</a:t>
            </a:r>
            <a:r>
              <a:rPr lang="en-US" sz="1600" dirty="0"/>
              <a:t>connected objects belong to the same group</a:t>
            </a:r>
            <a:r>
              <a:rPr lang="en-US" dirty="0"/>
              <a:t>)</a:t>
            </a:r>
            <a:endParaRPr lang="uk-UA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2149"/>
          <a:stretch/>
        </p:blipFill>
        <p:spPr>
          <a:xfrm>
            <a:off x="3802291" y="921191"/>
            <a:ext cx="4884509" cy="311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17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Ugly, Bad, and Wrong Figures</a:t>
            </a:r>
            <a:endParaRPr lang="uk-UA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013987" y="1828800"/>
            <a:ext cx="777692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Ugly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A </a:t>
            </a:r>
            <a:r>
              <a:rPr lang="en-US" sz="2400" dirty="0"/>
              <a:t>figure that has aesthetic problems but otherwise is clear and informative 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Bad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A </a:t>
            </a:r>
            <a:r>
              <a:rPr lang="en-US" sz="2400" dirty="0"/>
              <a:t>figure that has problems related to </a:t>
            </a:r>
            <a:r>
              <a:rPr lang="en-US" sz="2400" dirty="0" smtClean="0"/>
              <a:t>perception (unclear</a:t>
            </a:r>
            <a:r>
              <a:rPr lang="en-US" sz="2400" dirty="0"/>
              <a:t>, confusing, overly complicated, or </a:t>
            </a:r>
            <a:r>
              <a:rPr lang="en-US" sz="2400" dirty="0" smtClean="0"/>
              <a:t>deceiving)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Wrong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A </a:t>
            </a:r>
            <a:r>
              <a:rPr lang="en-US" sz="2400" dirty="0"/>
              <a:t>figure that has problems related to mathematics; it is objectively incorrect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1825082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Ugly, Bad, and Wrong Figures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416" y="1579208"/>
            <a:ext cx="6211167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45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703" y="2601379"/>
            <a:ext cx="8229600" cy="1143000"/>
          </a:xfrm>
        </p:spPr>
        <p:txBody>
          <a:bodyPr/>
          <a:lstStyle/>
          <a:p>
            <a:r>
              <a:rPr lang="en-US" b="1" dirty="0" smtClean="0"/>
              <a:t>Scale</a:t>
            </a:r>
            <a:endParaRPr lang="uk-UA" b="1" dirty="0"/>
          </a:p>
        </p:txBody>
      </p:sp>
    </p:spTree>
    <p:extLst>
      <p:ext uri="{BB962C8B-B14F-4D97-AF65-F5344CB8AC3E}">
        <p14:creationId xmlns:p14="http://schemas.microsoft.com/office/powerpoint/2010/main" val="3211312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 the scale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55" y="1318051"/>
            <a:ext cx="8058945" cy="503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94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 the scale</a:t>
            </a:r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067"/>
            <a:ext cx="8442946" cy="383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096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 the scale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22" y="1600200"/>
            <a:ext cx="6315956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13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7642" y="1476314"/>
            <a:ext cx="7497760" cy="4679877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Care the scale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29885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Care the scale</a:t>
            </a:r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20" y="1504277"/>
            <a:ext cx="7901030" cy="461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19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5718" y="267380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Coordinate </a:t>
            </a:r>
            <a:r>
              <a:rPr lang="en-US" b="1" dirty="0" smtClean="0"/>
              <a:t>Systems</a:t>
            </a:r>
            <a:endParaRPr lang="uk-UA" b="1" dirty="0"/>
          </a:p>
        </p:txBody>
      </p:sp>
    </p:spTree>
    <p:extLst>
      <p:ext uri="{BB962C8B-B14F-4D97-AF65-F5344CB8AC3E}">
        <p14:creationId xmlns:p14="http://schemas.microsoft.com/office/powerpoint/2010/main" val="1056780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Coordinate </a:t>
            </a:r>
            <a:r>
              <a:rPr lang="en-US" dirty="0" smtClean="0"/>
              <a:t>Systems</a:t>
            </a:r>
            <a:endParaRPr lang="uk-UA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65" y="1417638"/>
            <a:ext cx="6982799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13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Coordinate </a:t>
            </a:r>
            <a:r>
              <a:rPr lang="en-US" dirty="0" smtClean="0"/>
              <a:t>Systems</a:t>
            </a:r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84" y="1558702"/>
            <a:ext cx="7287642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04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9505" y="2646646"/>
            <a:ext cx="8229600" cy="1143000"/>
          </a:xfrm>
        </p:spPr>
        <p:txBody>
          <a:bodyPr/>
          <a:lstStyle/>
          <a:p>
            <a:r>
              <a:rPr lang="en-US" b="1" dirty="0" smtClean="0"/>
              <a:t>Colors and color scales</a:t>
            </a:r>
            <a:endParaRPr lang="uk-UA" b="1" dirty="0"/>
          </a:p>
        </p:txBody>
      </p:sp>
    </p:spTree>
    <p:extLst>
      <p:ext uri="{BB962C8B-B14F-4D97-AF65-F5344CB8AC3E}">
        <p14:creationId xmlns:p14="http://schemas.microsoft.com/office/powerpoint/2010/main" val="3414768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171" y="264839"/>
            <a:ext cx="5553850" cy="638264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95564" y="1659978"/>
            <a:ext cx="25674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Color as a Tool to Distinguish</a:t>
            </a:r>
            <a:endParaRPr lang="uk-UA" b="1" dirty="0"/>
          </a:p>
        </p:txBody>
      </p:sp>
    </p:spTree>
    <p:extLst>
      <p:ext uri="{BB962C8B-B14F-4D97-AF65-F5344CB8AC3E}">
        <p14:creationId xmlns:p14="http://schemas.microsoft.com/office/powerpoint/2010/main" val="427562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Colors and color scales</a:t>
            </a:r>
            <a:endParaRPr lang="uk-UA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337" y="1604708"/>
            <a:ext cx="7213441" cy="408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999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Colors and color scales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153" y="1417638"/>
            <a:ext cx="6401693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373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Colors and color scales</a:t>
            </a:r>
            <a:endParaRPr lang="uk-UA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90" y="1666629"/>
            <a:ext cx="6773220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92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Colors and color scales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58" y="1417638"/>
            <a:ext cx="6868484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30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95564" y="1659978"/>
            <a:ext cx="26373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Color as a Tool to </a:t>
            </a:r>
            <a:r>
              <a:rPr lang="en-US" sz="2800" b="1" dirty="0"/>
              <a:t>Highlight</a:t>
            </a:r>
            <a:endParaRPr lang="uk-UA" sz="28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199" y="218627"/>
            <a:ext cx="5039428" cy="64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062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Colors and color scales</a:t>
            </a:r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91" y="1542382"/>
            <a:ext cx="7009749" cy="437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9508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9505" y="2764341"/>
            <a:ext cx="8229600" cy="1143000"/>
          </a:xfrm>
        </p:spPr>
        <p:txBody>
          <a:bodyPr/>
          <a:lstStyle/>
          <a:p>
            <a:r>
              <a:rPr lang="en-US" b="1" dirty="0"/>
              <a:t>Common Mistakes in </a:t>
            </a:r>
            <a:r>
              <a:rPr lang="en-US" b="1" dirty="0" smtClean="0"/>
              <a:t>DV</a:t>
            </a:r>
            <a:endParaRPr lang="uk-UA" b="1" dirty="0"/>
          </a:p>
        </p:txBody>
      </p:sp>
    </p:spTree>
    <p:extLst>
      <p:ext uri="{BB962C8B-B14F-4D97-AF65-F5344CB8AC3E}">
        <p14:creationId xmlns:p14="http://schemas.microsoft.com/office/powerpoint/2010/main" val="30735227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Principles</a:t>
            </a:r>
            <a:endParaRPr lang="uk-UA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 smtClean="0"/>
              <a:t>Data-ink </a:t>
            </a:r>
            <a:r>
              <a:rPr lang="en-US" u="sng" dirty="0"/>
              <a:t>ratio</a:t>
            </a:r>
            <a:r>
              <a:rPr lang="en-US" u="sng" dirty="0" smtClean="0"/>
              <a:t>s</a:t>
            </a:r>
            <a:r>
              <a:rPr lang="en-US" dirty="0" smtClean="0"/>
              <a:t> (the </a:t>
            </a:r>
            <a:r>
              <a:rPr lang="en-US" dirty="0"/>
              <a:t>idea of maximizing </a:t>
            </a:r>
            <a:r>
              <a:rPr lang="en-US" dirty="0" smtClean="0"/>
              <a:t>it) measures </a:t>
            </a:r>
            <a:r>
              <a:rPr lang="en-US" dirty="0"/>
              <a:t>the proportion of “data-ink” to the total amount of ink used in a table or </a:t>
            </a:r>
            <a:r>
              <a:rPr lang="en-US" dirty="0" smtClean="0"/>
              <a:t>chart</a:t>
            </a:r>
            <a:endParaRPr lang="en-US" dirty="0"/>
          </a:p>
          <a:p>
            <a:r>
              <a:rPr lang="en-US" dirty="0" smtClean="0"/>
              <a:t>principle </a:t>
            </a:r>
            <a:r>
              <a:rPr lang="en-US" dirty="0"/>
              <a:t>of </a:t>
            </a:r>
            <a:r>
              <a:rPr lang="en-US" u="sng" dirty="0"/>
              <a:t>proportional ink </a:t>
            </a:r>
            <a:r>
              <a:rPr lang="en-US" dirty="0"/>
              <a:t>[Bergstrom and West 2016]: </a:t>
            </a:r>
            <a:endParaRPr lang="en-US" dirty="0" smtClean="0"/>
          </a:p>
          <a:p>
            <a:pPr lvl="1"/>
            <a:r>
              <a:rPr lang="en-US" i="1" dirty="0" smtClean="0"/>
              <a:t>When </a:t>
            </a:r>
            <a:r>
              <a:rPr lang="en-US" i="1" dirty="0"/>
              <a:t>a shaded region is used to represent a numerical value, the area of that shaded region should be directly proportional to the corresponding value</a:t>
            </a:r>
            <a:r>
              <a:rPr lang="en-US" dirty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04511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02" y="380246"/>
            <a:ext cx="7695336" cy="534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151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6292" y="213921"/>
            <a:ext cx="6941153" cy="590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159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t="10959"/>
          <a:stretch/>
        </p:blipFill>
        <p:spPr>
          <a:xfrm>
            <a:off x="431219" y="1385180"/>
            <a:ext cx="8487251" cy="451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408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78" y="2408032"/>
            <a:ext cx="7161509" cy="391128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063782" y="712506"/>
            <a:ext cx="74645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It is perfectly valid to use bars or shaded areas to show differences between conditions, as long as we make it explicit which differences we are showing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14587179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Mistakes in DV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456" y="1868238"/>
            <a:ext cx="7794615" cy="459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690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Mistakes in DV</a:t>
            </a:r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93" y="1638050"/>
            <a:ext cx="7716414" cy="429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0793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Mistakes in DV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20574" y="1527844"/>
            <a:ext cx="37121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i="1" dirty="0" smtClean="0"/>
              <a:t>Bars could be </a:t>
            </a:r>
            <a:r>
              <a:rPr lang="en-AU" sz="2400" b="1" i="1" dirty="0"/>
              <a:t>inappropriate</a:t>
            </a:r>
            <a:endParaRPr lang="uk-UA" sz="2400" b="1" i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42" y="2113650"/>
            <a:ext cx="7687858" cy="40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91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Mistakes in DV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20574" y="1527844"/>
            <a:ext cx="70691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 smtClean="0"/>
              <a:t>Wrong chart or trying </a:t>
            </a:r>
            <a:r>
              <a:rPr lang="en-US" sz="2400" i="1" dirty="0"/>
              <a:t>to Display Too Much Information</a:t>
            </a:r>
            <a:endParaRPr lang="uk-UA" sz="2400" b="1" i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76" y="2228204"/>
            <a:ext cx="6373114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6666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Mistakes in DV</a:t>
            </a:r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46" y="1855960"/>
            <a:ext cx="6855651" cy="485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4827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Mistakes in DV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20574" y="1527844"/>
            <a:ext cx="78880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/>
              <a:t>T</a:t>
            </a:r>
            <a:r>
              <a:rPr lang="en-US" sz="2400" i="1" dirty="0" smtClean="0"/>
              <a:t>rying </a:t>
            </a:r>
            <a:r>
              <a:rPr lang="en-US" sz="2400" i="1" dirty="0"/>
              <a:t>to Display Too Much </a:t>
            </a:r>
            <a:r>
              <a:rPr lang="en-US" sz="2400" i="1" dirty="0" smtClean="0"/>
              <a:t>Information </a:t>
            </a:r>
            <a:r>
              <a:rPr lang="en-US" sz="2400" dirty="0" smtClean="0"/>
              <a:t>(</a:t>
            </a:r>
            <a:r>
              <a:rPr lang="en-AU" sz="2400" dirty="0"/>
              <a:t>Too Many Attributes</a:t>
            </a:r>
            <a:r>
              <a:rPr lang="en-US" sz="2400" dirty="0" smtClean="0"/>
              <a:t>)</a:t>
            </a:r>
            <a:endParaRPr lang="uk-UA" sz="24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22" y="2104362"/>
            <a:ext cx="6458851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085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Mistakes in DV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20574" y="1336156"/>
            <a:ext cx="78880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/>
              <a:t>T</a:t>
            </a:r>
            <a:r>
              <a:rPr lang="en-US" sz="2400" i="1" dirty="0" smtClean="0"/>
              <a:t>rying </a:t>
            </a:r>
            <a:r>
              <a:rPr lang="en-US" sz="2400" i="1" dirty="0"/>
              <a:t>to Display Too Much </a:t>
            </a:r>
            <a:r>
              <a:rPr lang="en-US" sz="2400" i="1" dirty="0" smtClean="0"/>
              <a:t>Information </a:t>
            </a:r>
            <a:r>
              <a:rPr lang="en-US" sz="2400" dirty="0" smtClean="0"/>
              <a:t>(</a:t>
            </a:r>
            <a:r>
              <a:rPr lang="en-AU" sz="2400" dirty="0"/>
              <a:t>Too Many Attributes</a:t>
            </a:r>
            <a:r>
              <a:rPr lang="en-US" sz="2400" dirty="0" smtClean="0"/>
              <a:t>)</a:t>
            </a:r>
            <a:endParaRPr lang="uk-UA" sz="24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78" y="1797821"/>
            <a:ext cx="7189847" cy="49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451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Mistakes in DV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57200" y="1301023"/>
            <a:ext cx="3034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/>
              <a:t>Unnecessary Use of </a:t>
            </a:r>
            <a:r>
              <a:rPr lang="en-US" sz="2400" i="1" dirty="0" smtClean="0"/>
              <a:t>3D</a:t>
            </a:r>
            <a:endParaRPr lang="uk-UA" sz="2400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660" y="1698512"/>
            <a:ext cx="6380031" cy="502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201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Mistakes in DV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57200" y="1301023"/>
            <a:ext cx="3034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/>
              <a:t>Unnecessary Use of </a:t>
            </a:r>
            <a:r>
              <a:rPr lang="en-US" sz="2400" i="1" dirty="0" smtClean="0"/>
              <a:t>3D</a:t>
            </a:r>
            <a:endParaRPr lang="uk-UA" sz="24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225" y="1827400"/>
            <a:ext cx="6544588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6156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1980" y="1553485"/>
            <a:ext cx="6451652" cy="500596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20574" y="1254729"/>
            <a:ext cx="65919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/>
              <a:t>A </a:t>
            </a:r>
            <a:r>
              <a:rPr lang="en-US" sz="2400" i="1" dirty="0"/>
              <a:t>chart with a considerable amount of junk in </a:t>
            </a:r>
            <a:r>
              <a:rPr lang="en-US" sz="2400" i="1" dirty="0" smtClean="0"/>
              <a:t>it</a:t>
            </a:r>
            <a:endParaRPr lang="uk-UA" sz="2400" i="1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/>
              <a:t>Common Mistakes in DV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124674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20574" y="1440834"/>
            <a:ext cx="65919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i="1" dirty="0" smtClean="0"/>
              <a:t>Hard </a:t>
            </a:r>
            <a:r>
              <a:rPr lang="en-AU" sz="2400" i="1" dirty="0"/>
              <a:t>to </a:t>
            </a:r>
            <a:r>
              <a:rPr lang="en-AU" sz="2400" i="1" dirty="0" smtClean="0"/>
              <a:t>interpret</a:t>
            </a:r>
            <a:endParaRPr lang="uk-UA" sz="2400" i="1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/>
              <a:t>Common Mistakes in DV</a:t>
            </a:r>
            <a:endParaRPr lang="uk-UA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34" y="1925696"/>
            <a:ext cx="8141841" cy="38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021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32" y="1249587"/>
            <a:ext cx="7172919" cy="5119000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/>
              <a:t>Common Mistakes in DV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361179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/>
              <a:t>Common Mistakes in DV</a:t>
            </a:r>
            <a:endParaRPr lang="uk-UA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442" y="1269095"/>
            <a:ext cx="6735115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390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453" y="70969"/>
            <a:ext cx="6115904" cy="67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9128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416" y="351995"/>
            <a:ext cx="6211167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41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5038</TotalTime>
  <Words>609</Words>
  <Application>Microsoft Office PowerPoint</Application>
  <PresentationFormat>Экран (4:3)</PresentationFormat>
  <Paragraphs>98</Paragraphs>
  <Slides>54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54</vt:i4>
      </vt:variant>
    </vt:vector>
  </HeadingPairs>
  <TitlesOfParts>
    <vt:vector size="58" baseType="lpstr">
      <vt:lpstr>Arial</vt:lpstr>
      <vt:lpstr>Calibri</vt:lpstr>
      <vt:lpstr>Wingdings</vt:lpstr>
      <vt:lpstr>Office Theme</vt:lpstr>
      <vt:lpstr>Section 1. Basics of Data Visualization</vt:lpstr>
      <vt:lpstr>Basic principles of Visual Perception</vt:lpstr>
      <vt:lpstr>Preattentive attributes</vt:lpstr>
      <vt:lpstr>Preattentive attributes in data visualization</vt:lpstr>
      <vt:lpstr>Preattentive attributes</vt:lpstr>
      <vt:lpstr>Презентация PowerPoint</vt:lpstr>
      <vt:lpstr>Презентация PowerPoint</vt:lpstr>
      <vt:lpstr>Gestalt Principles</vt:lpstr>
      <vt:lpstr>Gestalt Principles</vt:lpstr>
      <vt:lpstr>Gestalt Principles</vt:lpstr>
      <vt:lpstr>Gestalt Principles</vt:lpstr>
      <vt:lpstr>Gestalt Principles</vt:lpstr>
      <vt:lpstr>Gestalt Principles</vt:lpstr>
      <vt:lpstr>Gestalt Principles</vt:lpstr>
      <vt:lpstr>Ugly, Bad, and Wrong Figures</vt:lpstr>
      <vt:lpstr>Ugly, Bad, and Wrong Figures</vt:lpstr>
      <vt:lpstr>Scale</vt:lpstr>
      <vt:lpstr>Care the scale</vt:lpstr>
      <vt:lpstr>Care the scale</vt:lpstr>
      <vt:lpstr>Care the scale</vt:lpstr>
      <vt:lpstr>Care the scale</vt:lpstr>
      <vt:lpstr>Care the scale</vt:lpstr>
      <vt:lpstr>Coordinate Systems</vt:lpstr>
      <vt:lpstr>Coordinate Systems</vt:lpstr>
      <vt:lpstr>Coordinate Systems</vt:lpstr>
      <vt:lpstr>Colors and color scales</vt:lpstr>
      <vt:lpstr>Презентация PowerPoint</vt:lpstr>
      <vt:lpstr>Colors and color scales</vt:lpstr>
      <vt:lpstr>Colors and color scales</vt:lpstr>
      <vt:lpstr>Colors and color scales</vt:lpstr>
      <vt:lpstr>Colors and color scales</vt:lpstr>
      <vt:lpstr>Презентация PowerPoint</vt:lpstr>
      <vt:lpstr>Colors and color scales</vt:lpstr>
      <vt:lpstr>Common Mistakes in DV</vt:lpstr>
      <vt:lpstr>Principles</vt:lpstr>
      <vt:lpstr>Презентация PowerPoint</vt:lpstr>
      <vt:lpstr>Презентация PowerPoint</vt:lpstr>
      <vt:lpstr>Презентация PowerPoint</vt:lpstr>
      <vt:lpstr>Презентация PowerPoint</vt:lpstr>
      <vt:lpstr>Common Mistakes in DV</vt:lpstr>
      <vt:lpstr>Common Mistakes in DV</vt:lpstr>
      <vt:lpstr>Common Mistakes in DV</vt:lpstr>
      <vt:lpstr>Common Mistakes in DV</vt:lpstr>
      <vt:lpstr>Common Mistakes in DV</vt:lpstr>
      <vt:lpstr>Common Mistakes in DV</vt:lpstr>
      <vt:lpstr>Common Mistakes in DV</vt:lpstr>
      <vt:lpstr>Common Mistakes in DV</vt:lpstr>
      <vt:lpstr>Common Mistakes in DV</vt:lpstr>
      <vt:lpstr>Common Mistakes in DV</vt:lpstr>
      <vt:lpstr>Common Mistakes in DV</vt:lpstr>
      <vt:lpstr>Common Mistakes in DV</vt:lpstr>
      <vt:lpstr>Common Mistakes in DV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Александр Леонов</dc:creator>
  <cp:keywords/>
  <dc:description>generated using python-pptx</dc:description>
  <cp:lastModifiedBy>Oleksandr</cp:lastModifiedBy>
  <cp:revision>82</cp:revision>
  <dcterms:created xsi:type="dcterms:W3CDTF">2013-01-27T09:14:16Z</dcterms:created>
  <dcterms:modified xsi:type="dcterms:W3CDTF">2025-09-19T09:18:14Z</dcterms:modified>
  <cp:category/>
</cp:coreProperties>
</file>