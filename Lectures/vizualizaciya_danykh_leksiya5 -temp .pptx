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4" r:id="rId4"/>
    <p:sldId id="275"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eksandr" initials="OL" lastIdx="5" clrIdx="0">
    <p:extLst>
      <p:ext uri="{19B8F6BF-5375-455C-9EA6-DF929625EA0E}">
        <p15:presenceInfo xmlns:p15="http://schemas.microsoft.com/office/powerpoint/2012/main" userId="Oleksand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CCCC00"/>
    <a:srgbClr val="808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19" autoAdjust="0"/>
    <p:restoredTop sz="94660"/>
  </p:normalViewPr>
  <p:slideViewPr>
    <p:cSldViewPr snapToGrid="0" snapToObjects="1">
      <p:cViewPr varScale="1">
        <p:scale>
          <a:sx n="106" d="100"/>
          <a:sy n="106" d="100"/>
        </p:scale>
        <p:origin x="1440"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3902" y="1216326"/>
            <a:ext cx="8824823" cy="2228850"/>
          </a:xfrm>
        </p:spPr>
        <p:txBody>
          <a:bodyPr>
            <a:normAutofit/>
          </a:bodyPr>
          <a:lstStyle/>
          <a:p>
            <a:r>
              <a:rPr lang="en-US" b="1" dirty="0" smtClean="0"/>
              <a:t>Section </a:t>
            </a:r>
            <a:r>
              <a:rPr lang="en-US" b="1" dirty="0"/>
              <a:t>2</a:t>
            </a:r>
            <a:r>
              <a:rPr b="1" dirty="0" smtClean="0"/>
              <a:t>.</a:t>
            </a:r>
            <a:r>
              <a:rPr dirty="0" smtClean="0"/>
              <a:t> </a:t>
            </a:r>
            <a:r>
              <a:rPr lang="en-AU" dirty="0"/>
              <a:t>Selecting a Chart </a:t>
            </a:r>
            <a:r>
              <a:rPr lang="en-AU" dirty="0" smtClean="0"/>
              <a:t>Type</a:t>
            </a:r>
            <a:endParaRPr dirty="0"/>
          </a:p>
        </p:txBody>
      </p:sp>
      <p:sp>
        <p:nvSpPr>
          <p:cNvPr id="3" name="Subtitle 2"/>
          <p:cNvSpPr>
            <a:spLocks noGrp="1"/>
          </p:cNvSpPr>
          <p:nvPr>
            <p:ph type="subTitle" idx="1"/>
          </p:nvPr>
        </p:nvSpPr>
        <p:spPr>
          <a:xfrm>
            <a:off x="1130059" y="3321170"/>
            <a:ext cx="6987397" cy="2317630"/>
          </a:xfrm>
        </p:spPr>
        <p:txBody>
          <a:bodyPr>
            <a:normAutofit/>
          </a:bodyPr>
          <a:lstStyle/>
          <a:p>
            <a:r>
              <a:rPr lang="en-US" dirty="0" smtClean="0">
                <a:solidFill>
                  <a:srgbClr val="0070C0"/>
                </a:solidFill>
              </a:rPr>
              <a:t>Lection </a:t>
            </a:r>
            <a:r>
              <a:rPr lang="en-US" dirty="0">
                <a:solidFill>
                  <a:srgbClr val="0070C0"/>
                </a:solidFill>
              </a:rPr>
              <a:t>4</a:t>
            </a:r>
            <a:r>
              <a:rPr dirty="0" smtClean="0">
                <a:solidFill>
                  <a:srgbClr val="0070C0"/>
                </a:solidFill>
              </a:rPr>
              <a:t>.</a:t>
            </a:r>
            <a:r>
              <a:rPr dirty="0" smtClean="0"/>
              <a:t> </a:t>
            </a:r>
            <a:r>
              <a:rPr lang="en-AU" dirty="0" smtClean="0"/>
              <a:t>column &amp; bar </a:t>
            </a:r>
            <a:r>
              <a:rPr lang="en-AU" dirty="0"/>
              <a:t>charts, </a:t>
            </a:r>
            <a:r>
              <a:rPr lang="en-AU" dirty="0" smtClean="0"/>
              <a:t>linear &amp; area diagrams</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en-US" dirty="0" smtClean="0"/>
              <a:t>General considerations on Chart selections</a:t>
            </a:r>
            <a:endParaRPr lang="uk-UA" dirty="0"/>
          </a:p>
        </p:txBody>
      </p:sp>
      <p:sp>
        <p:nvSpPr>
          <p:cNvPr id="3" name="Объект 2"/>
          <p:cNvSpPr>
            <a:spLocks noGrp="1"/>
          </p:cNvSpPr>
          <p:nvPr>
            <p:ph idx="1"/>
          </p:nvPr>
        </p:nvSpPr>
        <p:spPr>
          <a:xfrm>
            <a:off x="457200" y="1600200"/>
            <a:ext cx="8229600" cy="4791547"/>
          </a:xfrm>
        </p:spPr>
        <p:txBody>
          <a:bodyPr>
            <a:normAutofit fontScale="55000" lnSpcReduction="20000"/>
          </a:bodyPr>
          <a:lstStyle/>
          <a:p>
            <a:r>
              <a:rPr lang="en-US" dirty="0" smtClean="0"/>
              <a:t>Data type</a:t>
            </a:r>
          </a:p>
          <a:p>
            <a:pPr lvl="1"/>
            <a:r>
              <a:rPr lang="en-US" dirty="0" smtClean="0"/>
              <a:t>a </a:t>
            </a:r>
            <a:r>
              <a:rPr lang="en-US" dirty="0"/>
              <a:t>bar or column chart is often an appropriate chart when we are summarizing data about categories. </a:t>
            </a:r>
            <a:endParaRPr lang="en-US" dirty="0" smtClean="0"/>
          </a:p>
          <a:p>
            <a:pPr lvl="1"/>
            <a:r>
              <a:rPr lang="en-US" dirty="0"/>
              <a:t>The relationship between two quantitative variables often makes a scatter chart an appropriate choice. </a:t>
            </a:r>
            <a:endParaRPr lang="en-US" dirty="0" smtClean="0"/>
          </a:p>
          <a:p>
            <a:pPr lvl="1"/>
            <a:r>
              <a:rPr lang="en-US" dirty="0" smtClean="0"/>
              <a:t>Bar </a:t>
            </a:r>
            <a:r>
              <a:rPr lang="en-US" dirty="0"/>
              <a:t>charts, scatter charts, and line charts with the horizontal axis being time, are often the best choice for time series data. </a:t>
            </a:r>
            <a:endParaRPr lang="en-US" dirty="0" smtClean="0"/>
          </a:p>
          <a:p>
            <a:pPr lvl="1"/>
            <a:r>
              <a:rPr lang="en-US" dirty="0" smtClean="0"/>
              <a:t>If </a:t>
            </a:r>
            <a:r>
              <a:rPr lang="en-US" dirty="0"/>
              <a:t>your data have a spatial component, a geographic map might be a good choice.</a:t>
            </a:r>
            <a:endParaRPr lang="en-US" dirty="0" smtClean="0"/>
          </a:p>
          <a:p>
            <a:r>
              <a:rPr lang="en-AU" dirty="0" smtClean="0"/>
              <a:t>the goal</a:t>
            </a:r>
          </a:p>
          <a:p>
            <a:pPr lvl="1"/>
            <a:r>
              <a:rPr lang="en-US" dirty="0" smtClean="0"/>
              <a:t>Explaining</a:t>
            </a:r>
            <a:r>
              <a:rPr lang="en-US" dirty="0"/>
              <a:t>: the message that wish to convey </a:t>
            </a:r>
          </a:p>
          <a:p>
            <a:pPr lvl="1"/>
            <a:r>
              <a:rPr lang="en-US" dirty="0"/>
              <a:t>Exploring: the question you are asking</a:t>
            </a:r>
          </a:p>
          <a:p>
            <a:pPr marL="0" indent="0">
              <a:buNone/>
            </a:pPr>
            <a:endParaRPr lang="en-US" dirty="0" smtClean="0"/>
          </a:p>
          <a:p>
            <a:pPr marL="0" indent="0">
              <a:buNone/>
            </a:pPr>
            <a:r>
              <a:rPr lang="en-US" i="1" dirty="0" smtClean="0"/>
              <a:t>Common </a:t>
            </a:r>
            <a:r>
              <a:rPr lang="en-US" i="1" dirty="0"/>
              <a:t>goals for charts are to </a:t>
            </a:r>
            <a:r>
              <a:rPr lang="en-US" i="1" dirty="0" smtClean="0"/>
              <a:t>show</a:t>
            </a:r>
            <a:r>
              <a:rPr lang="en-US" dirty="0" smtClean="0"/>
              <a:t>:</a:t>
            </a:r>
            <a:endParaRPr lang="en-AU" dirty="0" smtClean="0"/>
          </a:p>
          <a:p>
            <a:r>
              <a:rPr lang="en-US" dirty="0" smtClean="0"/>
              <a:t>Composition—make </a:t>
            </a:r>
            <a:r>
              <a:rPr lang="en-US" dirty="0"/>
              <a:t>up the whole of an </a:t>
            </a:r>
            <a:r>
              <a:rPr lang="en-US" dirty="0" smtClean="0"/>
              <a:t>entity. </a:t>
            </a:r>
          </a:p>
          <a:p>
            <a:r>
              <a:rPr lang="en-US" dirty="0" smtClean="0"/>
              <a:t>Ranking— </a:t>
            </a:r>
            <a:r>
              <a:rPr lang="en-US" dirty="0"/>
              <a:t>the relative order of items. </a:t>
            </a:r>
            <a:endParaRPr lang="en-US" dirty="0" smtClean="0"/>
          </a:p>
          <a:p>
            <a:r>
              <a:rPr lang="en-US" dirty="0" smtClean="0"/>
              <a:t>Correlation/Relationship— </a:t>
            </a:r>
            <a:r>
              <a:rPr lang="en-US" dirty="0"/>
              <a:t>how two variables are related to one another. </a:t>
            </a:r>
            <a:endParaRPr lang="en-US" dirty="0" smtClean="0"/>
          </a:p>
          <a:p>
            <a:r>
              <a:rPr lang="en-US" dirty="0" smtClean="0"/>
              <a:t>Distribution— </a:t>
            </a:r>
            <a:r>
              <a:rPr lang="en-US" dirty="0"/>
              <a:t>is how items are dispersed</a:t>
            </a:r>
            <a:r>
              <a:rPr lang="en-US" dirty="0" smtClean="0"/>
              <a:t>. </a:t>
            </a:r>
          </a:p>
          <a:p>
            <a:pPr marL="0" indent="0">
              <a:buNone/>
            </a:pPr>
            <a:endParaRPr lang="en-US" dirty="0"/>
          </a:p>
          <a:p>
            <a:pPr marL="0" indent="0">
              <a:buNone/>
            </a:pPr>
            <a:r>
              <a:rPr lang="en-US" dirty="0"/>
              <a:t>Creating great data visualizations is a skill that is best learned by doing</a:t>
            </a:r>
            <a:endParaRPr lang="en-AU" dirty="0" smtClean="0"/>
          </a:p>
          <a:p>
            <a:pPr lvl="1"/>
            <a:endParaRPr lang="uk-UA" dirty="0"/>
          </a:p>
        </p:txBody>
      </p:sp>
    </p:spTree>
    <p:extLst>
      <p:ext uri="{BB962C8B-B14F-4D97-AF65-F5344CB8AC3E}">
        <p14:creationId xmlns:p14="http://schemas.microsoft.com/office/powerpoint/2010/main" val="4812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Объект 2"/>
          <p:cNvSpPr>
            <a:spLocks noGrp="1"/>
          </p:cNvSpPr>
          <p:nvPr>
            <p:ph idx="1"/>
          </p:nvPr>
        </p:nvSpPr>
        <p:spPr/>
        <p:txBody>
          <a:bodyPr>
            <a:normAutofit fontScale="85000" lnSpcReduction="10000"/>
          </a:bodyPr>
          <a:lstStyle/>
          <a:p>
            <a:r>
              <a:rPr lang="en-US" dirty="0"/>
              <a:t>Horizontal bar charts show rank well by ordering bars from largest to smallest. </a:t>
            </a:r>
            <a:endParaRPr lang="ru-RU" dirty="0" smtClean="0"/>
          </a:p>
          <a:p>
            <a:r>
              <a:rPr lang="en-US" dirty="0" smtClean="0"/>
              <a:t>Line </a:t>
            </a:r>
            <a:r>
              <a:rPr lang="en-US" dirty="0"/>
              <a:t>charts convey a change over a specified period of time, such as the unemployment rate per month over a 12-month period. </a:t>
            </a:r>
            <a:endParaRPr lang="ru-RU" dirty="0"/>
          </a:p>
          <a:p>
            <a:r>
              <a:rPr lang="en-US" dirty="0" smtClean="0"/>
              <a:t>Point </a:t>
            </a:r>
            <a:r>
              <a:rPr lang="en-US" dirty="0"/>
              <a:t>maps effectively demarcate precise locations, such as the address of each public school in a district. </a:t>
            </a:r>
            <a:endParaRPr lang="ru-RU" dirty="0" smtClean="0"/>
          </a:p>
          <a:p>
            <a:r>
              <a:rPr lang="en-US" dirty="0" smtClean="0"/>
              <a:t>Filled </a:t>
            </a:r>
            <a:r>
              <a:rPr lang="en-US" dirty="0"/>
              <a:t>or </a:t>
            </a:r>
            <a:r>
              <a:rPr lang="en-US" dirty="0" err="1"/>
              <a:t>choropleth</a:t>
            </a:r>
            <a:r>
              <a:rPr lang="en-US" dirty="0"/>
              <a:t> maps allow for the comparison of regions, such as the GDP of each African country. Each region is filled with a shade. The darker the shade the higher the value.</a:t>
            </a:r>
            <a:endParaRPr lang="uk-UA" dirty="0"/>
          </a:p>
        </p:txBody>
      </p:sp>
    </p:spTree>
    <p:extLst>
      <p:ext uri="{BB962C8B-B14F-4D97-AF65-F5344CB8AC3E}">
        <p14:creationId xmlns:p14="http://schemas.microsoft.com/office/powerpoint/2010/main" val="3221535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Объект 2"/>
          <p:cNvSpPr>
            <a:spLocks noGrp="1"/>
          </p:cNvSpPr>
          <p:nvPr>
            <p:ph idx="1"/>
          </p:nvPr>
        </p:nvSpPr>
        <p:spPr/>
        <p:txBody>
          <a:bodyPr/>
          <a:lstStyle/>
          <a:p>
            <a:endParaRPr lang="uk-UA"/>
          </a:p>
        </p:txBody>
      </p:sp>
    </p:spTree>
    <p:extLst>
      <p:ext uri="{BB962C8B-B14F-4D97-AF65-F5344CB8AC3E}">
        <p14:creationId xmlns:p14="http://schemas.microsoft.com/office/powerpoint/2010/main" val="1621487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Amounts</a:t>
            </a:r>
            <a:endParaRPr lang="uk-UA" dirty="0"/>
          </a:p>
        </p:txBody>
      </p:sp>
      <p:pic>
        <p:nvPicPr>
          <p:cNvPr id="4" name="Объект 3"/>
          <p:cNvPicPr>
            <a:picLocks noGrp="1" noChangeAspect="1"/>
          </p:cNvPicPr>
          <p:nvPr>
            <p:ph idx="1"/>
          </p:nvPr>
        </p:nvPicPr>
        <p:blipFill rotWithShape="1">
          <a:blip r:embed="rId2"/>
          <a:srcRect t="22214"/>
          <a:stretch/>
        </p:blipFill>
        <p:spPr>
          <a:xfrm>
            <a:off x="1277944" y="1756373"/>
            <a:ext cx="4867954" cy="1741383"/>
          </a:xfrm>
          <a:prstGeom prst="rect">
            <a:avLst/>
          </a:prstGeom>
        </p:spPr>
      </p:pic>
      <p:sp>
        <p:nvSpPr>
          <p:cNvPr id="5" name="Прямоугольник 4"/>
          <p:cNvSpPr/>
          <p:nvPr/>
        </p:nvSpPr>
        <p:spPr>
          <a:xfrm>
            <a:off x="1181476" y="4314565"/>
            <a:ext cx="7505323" cy="1200329"/>
          </a:xfrm>
          <a:prstGeom prst="rect">
            <a:avLst/>
          </a:prstGeom>
        </p:spPr>
        <p:txBody>
          <a:bodyPr wrap="square">
            <a:spAutoFit/>
          </a:bodyPr>
          <a:lstStyle/>
          <a:p>
            <a:r>
              <a:rPr lang="en-US" dirty="0"/>
              <a:t>The most common approach to visualizing amounts (i.e., numerical values shown for some set of categories) is using bars, either vertically or horizontally arranged (Chap‐ </a:t>
            </a:r>
            <a:r>
              <a:rPr lang="en-US" dirty="0" err="1"/>
              <a:t>ter</a:t>
            </a:r>
            <a:r>
              <a:rPr lang="en-US" dirty="0"/>
              <a:t> 6). However, instead of using bars, we can also place dots at the location where the corresponding bar would end (Chapter 6).</a:t>
            </a:r>
            <a:endParaRPr lang="uk-UA" dirty="0"/>
          </a:p>
        </p:txBody>
      </p:sp>
    </p:spTree>
    <p:extLst>
      <p:ext uri="{BB962C8B-B14F-4D97-AF65-F5344CB8AC3E}">
        <p14:creationId xmlns:p14="http://schemas.microsoft.com/office/powerpoint/2010/main" val="3404354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Объект 3"/>
          <p:cNvPicPr>
            <a:picLocks noGrp="1" noChangeAspect="1"/>
          </p:cNvPicPr>
          <p:nvPr>
            <p:ph idx="1"/>
          </p:nvPr>
        </p:nvPicPr>
        <p:blipFill>
          <a:blip r:embed="rId2"/>
          <a:stretch>
            <a:fillRect/>
          </a:stretch>
        </p:blipFill>
        <p:spPr>
          <a:xfrm>
            <a:off x="1347776" y="1707152"/>
            <a:ext cx="6249272" cy="3153215"/>
          </a:xfrm>
          <a:prstGeom prst="rect">
            <a:avLst/>
          </a:prstGeom>
        </p:spPr>
      </p:pic>
      <p:sp>
        <p:nvSpPr>
          <p:cNvPr id="5" name="Прямоугольник 4"/>
          <p:cNvSpPr/>
          <p:nvPr/>
        </p:nvSpPr>
        <p:spPr>
          <a:xfrm>
            <a:off x="1347776" y="4987219"/>
            <a:ext cx="7198695" cy="1200329"/>
          </a:xfrm>
          <a:prstGeom prst="rect">
            <a:avLst/>
          </a:prstGeom>
        </p:spPr>
        <p:txBody>
          <a:bodyPr wrap="square">
            <a:spAutoFit/>
          </a:bodyPr>
          <a:lstStyle/>
          <a:p>
            <a:r>
              <a:rPr lang="en-US" dirty="0"/>
              <a:t>If there are two or more sets of categories for which we want to show amounts, we can group or stack the bars (Chapter 6). We can also map the categories onto the x and y axes and show amounts by color, via a </a:t>
            </a:r>
            <a:r>
              <a:rPr lang="en-US" dirty="0" err="1"/>
              <a:t>heatmap</a:t>
            </a:r>
            <a:r>
              <a:rPr lang="en-US" dirty="0"/>
              <a:t> (Chapter 6). </a:t>
            </a:r>
            <a:endParaRPr lang="uk-UA" dirty="0"/>
          </a:p>
        </p:txBody>
      </p:sp>
    </p:spTree>
    <p:extLst>
      <p:ext uri="{BB962C8B-B14F-4D97-AF65-F5344CB8AC3E}">
        <p14:creationId xmlns:p14="http://schemas.microsoft.com/office/powerpoint/2010/main" val="2429306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Distributions</a:t>
            </a:r>
            <a:endParaRPr lang="uk-UA" dirty="0"/>
          </a:p>
        </p:txBody>
      </p:sp>
      <p:pic>
        <p:nvPicPr>
          <p:cNvPr id="4" name="Объект 3"/>
          <p:cNvPicPr>
            <a:picLocks noGrp="1" noChangeAspect="1"/>
          </p:cNvPicPr>
          <p:nvPr>
            <p:ph idx="1"/>
          </p:nvPr>
        </p:nvPicPr>
        <p:blipFill>
          <a:blip r:embed="rId2"/>
          <a:stretch>
            <a:fillRect/>
          </a:stretch>
        </p:blipFill>
        <p:spPr>
          <a:xfrm>
            <a:off x="457200" y="1594187"/>
            <a:ext cx="8229600" cy="2075447"/>
          </a:xfrm>
          <a:prstGeom prst="rect">
            <a:avLst/>
          </a:prstGeom>
        </p:spPr>
      </p:pic>
      <p:sp>
        <p:nvSpPr>
          <p:cNvPr id="5" name="Прямоугольник 4"/>
          <p:cNvSpPr/>
          <p:nvPr/>
        </p:nvSpPr>
        <p:spPr>
          <a:xfrm>
            <a:off x="457200" y="3846183"/>
            <a:ext cx="8229600" cy="1200329"/>
          </a:xfrm>
          <a:prstGeom prst="rect">
            <a:avLst/>
          </a:prstGeom>
        </p:spPr>
        <p:txBody>
          <a:bodyPr wrap="square">
            <a:spAutoFit/>
          </a:bodyPr>
          <a:lstStyle/>
          <a:p>
            <a:r>
              <a:rPr lang="en-US" dirty="0"/>
              <a:t>Histograms and density plots (Chapter 7) provide the most intuitive visualizations of a distribution, but both require arbitrary parameter choices and can be misleading. Cumulative densities and </a:t>
            </a:r>
            <a:r>
              <a:rPr lang="en-US" dirty="0" err="1"/>
              <a:t>quantile-quantile</a:t>
            </a:r>
            <a:r>
              <a:rPr lang="en-US" dirty="0"/>
              <a:t> (q-q) plots (Chapter 8) always represent the data faithfully but can be more difficult to interpret. </a:t>
            </a:r>
            <a:endParaRPr lang="uk-UA" dirty="0"/>
          </a:p>
        </p:txBody>
      </p:sp>
    </p:spTree>
    <p:extLst>
      <p:ext uri="{BB962C8B-B14F-4D97-AF65-F5344CB8AC3E}">
        <p14:creationId xmlns:p14="http://schemas.microsoft.com/office/powerpoint/2010/main" val="4257754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stretch>
            <a:fillRect/>
          </a:stretch>
        </p:blipFill>
        <p:spPr>
          <a:xfrm>
            <a:off x="698566" y="137696"/>
            <a:ext cx="7602011" cy="3829584"/>
          </a:xfrm>
          <a:prstGeom prst="rect">
            <a:avLst/>
          </a:prstGeom>
        </p:spPr>
      </p:pic>
      <p:sp>
        <p:nvSpPr>
          <p:cNvPr id="5" name="Прямоугольник 4"/>
          <p:cNvSpPr/>
          <p:nvPr/>
        </p:nvSpPr>
        <p:spPr>
          <a:xfrm>
            <a:off x="441356" y="4044175"/>
            <a:ext cx="8406142" cy="2585323"/>
          </a:xfrm>
          <a:prstGeom prst="rect">
            <a:avLst/>
          </a:prstGeom>
        </p:spPr>
        <p:txBody>
          <a:bodyPr wrap="square">
            <a:spAutoFit/>
          </a:bodyPr>
          <a:lstStyle/>
          <a:p>
            <a:r>
              <a:rPr lang="en-US" dirty="0"/>
              <a:t>Boxplots, violin plots, strip charts, and </a:t>
            </a:r>
            <a:r>
              <a:rPr lang="en-US" dirty="0" err="1"/>
              <a:t>sina</a:t>
            </a:r>
            <a:r>
              <a:rPr lang="en-US" dirty="0"/>
              <a:t> plots are useful when we want to visualize many distributions at once and/or if we are primarily interested in overall shifts among the distributions (see “Visualizing Distributions Along the Vertical Axis” on page 81). Stacked histograms and overlapping densities allow a more in-depth com‐ </a:t>
            </a:r>
            <a:r>
              <a:rPr lang="en-US" dirty="0" err="1"/>
              <a:t>parison</a:t>
            </a:r>
            <a:r>
              <a:rPr lang="en-US" dirty="0"/>
              <a:t> of a smaller number of distributions, though stacked histograms can be </a:t>
            </a:r>
            <a:r>
              <a:rPr lang="en-US" dirty="0" err="1"/>
              <a:t>diffi</a:t>
            </a:r>
            <a:r>
              <a:rPr lang="en-US" dirty="0"/>
              <a:t>‐ cult to interpret and are best avoided (see “Visualizing Multiple Distributions at the Same Time” on page 64). Ridgeline plots can be a useful alternative to violin plots and are often useful when visualizing very large numbers of distributions or changes in distributions over time (see “Visualizing Distributions Along the Horizontal Axis” on page 88). </a:t>
            </a:r>
            <a:endParaRPr lang="uk-UA" dirty="0"/>
          </a:p>
        </p:txBody>
      </p:sp>
    </p:spTree>
    <p:extLst>
      <p:ext uri="{BB962C8B-B14F-4D97-AF65-F5344CB8AC3E}">
        <p14:creationId xmlns:p14="http://schemas.microsoft.com/office/powerpoint/2010/main" val="2478536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Proportions</a:t>
            </a:r>
            <a:endParaRPr lang="uk-UA" dirty="0"/>
          </a:p>
        </p:txBody>
      </p:sp>
      <p:pic>
        <p:nvPicPr>
          <p:cNvPr id="4" name="Объект 3"/>
          <p:cNvPicPr>
            <a:picLocks noGrp="1" noChangeAspect="1"/>
          </p:cNvPicPr>
          <p:nvPr>
            <p:ph idx="1"/>
          </p:nvPr>
        </p:nvPicPr>
        <p:blipFill>
          <a:blip r:embed="rId2"/>
          <a:stretch>
            <a:fillRect/>
          </a:stretch>
        </p:blipFill>
        <p:spPr>
          <a:xfrm>
            <a:off x="630902" y="1417638"/>
            <a:ext cx="7592485" cy="1933845"/>
          </a:xfrm>
          <a:prstGeom prst="rect">
            <a:avLst/>
          </a:prstGeom>
        </p:spPr>
      </p:pic>
      <p:sp>
        <p:nvSpPr>
          <p:cNvPr id="5" name="Прямоугольник 4"/>
          <p:cNvSpPr/>
          <p:nvPr/>
        </p:nvSpPr>
        <p:spPr>
          <a:xfrm>
            <a:off x="849340" y="3568429"/>
            <a:ext cx="7374047" cy="2031325"/>
          </a:xfrm>
          <a:prstGeom prst="rect">
            <a:avLst/>
          </a:prstGeom>
        </p:spPr>
        <p:txBody>
          <a:bodyPr wrap="square">
            <a:spAutoFit/>
          </a:bodyPr>
          <a:lstStyle/>
          <a:p>
            <a:r>
              <a:rPr lang="en-US" dirty="0"/>
              <a:t>Proportions can be visualized as pie charts, side-by-side bars, or stacked bars (Chap‐ </a:t>
            </a:r>
            <a:r>
              <a:rPr lang="en-US" dirty="0" err="1"/>
              <a:t>ter</a:t>
            </a:r>
            <a:r>
              <a:rPr lang="en-US" dirty="0"/>
              <a:t> 10). As for amounts, when we visualize proportions with bars, the bars can be arranged either vertically or horizontally. Pie charts emphasize that the individual parts add up to a whole and highlight simple fractions. However, the individual pieces Proportions | 39 are more easily compared in side-by-side bars. Stacked bars look awkward for a single set of proportions, but can be useful when comparing multiple sets of proportions</a:t>
            </a:r>
            <a:endParaRPr lang="uk-UA" dirty="0"/>
          </a:p>
        </p:txBody>
      </p:sp>
    </p:spTree>
    <p:extLst>
      <p:ext uri="{BB962C8B-B14F-4D97-AF65-F5344CB8AC3E}">
        <p14:creationId xmlns:p14="http://schemas.microsoft.com/office/powerpoint/2010/main" val="2071032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Объект 3"/>
          <p:cNvPicPr>
            <a:picLocks noGrp="1" noChangeAspect="1"/>
          </p:cNvPicPr>
          <p:nvPr>
            <p:ph idx="1"/>
          </p:nvPr>
        </p:nvPicPr>
        <p:blipFill>
          <a:blip r:embed="rId2"/>
          <a:stretch>
            <a:fillRect/>
          </a:stretch>
        </p:blipFill>
        <p:spPr>
          <a:xfrm>
            <a:off x="629957" y="1636409"/>
            <a:ext cx="7630590" cy="1991003"/>
          </a:xfrm>
          <a:prstGeom prst="rect">
            <a:avLst/>
          </a:prstGeom>
        </p:spPr>
      </p:pic>
      <p:sp>
        <p:nvSpPr>
          <p:cNvPr id="5" name="Прямоугольник 4"/>
          <p:cNvSpPr/>
          <p:nvPr/>
        </p:nvSpPr>
        <p:spPr>
          <a:xfrm>
            <a:off x="837444" y="3846183"/>
            <a:ext cx="6731251" cy="2031325"/>
          </a:xfrm>
          <a:prstGeom prst="rect">
            <a:avLst/>
          </a:prstGeom>
        </p:spPr>
        <p:txBody>
          <a:bodyPr wrap="square">
            <a:spAutoFit/>
          </a:bodyPr>
          <a:lstStyle/>
          <a:p>
            <a:r>
              <a:rPr lang="en-US" dirty="0"/>
              <a:t>When visualizing multiple sets of proportions or changes in proportions across con‐ </a:t>
            </a:r>
            <a:r>
              <a:rPr lang="en-US" dirty="0" err="1"/>
              <a:t>ditions</a:t>
            </a:r>
            <a:r>
              <a:rPr lang="en-US" dirty="0"/>
              <a:t>, pie charts tend to be space-inefficient and often obscure relationships. </a:t>
            </a:r>
            <a:r>
              <a:rPr lang="en-US" dirty="0" err="1"/>
              <a:t>Grou</a:t>
            </a:r>
            <a:r>
              <a:rPr lang="en-US" dirty="0"/>
              <a:t>‐ </a:t>
            </a:r>
            <a:r>
              <a:rPr lang="en-US" dirty="0" err="1"/>
              <a:t>ped</a:t>
            </a:r>
            <a:r>
              <a:rPr lang="en-US" dirty="0"/>
              <a:t> bars work well as long as the number of conditions compared is moderate, and stacked bars can work for large numbers of conditions. Stacked densities (Chap‐ </a:t>
            </a:r>
            <a:r>
              <a:rPr lang="en-US" dirty="0" err="1"/>
              <a:t>ter</a:t>
            </a:r>
            <a:r>
              <a:rPr lang="en-US" dirty="0"/>
              <a:t> 10) are appropriate when the proportions change along a continuous variable. </a:t>
            </a:r>
            <a:endParaRPr lang="uk-UA" dirty="0"/>
          </a:p>
        </p:txBody>
      </p:sp>
    </p:spTree>
    <p:extLst>
      <p:ext uri="{BB962C8B-B14F-4D97-AF65-F5344CB8AC3E}">
        <p14:creationId xmlns:p14="http://schemas.microsoft.com/office/powerpoint/2010/main" val="2234110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Объект 3"/>
          <p:cNvPicPr>
            <a:picLocks noGrp="1" noChangeAspect="1"/>
          </p:cNvPicPr>
          <p:nvPr>
            <p:ph idx="1"/>
          </p:nvPr>
        </p:nvPicPr>
        <p:blipFill>
          <a:blip r:embed="rId2"/>
          <a:stretch>
            <a:fillRect/>
          </a:stretch>
        </p:blipFill>
        <p:spPr>
          <a:xfrm>
            <a:off x="1352942" y="1660224"/>
            <a:ext cx="5858693" cy="1943371"/>
          </a:xfrm>
          <a:prstGeom prst="rect">
            <a:avLst/>
          </a:prstGeom>
        </p:spPr>
      </p:pic>
      <p:sp>
        <p:nvSpPr>
          <p:cNvPr id="5" name="Прямоугольник 4"/>
          <p:cNvSpPr/>
          <p:nvPr/>
        </p:nvSpPr>
        <p:spPr>
          <a:xfrm>
            <a:off x="746910" y="3712237"/>
            <a:ext cx="7790508" cy="2308324"/>
          </a:xfrm>
          <a:prstGeom prst="rect">
            <a:avLst/>
          </a:prstGeom>
        </p:spPr>
        <p:txBody>
          <a:bodyPr wrap="square">
            <a:spAutoFit/>
          </a:bodyPr>
          <a:lstStyle/>
          <a:p>
            <a:r>
              <a:rPr lang="en-US" dirty="0"/>
              <a:t>When proportions are specified according to multiple grouping variables, mosaic plots, </a:t>
            </a:r>
            <a:r>
              <a:rPr lang="en-US" dirty="0" err="1"/>
              <a:t>treemaps</a:t>
            </a:r>
            <a:r>
              <a:rPr lang="en-US" dirty="0"/>
              <a:t>, or parallel sets are useful visualization approaches (Chapter 11). Mosaic plots assume that every level of one grouping variable can be combined with every level of another grouping variable, whereas </a:t>
            </a:r>
            <a:r>
              <a:rPr lang="en-US" dirty="0" err="1"/>
              <a:t>treemaps</a:t>
            </a:r>
            <a:r>
              <a:rPr lang="en-US" dirty="0"/>
              <a:t> do not make such an assumption. </a:t>
            </a:r>
            <a:r>
              <a:rPr lang="en-US" dirty="0" err="1"/>
              <a:t>Treemaps</a:t>
            </a:r>
            <a:r>
              <a:rPr lang="en-US" dirty="0"/>
              <a:t> work well even if the subdivisions of one group are entirely distinct from the subdivisions of another. Parallel sets work better than either mosaic plots or </a:t>
            </a:r>
            <a:r>
              <a:rPr lang="en-US" dirty="0" err="1"/>
              <a:t>treemaps</a:t>
            </a:r>
            <a:r>
              <a:rPr lang="en-US" dirty="0"/>
              <a:t> when there are more than two grouping variables. </a:t>
            </a:r>
            <a:endParaRPr lang="uk-UA" dirty="0"/>
          </a:p>
        </p:txBody>
      </p:sp>
    </p:spTree>
    <p:extLst>
      <p:ext uri="{BB962C8B-B14F-4D97-AF65-F5344CB8AC3E}">
        <p14:creationId xmlns:p14="http://schemas.microsoft.com/office/powerpoint/2010/main" val="201650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x–y relationships</a:t>
            </a:r>
            <a:endParaRPr lang="uk-UA" dirty="0"/>
          </a:p>
        </p:txBody>
      </p:sp>
      <p:pic>
        <p:nvPicPr>
          <p:cNvPr id="4" name="Объект 3"/>
          <p:cNvPicPr>
            <a:picLocks noGrp="1" noChangeAspect="1"/>
          </p:cNvPicPr>
          <p:nvPr>
            <p:ph idx="1"/>
          </p:nvPr>
        </p:nvPicPr>
        <p:blipFill>
          <a:blip r:embed="rId2"/>
          <a:stretch>
            <a:fillRect/>
          </a:stretch>
        </p:blipFill>
        <p:spPr>
          <a:xfrm>
            <a:off x="607086" y="1417638"/>
            <a:ext cx="7640116" cy="1952898"/>
          </a:xfrm>
          <a:prstGeom prst="rect">
            <a:avLst/>
          </a:prstGeom>
        </p:spPr>
      </p:pic>
      <p:sp>
        <p:nvSpPr>
          <p:cNvPr id="5" name="Прямоугольник 4"/>
          <p:cNvSpPr/>
          <p:nvPr/>
        </p:nvSpPr>
        <p:spPr>
          <a:xfrm>
            <a:off x="607086" y="3613666"/>
            <a:ext cx="7627545" cy="2031325"/>
          </a:xfrm>
          <a:prstGeom prst="rect">
            <a:avLst/>
          </a:prstGeom>
        </p:spPr>
        <p:txBody>
          <a:bodyPr wrap="square">
            <a:spAutoFit/>
          </a:bodyPr>
          <a:lstStyle/>
          <a:p>
            <a:r>
              <a:rPr lang="en-US" dirty="0"/>
              <a:t>Scatterplots (Chapter 12) represent the archetypical visualization when we want to show one quantitative variable relative to another. If we have three quantitative </a:t>
            </a:r>
            <a:r>
              <a:rPr lang="en-US" dirty="0" err="1"/>
              <a:t>vari</a:t>
            </a:r>
            <a:r>
              <a:rPr lang="en-US" dirty="0"/>
              <a:t>‐ </a:t>
            </a:r>
            <a:r>
              <a:rPr lang="en-US" dirty="0" err="1"/>
              <a:t>ables</a:t>
            </a:r>
            <a:r>
              <a:rPr lang="en-US" dirty="0"/>
              <a:t>, we can map one onto the dot size, creating a variant of the scatterplot called a bubble chart. For paired data, where the variables along the x and y axes are </a:t>
            </a:r>
            <a:r>
              <a:rPr lang="en-US" dirty="0" err="1"/>
              <a:t>meas</a:t>
            </a:r>
            <a:r>
              <a:rPr lang="en-US" dirty="0"/>
              <a:t>‐ </a:t>
            </a:r>
            <a:r>
              <a:rPr lang="en-US" dirty="0" err="1"/>
              <a:t>ured</a:t>
            </a:r>
            <a:r>
              <a:rPr lang="en-US" dirty="0"/>
              <a:t> in the same units, it is generally helpful to add a line indicating x = y (see “Paired Data” on page 127). Paired data can also be shown as a </a:t>
            </a:r>
            <a:r>
              <a:rPr lang="en-US" dirty="0" err="1"/>
              <a:t>slopegraph</a:t>
            </a:r>
            <a:r>
              <a:rPr lang="en-US" dirty="0"/>
              <a:t> of paired points connected by straight lines.</a:t>
            </a:r>
            <a:endParaRPr lang="uk-UA" dirty="0"/>
          </a:p>
        </p:txBody>
      </p:sp>
    </p:spTree>
    <p:extLst>
      <p:ext uri="{BB962C8B-B14F-4D97-AF65-F5344CB8AC3E}">
        <p14:creationId xmlns:p14="http://schemas.microsoft.com/office/powerpoint/2010/main" val="1836852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Объект 3"/>
          <p:cNvPicPr>
            <a:picLocks noGrp="1" noChangeAspect="1"/>
          </p:cNvPicPr>
          <p:nvPr>
            <p:ph idx="1"/>
          </p:nvPr>
        </p:nvPicPr>
        <p:blipFill>
          <a:blip r:embed="rId2"/>
          <a:stretch>
            <a:fillRect/>
          </a:stretch>
        </p:blipFill>
        <p:spPr>
          <a:xfrm>
            <a:off x="622322" y="1500133"/>
            <a:ext cx="7573432" cy="2010056"/>
          </a:xfrm>
          <a:prstGeom prst="rect">
            <a:avLst/>
          </a:prstGeom>
        </p:spPr>
      </p:pic>
      <p:sp>
        <p:nvSpPr>
          <p:cNvPr id="6" name="Прямоугольник 5"/>
          <p:cNvSpPr/>
          <p:nvPr/>
        </p:nvSpPr>
        <p:spPr>
          <a:xfrm>
            <a:off x="622322" y="3890013"/>
            <a:ext cx="7238246" cy="1754326"/>
          </a:xfrm>
          <a:prstGeom prst="rect">
            <a:avLst/>
          </a:prstGeom>
        </p:spPr>
        <p:txBody>
          <a:bodyPr wrap="square">
            <a:spAutoFit/>
          </a:bodyPr>
          <a:lstStyle/>
          <a:p>
            <a:r>
              <a:rPr lang="en-US" dirty="0"/>
              <a:t>For large numbers of points, regular scatterplots can become uninformative due to </a:t>
            </a:r>
            <a:r>
              <a:rPr lang="en-US" dirty="0" err="1"/>
              <a:t>overplotting</a:t>
            </a:r>
            <a:r>
              <a:rPr lang="en-US" dirty="0"/>
              <a:t>. In this case, contour lines, 2D bins, or hex bins may provide an </a:t>
            </a:r>
            <a:r>
              <a:rPr lang="en-US" dirty="0" err="1"/>
              <a:t>alterna</a:t>
            </a:r>
            <a:r>
              <a:rPr lang="en-US" dirty="0"/>
              <a:t>‐ </a:t>
            </a:r>
            <a:r>
              <a:rPr lang="en-US" dirty="0" err="1"/>
              <a:t>tive</a:t>
            </a:r>
            <a:r>
              <a:rPr lang="en-US" dirty="0"/>
              <a:t> (Chapter 18). When we want to visualize more than two quantities, on the other hand, we may choose to plot correlation coefficients in the form of a </a:t>
            </a:r>
            <a:r>
              <a:rPr lang="en-US" dirty="0" err="1"/>
              <a:t>correlogram</a:t>
            </a:r>
            <a:r>
              <a:rPr lang="en-US" dirty="0"/>
              <a:t> instead of the underlying raw data (see “</a:t>
            </a:r>
            <a:r>
              <a:rPr lang="en-US" dirty="0" err="1"/>
              <a:t>Correlograms</a:t>
            </a:r>
            <a:r>
              <a:rPr lang="en-US" dirty="0"/>
              <a:t>” on page 121).</a:t>
            </a:r>
            <a:endParaRPr lang="uk-UA" dirty="0"/>
          </a:p>
        </p:txBody>
      </p:sp>
    </p:spTree>
    <p:extLst>
      <p:ext uri="{BB962C8B-B14F-4D97-AF65-F5344CB8AC3E}">
        <p14:creationId xmlns:p14="http://schemas.microsoft.com/office/powerpoint/2010/main" val="2058926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Объект 3"/>
          <p:cNvPicPr>
            <a:picLocks noGrp="1" noChangeAspect="1"/>
          </p:cNvPicPr>
          <p:nvPr>
            <p:ph idx="1"/>
          </p:nvPr>
        </p:nvPicPr>
        <p:blipFill>
          <a:blip r:embed="rId2"/>
          <a:stretch>
            <a:fillRect/>
          </a:stretch>
        </p:blipFill>
        <p:spPr>
          <a:xfrm>
            <a:off x="911284" y="1681202"/>
            <a:ext cx="6144482" cy="2010056"/>
          </a:xfrm>
          <a:prstGeom prst="rect">
            <a:avLst/>
          </a:prstGeom>
        </p:spPr>
      </p:pic>
      <p:sp>
        <p:nvSpPr>
          <p:cNvPr id="5" name="Прямоугольник 4"/>
          <p:cNvSpPr/>
          <p:nvPr/>
        </p:nvSpPr>
        <p:spPr>
          <a:xfrm>
            <a:off x="911284" y="4038527"/>
            <a:ext cx="7174871" cy="2031325"/>
          </a:xfrm>
          <a:prstGeom prst="rect">
            <a:avLst/>
          </a:prstGeom>
        </p:spPr>
        <p:txBody>
          <a:bodyPr wrap="square">
            <a:spAutoFit/>
          </a:bodyPr>
          <a:lstStyle/>
          <a:p>
            <a:r>
              <a:rPr lang="en-US" dirty="0"/>
              <a:t>When the x axis represents time or a strictly increasing quantity such as a treatment dose, we commonly draw line graphs (Chapter 13). If we have a temporal sequence of two response variables we can draw a connected scatterplot, where we first plot the two response variables in a scatterplot and then connect dots corresponding to </a:t>
            </a:r>
            <a:r>
              <a:rPr lang="en-US" dirty="0" err="1"/>
              <a:t>adja</a:t>
            </a:r>
            <a:r>
              <a:rPr lang="en-US" dirty="0"/>
              <a:t>‐ cent time points (see “Time Series of Two or More Response Variables” on page 138). We can use smooth lines to represent trends in a larger dataset (Chapter 14).</a:t>
            </a:r>
            <a:endParaRPr lang="uk-UA" dirty="0"/>
          </a:p>
        </p:txBody>
      </p:sp>
    </p:spTree>
    <p:extLst>
      <p:ext uri="{BB962C8B-B14F-4D97-AF65-F5344CB8AC3E}">
        <p14:creationId xmlns:p14="http://schemas.microsoft.com/office/powerpoint/2010/main" val="2471579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Geospatial Data</a:t>
            </a:r>
            <a:endParaRPr lang="uk-UA" dirty="0"/>
          </a:p>
        </p:txBody>
      </p:sp>
      <p:pic>
        <p:nvPicPr>
          <p:cNvPr id="4" name="Объект 3"/>
          <p:cNvPicPr>
            <a:picLocks noGrp="1" noChangeAspect="1"/>
          </p:cNvPicPr>
          <p:nvPr>
            <p:ph idx="1"/>
          </p:nvPr>
        </p:nvPicPr>
        <p:blipFill>
          <a:blip r:embed="rId2"/>
          <a:stretch>
            <a:fillRect/>
          </a:stretch>
        </p:blipFill>
        <p:spPr>
          <a:xfrm>
            <a:off x="593269" y="1417638"/>
            <a:ext cx="7649643" cy="1971950"/>
          </a:xfrm>
          <a:prstGeom prst="rect">
            <a:avLst/>
          </a:prstGeom>
        </p:spPr>
      </p:pic>
      <p:sp>
        <p:nvSpPr>
          <p:cNvPr id="5" name="Прямоугольник 4"/>
          <p:cNvSpPr/>
          <p:nvPr/>
        </p:nvSpPr>
        <p:spPr>
          <a:xfrm>
            <a:off x="593269" y="3529798"/>
            <a:ext cx="7944149" cy="2585323"/>
          </a:xfrm>
          <a:prstGeom prst="rect">
            <a:avLst/>
          </a:prstGeom>
        </p:spPr>
        <p:txBody>
          <a:bodyPr wrap="square">
            <a:spAutoFit/>
          </a:bodyPr>
          <a:lstStyle/>
          <a:p>
            <a:r>
              <a:rPr lang="en-US" dirty="0"/>
              <a:t>The primary mode of showing geospatial data is in the form of a map (Chapter 15). A map takes coordinates on the globe and projects them onto a flat surface, such that shapes and distances on the globe are approximately represented by shapes and dis‐ </a:t>
            </a:r>
            <a:r>
              <a:rPr lang="en-US" dirty="0" err="1"/>
              <a:t>tances</a:t>
            </a:r>
            <a:r>
              <a:rPr lang="en-US" dirty="0"/>
              <a:t> in the 2D representation. In addition, we can show data values in different regions by coloring those regions in the map according to the data. Such a map is called a </a:t>
            </a:r>
            <a:r>
              <a:rPr lang="en-US" dirty="0" err="1"/>
              <a:t>choropleth</a:t>
            </a:r>
            <a:r>
              <a:rPr lang="en-US" dirty="0"/>
              <a:t> (see “</a:t>
            </a:r>
            <a:r>
              <a:rPr lang="en-US" dirty="0" err="1"/>
              <a:t>Choropleth</a:t>
            </a:r>
            <a:r>
              <a:rPr lang="en-US" dirty="0"/>
              <a:t> Mapping” on page 172). In some cases, it may be helpful to distort the different regions according to some other quantity (e.g., </a:t>
            </a:r>
            <a:r>
              <a:rPr lang="en-US" dirty="0" err="1"/>
              <a:t>popula</a:t>
            </a:r>
            <a:r>
              <a:rPr lang="en-US" dirty="0"/>
              <a:t>‐ </a:t>
            </a:r>
            <a:r>
              <a:rPr lang="en-US" dirty="0" err="1"/>
              <a:t>tion</a:t>
            </a:r>
            <a:r>
              <a:rPr lang="en-US" dirty="0"/>
              <a:t> number) or simplify each region into a square. Such visualizations are called car‐ </a:t>
            </a:r>
            <a:r>
              <a:rPr lang="en-US" dirty="0" err="1"/>
              <a:t>tograms</a:t>
            </a:r>
            <a:r>
              <a:rPr lang="en-US" dirty="0"/>
              <a:t> (see “Cartograms” on page 176). </a:t>
            </a:r>
            <a:endParaRPr lang="uk-UA" dirty="0"/>
          </a:p>
        </p:txBody>
      </p:sp>
    </p:spTree>
    <p:extLst>
      <p:ext uri="{BB962C8B-B14F-4D97-AF65-F5344CB8AC3E}">
        <p14:creationId xmlns:p14="http://schemas.microsoft.com/office/powerpoint/2010/main" val="2950677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Uncertainty</a:t>
            </a:r>
            <a:endParaRPr lang="uk-UA" dirty="0"/>
          </a:p>
        </p:txBody>
      </p:sp>
      <p:pic>
        <p:nvPicPr>
          <p:cNvPr id="4" name="Объект 3"/>
          <p:cNvPicPr>
            <a:picLocks noGrp="1" noChangeAspect="1"/>
          </p:cNvPicPr>
          <p:nvPr>
            <p:ph idx="1"/>
          </p:nvPr>
        </p:nvPicPr>
        <p:blipFill>
          <a:blip r:embed="rId2"/>
          <a:stretch>
            <a:fillRect/>
          </a:stretch>
        </p:blipFill>
        <p:spPr>
          <a:xfrm>
            <a:off x="638269" y="1290890"/>
            <a:ext cx="7621064" cy="1981477"/>
          </a:xfrm>
          <a:prstGeom prst="rect">
            <a:avLst/>
          </a:prstGeom>
        </p:spPr>
      </p:pic>
      <p:sp>
        <p:nvSpPr>
          <p:cNvPr id="5" name="Прямоугольник 4"/>
          <p:cNvSpPr/>
          <p:nvPr/>
        </p:nvSpPr>
        <p:spPr>
          <a:xfrm>
            <a:off x="767590" y="3603962"/>
            <a:ext cx="7491743" cy="2031325"/>
          </a:xfrm>
          <a:prstGeom prst="rect">
            <a:avLst/>
          </a:prstGeom>
        </p:spPr>
        <p:txBody>
          <a:bodyPr wrap="square">
            <a:spAutoFit/>
          </a:bodyPr>
          <a:lstStyle/>
          <a:p>
            <a:r>
              <a:rPr lang="en-US" dirty="0"/>
              <a:t>Error bars are meant to indicate the range of likely values for some estimate or </a:t>
            </a:r>
            <a:r>
              <a:rPr lang="en-US" dirty="0" err="1"/>
              <a:t>meas</a:t>
            </a:r>
            <a:r>
              <a:rPr lang="en-US" dirty="0"/>
              <a:t>‐ </a:t>
            </a:r>
            <a:r>
              <a:rPr lang="en-US" dirty="0" err="1"/>
              <a:t>urement</a:t>
            </a:r>
            <a:r>
              <a:rPr lang="en-US" dirty="0"/>
              <a:t>. They extend horizontally and/or vertically from some reference point rep‐ resenting the estimate or measurement (Chapter 16). Reference points can be shown in various ways, such as by dots or by bars. Graded error bars show multiple ranges at the same time, where each range corresponds to a different degree of confidence. They are in effect multiple error bars with different line thicknesses plotted on top of each other. </a:t>
            </a:r>
            <a:endParaRPr lang="uk-UA" dirty="0"/>
          </a:p>
        </p:txBody>
      </p:sp>
    </p:spTree>
    <p:extLst>
      <p:ext uri="{BB962C8B-B14F-4D97-AF65-F5344CB8AC3E}">
        <p14:creationId xmlns:p14="http://schemas.microsoft.com/office/powerpoint/2010/main" val="4279335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Объект 3"/>
          <p:cNvPicPr>
            <a:picLocks noGrp="1" noChangeAspect="1"/>
          </p:cNvPicPr>
          <p:nvPr>
            <p:ph idx="1"/>
          </p:nvPr>
        </p:nvPicPr>
        <p:blipFill>
          <a:blip r:embed="rId2"/>
          <a:stretch>
            <a:fillRect/>
          </a:stretch>
        </p:blipFill>
        <p:spPr>
          <a:xfrm>
            <a:off x="702857" y="1533949"/>
            <a:ext cx="7611537" cy="1924319"/>
          </a:xfrm>
          <a:prstGeom prst="rect">
            <a:avLst/>
          </a:prstGeom>
        </p:spPr>
      </p:pic>
      <p:sp>
        <p:nvSpPr>
          <p:cNvPr id="5" name="Прямоугольник 4"/>
          <p:cNvSpPr/>
          <p:nvPr/>
        </p:nvSpPr>
        <p:spPr>
          <a:xfrm>
            <a:off x="400616" y="3622626"/>
            <a:ext cx="8342768" cy="2862322"/>
          </a:xfrm>
          <a:prstGeom prst="rect">
            <a:avLst/>
          </a:prstGeom>
        </p:spPr>
        <p:txBody>
          <a:bodyPr wrap="square">
            <a:spAutoFit/>
          </a:bodyPr>
          <a:lstStyle/>
          <a:p>
            <a:r>
              <a:rPr lang="en-US" dirty="0"/>
              <a:t>To achieve a more detailed visualization than is possible with error bars or graded error bars, we can visualize the actual confidence or posterior distributions (Chap‐ </a:t>
            </a:r>
            <a:r>
              <a:rPr lang="en-US" dirty="0" err="1"/>
              <a:t>ter</a:t>
            </a:r>
            <a:r>
              <a:rPr lang="en-US" dirty="0"/>
              <a:t> 16). Confidence strips provide a visual sense of uncertainty but are difficult to read accurately. Eyes and half-eyes combine error bars with approaches to visualize distributions (violins and ridgelines, respectively), and thus show both precise ranges for some confidence levels and the overall uncertainty distribution. A </a:t>
            </a:r>
            <a:r>
              <a:rPr lang="en-US" dirty="0" err="1"/>
              <a:t>quantile</a:t>
            </a:r>
            <a:r>
              <a:rPr lang="en-US" dirty="0"/>
              <a:t> dot plot can serve as an alternative visualization of an uncertainty distribution (see “Framing Probabilities as Frequencies” on page 181). Because it shows the </a:t>
            </a:r>
            <a:r>
              <a:rPr lang="en-US" dirty="0" err="1"/>
              <a:t>distribu</a:t>
            </a:r>
            <a:r>
              <a:rPr lang="en-US" dirty="0"/>
              <a:t>‐ </a:t>
            </a:r>
            <a:r>
              <a:rPr lang="en-US" dirty="0" err="1"/>
              <a:t>tion</a:t>
            </a:r>
            <a:r>
              <a:rPr lang="en-US" dirty="0"/>
              <a:t> in discrete units, the </a:t>
            </a:r>
            <a:r>
              <a:rPr lang="en-US" dirty="0" err="1"/>
              <a:t>quantile</a:t>
            </a:r>
            <a:r>
              <a:rPr lang="en-US" dirty="0"/>
              <a:t> dot plot is not as precise but can be easier to read than the continuous distribution shown by a violin or ridgeline plot.</a:t>
            </a:r>
            <a:endParaRPr lang="uk-UA" dirty="0"/>
          </a:p>
        </p:txBody>
      </p:sp>
    </p:spTree>
    <p:extLst>
      <p:ext uri="{BB962C8B-B14F-4D97-AF65-F5344CB8AC3E}">
        <p14:creationId xmlns:p14="http://schemas.microsoft.com/office/powerpoint/2010/main" val="3900601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Объект 3"/>
          <p:cNvPicPr>
            <a:picLocks noGrp="1" noChangeAspect="1"/>
          </p:cNvPicPr>
          <p:nvPr>
            <p:ph idx="1"/>
          </p:nvPr>
        </p:nvPicPr>
        <p:blipFill>
          <a:blip r:embed="rId2"/>
          <a:stretch>
            <a:fillRect/>
          </a:stretch>
        </p:blipFill>
        <p:spPr>
          <a:xfrm>
            <a:off x="1279130" y="1417638"/>
            <a:ext cx="6096851" cy="2029108"/>
          </a:xfrm>
          <a:prstGeom prst="rect">
            <a:avLst/>
          </a:prstGeom>
        </p:spPr>
      </p:pic>
      <p:sp>
        <p:nvSpPr>
          <p:cNvPr id="5" name="Прямоугольник 4"/>
          <p:cNvSpPr/>
          <p:nvPr/>
        </p:nvSpPr>
        <p:spPr>
          <a:xfrm>
            <a:off x="1109050" y="3899067"/>
            <a:ext cx="6785572" cy="1754326"/>
          </a:xfrm>
          <a:prstGeom prst="rect">
            <a:avLst/>
          </a:prstGeom>
        </p:spPr>
        <p:txBody>
          <a:bodyPr wrap="square">
            <a:spAutoFit/>
          </a:bodyPr>
          <a:lstStyle/>
          <a:p>
            <a:r>
              <a:rPr lang="en-US" dirty="0"/>
              <a:t>For smooth line graphs, the equivalent of an error bar is a confidence band (see “Vis‐ </a:t>
            </a:r>
            <a:r>
              <a:rPr lang="en-US" dirty="0" err="1"/>
              <a:t>ualizing</a:t>
            </a:r>
            <a:r>
              <a:rPr lang="en-US" dirty="0"/>
              <a:t> the Uncertainty of Curve Fits” on page 197). It shows a range of values the line might pass through at a given confidence level. Like with error bars, we can draw graded confidence bands that show multiple confidence levels at once. We can also show individual fitted draws in lieu of or in addition to the confidence bands. </a:t>
            </a:r>
            <a:endParaRPr lang="uk-UA" dirty="0"/>
          </a:p>
        </p:txBody>
      </p:sp>
    </p:spTree>
    <p:extLst>
      <p:ext uri="{BB962C8B-B14F-4D97-AF65-F5344CB8AC3E}">
        <p14:creationId xmlns:p14="http://schemas.microsoft.com/office/powerpoint/2010/main" val="986536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47734" y="2791502"/>
            <a:ext cx="8229600" cy="1143000"/>
          </a:xfrm>
        </p:spPr>
        <p:txBody>
          <a:bodyPr/>
          <a:lstStyle/>
          <a:p>
            <a:r>
              <a:rPr lang="en-AU" dirty="0"/>
              <a:t>Visualizing Amounts</a:t>
            </a:r>
            <a:endParaRPr lang="uk-UA" dirty="0"/>
          </a:p>
        </p:txBody>
      </p:sp>
    </p:spTree>
    <p:extLst>
      <p:ext uri="{BB962C8B-B14F-4D97-AF65-F5344CB8AC3E}">
        <p14:creationId xmlns:p14="http://schemas.microsoft.com/office/powerpoint/2010/main" val="3854175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Bar Plots</a:t>
            </a:r>
            <a:endParaRPr lang="uk-UA" dirty="0"/>
          </a:p>
        </p:txBody>
      </p:sp>
      <p:sp>
        <p:nvSpPr>
          <p:cNvPr id="3" name="Объект 2"/>
          <p:cNvSpPr>
            <a:spLocks noGrp="1"/>
          </p:cNvSpPr>
          <p:nvPr>
            <p:ph idx="1"/>
          </p:nvPr>
        </p:nvSpPr>
        <p:spPr/>
        <p:txBody>
          <a:bodyPr/>
          <a:lstStyle/>
          <a:p>
            <a:endParaRPr lang="uk-UA" dirty="0"/>
          </a:p>
        </p:txBody>
      </p:sp>
    </p:spTree>
    <p:extLst>
      <p:ext uri="{BB962C8B-B14F-4D97-AF65-F5344CB8AC3E}">
        <p14:creationId xmlns:p14="http://schemas.microsoft.com/office/powerpoint/2010/main" val="3058188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12200</TotalTime>
  <Words>1604</Words>
  <Application>Microsoft Office PowerPoint</Application>
  <PresentationFormat>Экран (4:3)</PresentationFormat>
  <Paragraphs>45</Paragraphs>
  <Slides>20</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20</vt:i4>
      </vt:variant>
    </vt:vector>
  </HeadingPairs>
  <TitlesOfParts>
    <vt:vector size="23" baseType="lpstr">
      <vt:lpstr>Arial</vt:lpstr>
      <vt:lpstr>Calibri</vt:lpstr>
      <vt:lpstr>Office Theme</vt:lpstr>
      <vt:lpstr>Section 2. Selecting a Chart Type</vt:lpstr>
      <vt:lpstr>General considerations on Chart selections</vt:lpstr>
      <vt:lpstr>Презентация PowerPoint</vt:lpstr>
      <vt:lpstr>Презентация PowerPoint</vt:lpstr>
      <vt:lpstr>Amounts</vt:lpstr>
      <vt:lpstr>Презентация PowerPoint</vt:lpstr>
      <vt:lpstr>Distributions</vt:lpstr>
      <vt:lpstr>Презентация PowerPoint</vt:lpstr>
      <vt:lpstr>Proportions</vt:lpstr>
      <vt:lpstr>Презентация PowerPoint</vt:lpstr>
      <vt:lpstr>Презентация PowerPoint</vt:lpstr>
      <vt:lpstr>x–y relationships</vt:lpstr>
      <vt:lpstr>Презентация PowerPoint</vt:lpstr>
      <vt:lpstr>Презентация PowerPoint</vt:lpstr>
      <vt:lpstr>Geospatial Data</vt:lpstr>
      <vt:lpstr>Uncertainty</vt:lpstr>
      <vt:lpstr>Презентация PowerPoint</vt:lpstr>
      <vt:lpstr>Презентация PowerPoint</vt:lpstr>
      <vt:lpstr>Visualizing Amounts</vt:lpstr>
      <vt:lpstr>Bar Plots</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Александр Леонов</dc:creator>
  <cp:keywords/>
  <dc:description>generated using python-pptx</dc:description>
  <cp:lastModifiedBy>Oleksandr</cp:lastModifiedBy>
  <cp:revision>93</cp:revision>
  <dcterms:created xsi:type="dcterms:W3CDTF">2013-01-27T09:14:16Z</dcterms:created>
  <dcterms:modified xsi:type="dcterms:W3CDTF">2025-09-26T05:31:00Z</dcterms:modified>
  <cp:category/>
</cp:coreProperties>
</file>